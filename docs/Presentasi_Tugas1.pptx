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800" b="1">
                <a:solidFill>
                  <a:srgbClr val="FFFFFF"/>
                </a:solidFill>
              </a:defRPr>
            </a:pPr>
            <a:r>
              <a:t>MALQS: Multi-Agent Lead Qualification &amp; Scoring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5EEAD4"/>
                </a:solidFill>
              </a:defRPr>
            </a:pPr>
            <a:r>
              <a:t>Laporan Progres Tugas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976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CBD5E1"/>
                </a:solidFill>
              </a:defRPr>
            </a:pPr>
            <a:r>
              <a:t>Agentic Enterprise - Magister AI | Tugas 1 - Laporan Progres</a:t>
            </a:r>
          </a:p>
          <a:p>
            <a:pPr>
              <a:spcAft>
                <a:spcPts val="600"/>
              </a:spcAft>
              <a:defRPr sz="1400" b="0">
                <a:solidFill>
                  <a:srgbClr val="CBD5E1"/>
                </a:solidFill>
              </a:defRPr>
            </a:pPr>
            <a:r>
              <a:t>[Isi nama Anda] ([Isi NIM]) - pengerjaan individu</a:t>
            </a:r>
          </a:p>
          <a:p>
            <a:pPr>
              <a:spcAft>
                <a:spcPts val="600"/>
              </a:spcAft>
              <a:defRPr sz="1400" b="0">
                <a:solidFill>
                  <a:srgbClr val="CBD5E1"/>
                </a:solidFill>
              </a:defRPr>
            </a:pPr>
            <a:r>
              <a:t>https://github.com/AdityaIKO/Agentic-Enterprise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FFFFFF"/>
                </a:solidFill>
              </a:defRPr>
            </a:pPr>
            <a:r>
              <a:t>1. Peran dalam tim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6B7280"/>
                </a:solidFill>
              </a:defRPr>
            </a:pPr>
            <a:r>
              <a:t>MALQS: Multi-Agent Lead Qualification &amp; Scoring System  |  [Isi nama Anda]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19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955279"/>
              </a:tblGrid>
              <a:tr h="56692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Peran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Tanggung jawab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Product owner &amp; analis bisnis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Merumuskan masalah, memilih topik, menentukan KPI (AUC, lift, konversi per tier).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Data engineer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Membuat generator data sintetis, pembersihan data (dedup, imputasi).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ML engineer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Merancang fitur, implementasi Logistic Regression (numpy), evaluasi &amp; baseline.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Agent architect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Merancang 5 agen + orchestrator, blackboard, feedback loop, diagram sistem.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Dokumentasi &amp; presentasi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Menyusun laporan PDF, PPT, dan repositori GitHub.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1206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4B5563"/>
                </a:solidFill>
              </a:defRPr>
            </a:pPr>
            <a:r>
              <a:t>Catatan: pekerjaan ini dikerjakan individu (mahasiswa bergabung terlambat), sehingga seluruh peran di atas dipegang satu orang. Claude Code digunakan sebagai asisten penulisan kode dan dokumen; seluruh keputusan desain, hasil, dan klaim ditinjau oleh penulis.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FFFFFF"/>
                </a:solidFill>
              </a:defRPr>
            </a:pPr>
            <a:r>
              <a:t>2. Deskripsi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6B7280"/>
                </a:solidFill>
              </a:defRPr>
            </a:pPr>
            <a:r>
              <a:t>MALQS: Multi-Agent Lead Qualification &amp; Scoring System  |  [Isi nama Anda]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2937"/>
                </a:solidFill>
              </a:defRPr>
            </a:pPr>
            <a:r>
              <a:t>Tim sales B2B menerima ratusan hingga ribuan lead per bulan dari web form, webinar, e-mail, dan daftar dingin (cold list). Kapasitas sales terbatas, sehingga lead yang paling siap membeli sering terlambat ditindaklanjuti, sementara waktu terbuang untuk lead yang tidak akan pernah konversi.</a:t>
            </a:r>
          </a:p>
          <a:p>
            <a:pPr>
              <a:spcAft>
                <a:spcPts val="600"/>
              </a:spcAft>
              <a:defRPr sz="1500" b="0">
                <a:solidFill>
                  <a:srgbClr val="1F2937"/>
                </a:solidFill>
              </a:defRPr>
            </a:pPr>
            <a:r>
              <a:t>Kesulitan utama: (1) data kotor - duplikat dan nilai kosong; (2) kecocokan dengan Ideal Customer Profile (ICP) sulit dinilai manual; (3) sinyal minat tersebar (perilaku web, isi pesan, sumber lead); (4) skoring manual berbasis poin tidak belajar dari hasil won/lost.</a:t>
            </a:r>
          </a:p>
          <a:p>
            <a:pPr>
              <a:spcAft>
                <a:spcPts val="600"/>
              </a:spcAft>
              <a:defRPr sz="1500" b="0">
                <a:solidFill>
                  <a:srgbClr val="1F2937"/>
                </a:solidFill>
              </a:defRPr>
            </a:pPr>
            <a:r>
              <a:t>Tujuan: membangun sistem multi-agen yang membersihkan, memperkaya, menilai, dan merekomendasikan tindakan untuk setiap lead, yaitu skor 0-100 (probabilitas konversi) dan kategori hot / warm / cold, sehingga sales fokus pada lead dengan peluang tertinggi.</a:t>
            </a:r>
          </a:p>
          <a:p>
            <a:pPr>
              <a:spcAft>
                <a:spcPts val="600"/>
              </a:spcAft>
              <a:defRPr sz="1500" b="0">
                <a:solidFill>
                  <a:srgbClr val="1F2937"/>
                </a:solidFill>
              </a:defRPr>
            </a:pPr>
            <a:r>
              <a:t>Pilihan topik: agen 'Lead Qualification Agent' (#33) dan 'Lead Scoring Agent' (#37) pada tab spesifikasi, digabung dengan Lead Enrichment (#14) dan ICP Finder (#11). Topik ini belum diambil kelompok 1-6 (yang mengambil complaint handling, procurement, AI outsourcing, trading Bitcoin, customer service, dan software developer agent).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FFFFFF"/>
                </a:solidFill>
              </a:defRPr>
            </a:pPr>
            <a:r>
              <a:t>3a. Ilustrasi data (sintetis)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6B7280"/>
                </a:solidFill>
              </a:defRPr>
            </a:pPr>
            <a:r>
              <a:t>MALQS: Multi-Agent Lead Qualification &amp; Scoring System  |  [Isi nama Anda]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4B5563"/>
                </a:solidFill>
              </a:defRPr>
            </a:pPr>
            <a:r>
              <a:t>Data CRM nyata bersifat rahasia, sehingga dipakai data sintetis (seed=42, 2.060 baris mentah termasuk 60 duplikat sengaja; 8% nilai kosong pada employees &amp; title_level). Label 'converted' dibangkitkan dari fungsi logit tersembunyi yang tidak dilihat agen. Angka hasil karenanya BUKAN bukti performa di dunia nyata; ini bukti bahwa pipeline bekerja dan dapat dibandingkan dengan baseline.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2468880"/>
          <a:ext cx="6400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737360"/>
                <a:gridCol w="1097280"/>
                <a:gridCol w="1371600"/>
                <a:gridCol w="109728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Lead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pricing_views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demo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days_since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icp_fit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0.911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60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-0.107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0.649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9377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1F2937"/>
                </a:solidFill>
              </a:defRPr>
            </a:pPr>
            <a:r>
              <a:t>EnrichmentAgent: removed 61 duplicates, imputed 324 missing values</a:t>
            </a:r>
          </a:p>
          <a:p>
            <a:pPr>
              <a:spcAft>
                <a:spcPts val="600"/>
              </a:spcAft>
              <a:defRPr sz="1200" b="0">
                <a:solidFill>
                  <a:srgbClr val="1F2937"/>
                </a:solidFill>
              </a:defRPr>
            </a:pPr>
            <a:r>
              <a:t>ICPFitAgent: icp_fit computed, mean=0.385</a:t>
            </a:r>
          </a:p>
          <a:p>
            <a:pPr>
              <a:spcAft>
                <a:spcPts val="600"/>
              </a:spcAft>
              <a:defRPr sz="1200" b="0">
                <a:solidFill>
                  <a:srgbClr val="1F2937"/>
                </a:solidFill>
              </a:defRPr>
            </a:pPr>
            <a:r>
              <a:t>IntentAgent: text_intent computed, mean=0.178</a:t>
            </a:r>
          </a:p>
          <a:p>
            <a:pPr>
              <a:spcAft>
                <a:spcPts val="600"/>
              </a:spcAft>
              <a:defRPr sz="1200" b="0">
                <a:solidFill>
                  <a:srgbClr val="1F2937"/>
                </a:solidFill>
              </a:defRPr>
            </a:pPr>
            <a:r>
              <a:t>ScoringAgent: trained on 1393 leads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FFFFFF"/>
                </a:solidFill>
              </a:defRPr>
            </a:pPr>
            <a:r>
              <a:t>3b. Perhitungan komputasi (contoh manual)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6B7280"/>
                </a:solidFill>
              </a:defRPr>
            </a:pPr>
            <a:r>
              <a:t>MALQS: Multi-Agent Lead Qualification &amp; Scoring System  |  [Isi nama Anda]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F2937"/>
                </a:solidFill>
              </a:defRPr>
            </a:pPr>
            <a:r>
              <a:t>Langkah 1 - icp_fit (cosine). Centroid pelanggan won: mu = [0,5; 0,3; 0,1; 0,4; 0,5] (logistics, manufacturing, retail, size_z, title/3). Lead A = [1, 0, 0, 0,5, 0,67]: A.mu = 0,5+0,2+0,335 = 1,035; ||A|| = 1,303; ||mu|| = 0,872 -&gt; cos = 1,035/(1,303 x 0,872) = 0.911.</a:t>
            </a:r>
          </a:p>
          <a:p>
            <a:pPr>
              <a:spcAft>
                <a:spcPts val="600"/>
              </a:spcAft>
              <a:defRPr sz="1300" b="0">
                <a:solidFill>
                  <a:srgbClr val="1F2937"/>
                </a:solidFill>
              </a:defRPr>
            </a:pPr>
            <a:r>
              <a:t>Langkah 2 - skoring dengan bobot ilustrasi w = [0,9; 1,2; -0,02; 2,0], b = -3,0. Lead A: z = -3 + 0,9(3) + 1,2(1) - 0,02(5) + 2,0(0,911) = 2.622 -&gt; p = 1/(1+e^-2.622) = 0.932 -&gt; skor 93 (hot).</a:t>
            </a:r>
          </a:p>
          <a:p>
            <a:pPr>
              <a:spcAft>
                <a:spcPts val="600"/>
              </a:spcAft>
              <a:defRPr sz="1300" b="0">
                <a:solidFill>
                  <a:srgbClr val="1F2937"/>
                </a:solidFill>
              </a:defRPr>
            </a:pPr>
            <a:r>
              <a:t>Langkah 3 - umpan balik. Jika A benar-benar konversi (y=1): loss = -ln(0.932) = 0.0704; gradien bobot = (p - y) x = [-0.204, -0.068, -0.34, -0.062]; dengan eta = 0,1 bobot menjadi [0.92, 1.207, 0.014, 2.006] (bobot pricing_views &amp; demo naik, days_since menjadi kurang negatif).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4572000"/>
          <a:ext cx="7772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103120"/>
                <a:gridCol w="1828800"/>
                <a:gridCol w="1371600"/>
                <a:gridCol w="137160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Lead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z = b + w.x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 = sigma(z)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Skor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Tier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2.622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0.932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hot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-4.413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0.012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cold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-1.202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0.231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warm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FFFFFF"/>
                </a:solidFill>
              </a:defRPr>
            </a:pPr>
            <a:r>
              <a:t>4. Rumus &amp; notasi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6B7280"/>
                </a:solidFill>
              </a:defRPr>
            </a:pPr>
            <a:r>
              <a:t>MALQS: Multi-Agent Lead Qualification &amp; Scoring System  |  [Isi nama Anda]</a:t>
            </a:r>
          </a:p>
        </p:txBody>
      </p:sp>
      <p:pic>
        <p:nvPicPr>
          <p:cNvPr id="5" name="Picture 4" descr="cos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597304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600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 b="0">
                <a:solidFill>
                  <a:srgbClr val="4B5563"/>
                </a:solidFill>
              </a:defRPr>
            </a:pPr>
            <a:r>
              <a:t>a, b = vektor lead &amp; centroid ICP (atau vektor teks); a.b = dot product; ||.|| = norma Euclid. Dipakai untuk icp_fit, text_intent, dan deteksi duplikat (trigram karakter). Rentang -1..1.</a:t>
            </a:r>
          </a:p>
        </p:txBody>
      </p:sp>
      <p:pic>
        <p:nvPicPr>
          <p:cNvPr id="7" name="Picture 6" descr="tfi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377439"/>
            <a:ext cx="3147907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880359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 b="0">
                <a:solidFill>
                  <a:srgbClr val="4B5563"/>
                </a:solidFill>
              </a:defRPr>
            </a:pPr>
            <a:r>
              <a:t>t = term; d = dokumen (pesan lead); tf = frekuensi term di d; N = jumlah dokumen; df(t) = jumlah dokumen berisi t (varian smooth scikit-learn).</a:t>
            </a:r>
          </a:p>
        </p:txBody>
      </p:sp>
      <p:pic>
        <p:nvPicPr>
          <p:cNvPr id="9" name="Picture 8" descr="zsco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657599"/>
            <a:ext cx="957767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41605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 b="0">
                <a:solidFill>
                  <a:srgbClr val="4B5563"/>
                </a:solidFill>
              </a:defRPr>
            </a:pPr>
            <a:r>
              <a:t>x_j = fitur ke-j; mu_j, sigma_j = rata-rata &amp; simpangan baku dari data latih (dihitung hanya pada train agar tidak bocor).</a:t>
            </a:r>
          </a:p>
        </p:txBody>
      </p:sp>
      <p:pic>
        <p:nvPicPr>
          <p:cNvPr id="11" name="Picture 10" descr="log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937759"/>
            <a:ext cx="3156791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5440679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 b="0">
                <a:solidFill>
                  <a:srgbClr val="4B5563"/>
                </a:solidFill>
              </a:defRPr>
            </a:pPr>
            <a:r>
              <a:t>b = bias; w = vektor bobot; x~ = fitur terstandarisasi; z = log-odds; sigma = fungsi sigmoid; p = probabilitas lead konversi.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FFFFFF"/>
                </a:solidFill>
              </a:defRPr>
            </a:pPr>
            <a:r>
              <a:t>4. Rumus &amp; notasi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6B7280"/>
                </a:solidFill>
              </a:defRPr>
            </a:pPr>
            <a:r>
              <a:t>MALQS: Multi-Agent Lead Qualification &amp; Scoring System  |  [Isi nama Anda]</a:t>
            </a:r>
          </a:p>
        </p:txBody>
      </p:sp>
      <p:pic>
        <p:nvPicPr>
          <p:cNvPr id="5" name="Picture 4" descr="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4019916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600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 b="0">
                <a:solidFill>
                  <a:srgbClr val="4B5563"/>
                </a:solidFill>
              </a:defRPr>
            </a:pPr>
            <a:r>
              <a:t>n = jumlah lead latih; y_i in {0,1} = won/lost; p_i = prediksi; lambda = kekuatan regularisasi L2 (0,01).</a:t>
            </a:r>
          </a:p>
        </p:txBody>
      </p:sp>
      <p:pic>
        <p:nvPicPr>
          <p:cNvPr id="7" name="Picture 6" descr="gr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377439"/>
            <a:ext cx="392980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880359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 b="0">
                <a:solidFill>
                  <a:srgbClr val="4B5563"/>
                </a:solidFill>
              </a:defRPr>
            </a:pPr>
            <a:r>
              <a:t>X = matriks fitur (n x d); p, y = vektor prediksi &amp; label; eta = learning rate (0,3); 1.500 iterasi gradient descent.</a:t>
            </a:r>
          </a:p>
        </p:txBody>
      </p:sp>
      <p:pic>
        <p:nvPicPr>
          <p:cNvPr id="9" name="Picture 8" descr="sco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657599"/>
            <a:ext cx="3873082" cy="777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44348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 b="0">
                <a:solidFill>
                  <a:srgbClr val="4B5563"/>
                </a:solidFill>
              </a:defRPr>
            </a:pPr>
            <a:r>
              <a:t>Skor 0-100 adalah probabilitas terkalibrasi (bukan poin sembarang). Ambang 0,5 dan 0,2 disesuaikan dengan base rate konversi ~19%.</a:t>
            </a:r>
          </a:p>
        </p:txBody>
      </p:sp>
      <p:pic>
        <p:nvPicPr>
          <p:cNvPr id="11" name="Picture 10" descr="metri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5212079"/>
            <a:ext cx="865625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5714999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 b="0">
                <a:solidFill>
                  <a:srgbClr val="4B5563"/>
                </a:solidFill>
              </a:defRPr>
            </a:pPr>
            <a:r>
              <a:t>s+ / s- = skor lead yang konversi / tidak; TP, FP, FN = true positive, false positive, false negative; k = 10% lead teratas.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FFFFFF"/>
                </a:solidFill>
              </a:defRPr>
            </a:pPr>
            <a:r>
              <a:t>5. Tiga penelitian serupa (lead scoring)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6B7280"/>
                </a:solidFill>
              </a:defRPr>
            </a:pPr>
            <a:r>
              <a:t>MALQS: Multi-Agent Lead Qualification &amp; Scoring System  |  [Isi nama Anda]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1F2937"/>
                </a:solidFill>
              </a:defRPr>
            </a:pPr>
            <a:r>
              <a:t>González-Flores, L., Rubiano-Moreno, J., Sosa-Gómez, G. (2025). The relevance of lead prioritization: a B2B lead scoring model based on machine learning. Frontiers in Artificial Intelligence. DOI 10.3389/frai.2025.1554325.</a:t>
            </a:r>
          </a:p>
          <a:p>
            <a:pPr>
              <a:spcAft>
                <a:spcPts val="600"/>
              </a:spcAft>
              <a:defRPr sz="1200" b="0">
                <a:solidFill>
                  <a:srgbClr val="1F2937"/>
                </a:solidFill>
              </a:defRPr>
            </a:pPr>
            <a:r>
              <a:t>    -&gt; Studi kasus perusahaan software B2B (data lead Jan 2020 - Apr 2024); membandingkan 16 algoritma klasifikasi dan melaporkan Gradient Boosting paling unggul.</a:t>
            </a:r>
          </a:p>
          <a:p>
            <a:pPr>
              <a:spcAft>
                <a:spcPts val="600"/>
              </a:spcAft>
              <a:defRPr sz="1200" b="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200" b="0">
                <a:solidFill>
                  <a:srgbClr val="1F2937"/>
                </a:solidFill>
              </a:defRPr>
            </a:pPr>
            <a:r>
              <a:t>Wu, M., Andreev, P., Benyoucef, M. (2024). The state of lead scoring models and their impact on sales performance. Information Technology and Management, 25(1). DOI 10.1007/s10799-023-00388-w.</a:t>
            </a:r>
          </a:p>
          <a:p>
            <a:pPr>
              <a:spcAft>
                <a:spcPts val="600"/>
              </a:spcAft>
              <a:defRPr sz="1200" b="0">
                <a:solidFill>
                  <a:srgbClr val="1F2937"/>
                </a:solidFill>
              </a:defRPr>
            </a:pPr>
            <a:r>
              <a:t>    -&gt; Tinjauan pustaka sistematis 44 studi: model tradisional (berbasis pengalaman) vs prediktif (ML), dengan 14 metrik dampak ke kinerja penjualan.</a:t>
            </a:r>
          </a:p>
          <a:p>
            <a:pPr>
              <a:spcAft>
                <a:spcPts val="600"/>
              </a:spcAft>
              <a:defRPr sz="1200" b="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200" b="0">
                <a:solidFill>
                  <a:srgbClr val="1F2937"/>
                </a:solidFill>
              </a:defRPr>
            </a:pPr>
            <a:r>
              <a:t>D'Haen, J., Van den Poel, D. (2013). Model-supported business-to-business prospect prediction based on an iterative customer acquisition framework. Industrial Marketing Management, 42(4), 544-551.</a:t>
            </a:r>
          </a:p>
          <a:p>
            <a:pPr>
              <a:spcAft>
                <a:spcPts val="600"/>
              </a:spcAft>
              <a:defRPr sz="1200" b="0">
                <a:solidFill>
                  <a:srgbClr val="1F2937"/>
                </a:solidFill>
              </a:defRPr>
            </a:pPr>
            <a:r>
              <a:t>    -&gt; Kerangka akuisisi pelanggan iteratif untuk memprediksi prospek B2B; dasar pendekatan 'prospect prediction' yang dipakai riset skoring berikutnya.</a:t>
            </a:r>
          </a:p>
          <a:p>
            <a:pPr>
              <a:spcAft>
                <a:spcPts val="600"/>
              </a:spcAft>
              <a:defRPr sz="1200" b="0">
                <a:solidFill>
                  <a:srgbClr val="1F2937"/>
                </a:solidFill>
              </a:defRPr>
            </a:p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FFFFFF"/>
                </a:solidFill>
              </a:defRPr>
            </a:pPr>
            <a:r>
              <a:t>6a. Mengapa multi-agent?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6B7280"/>
                </a:solidFill>
              </a:defRPr>
            </a:pPr>
            <a:r>
              <a:t>MALQS: Multi-Agent Lead Qualification &amp; Scoring System  |  [Isi nama Anda]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F2937"/>
                </a:solidFill>
              </a:defRPr>
            </a:pPr>
            <a:r>
              <a:t>Single agent cukup untuk fungsi sempit (mis. hanya menghitung skor). Namun alur 'lead mentah -&gt; tindakan sales' melibatkan beberapa kompetensi dan sumber data, jadi dipilih sistem multi-agen (kategori 'Multiple AI Agents' pada Dimensi 1, dengan elemen Agentic pada feedback loop).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2194560"/>
          <a:ext cx="11247120" cy="3730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503920"/>
              </a:tblGrid>
              <a:tr h="621792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Alasan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Penjelasan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Tugas heterogen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Dedup/imputasi, kemiripan ICP, NLP teks, klasifikasi, dan aturan tindakan memakai teknik berbeda; satu agen monolit akan sulit diuji dan dirawat.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Modularitas &amp; ablation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Tiap agen dapat diganti/diuji terpisah (mis. ganti Logistic Regression dengan XGBoost tanpa menyentuh agen lain).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Pemisahan tanggung jawab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Agen deterministik (Enrichment, Action-rule) terpisah dari agen probabilistik (Scoring) sehingga audit &amp; guardrail jelas - relevan dengan temuan CRMArena-Pro.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Skala &amp; paralel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Intent dan ICP-Fit tidak saling bergantung, dapat berjalan paralel per batch lead; orchestrator mengatur urutan dan retry.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Feedback loop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Orchestrator memantau AUC pada hasil won/lost dan memicu retrain - perilaku agentik (memantau lingkungan, menyesuaikan diri).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FFFFFF"/>
                </a:solidFill>
              </a:defRPr>
            </a:pPr>
            <a:r>
              <a:t>6b. Tiga penelitian tentang agen cerdas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6B7280"/>
                </a:solidFill>
              </a:defRPr>
            </a:pPr>
            <a:r>
              <a:t>MALQS: Multi-Agent Lead Qualification &amp; Scoring System  |  [Isi nama Anda]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1F2937"/>
                </a:solidFill>
              </a:defRPr>
            </a:pPr>
            <a:r>
              <a:t>Huang, K.-H., Prabhakar, A., Thorat, O., et al. (2025). CRMArena-Pro: Holistic Assessment of LLM Agents Across Diverse Business Scenarios and Interactions. arXiv:2505.18878 (Salesforce AI Research).</a:t>
            </a:r>
          </a:p>
          <a:p>
            <a:pPr>
              <a:spcAft>
                <a:spcPts val="600"/>
              </a:spcAft>
              <a:defRPr sz="1200" b="0">
                <a:solidFill>
                  <a:srgbClr val="1F2937"/>
                </a:solidFill>
              </a:defRPr>
            </a:pPr>
            <a:r>
              <a:t>    -&gt; Benchmark 22 tugas CRM (termasuk lead qualification). Agen LLM terbaik hanya ~58% sukses satu-giliran dan ~35% multi-giliran -&gt; perlu komponen deterministik/ML &amp; guardrail.</a:t>
            </a:r>
          </a:p>
          <a:p>
            <a:pPr>
              <a:spcAft>
                <a:spcPts val="600"/>
              </a:spcAft>
              <a:defRPr sz="1200" b="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200" b="0">
                <a:solidFill>
                  <a:srgbClr val="1F2937"/>
                </a:solidFill>
              </a:defRPr>
            </a:pPr>
            <a:r>
              <a:t>Dhanyamraju, H. R., Raghav, L., Lee, A. (2026). Autonomous Event-Driven Multi-Agent Orchestration for Enterprise AI at Scale. arXiv:2606.20058.</a:t>
            </a:r>
          </a:p>
          <a:p>
            <a:pPr>
              <a:spcAft>
                <a:spcPts val="600"/>
              </a:spcAft>
              <a:defRPr sz="1200" b="0">
                <a:solidFill>
                  <a:srgbClr val="1F2937"/>
                </a:solidFill>
              </a:defRPr>
            </a:pPr>
            <a:r>
              <a:t>    -&gt; Orkestrasi multi-agen event-driven untuk enrichment, pra-kualifikasi, dan penilaian kesiapan lead; dilaporkan mengurangi kerja manual ~70%.</a:t>
            </a:r>
          </a:p>
          <a:p>
            <a:pPr>
              <a:spcAft>
                <a:spcPts val="600"/>
              </a:spcAft>
              <a:defRPr sz="1200" b="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200" b="0">
                <a:solidFill>
                  <a:srgbClr val="1F2937"/>
                </a:solidFill>
              </a:defRPr>
            </a:pPr>
            <a:r>
              <a:t>Wu, Q., Bansal, G., Zhang, J., et al. (2023). AutoGen: Enabling Next-Gen LLM Applications via Multi-Agent Conversation. arXiv:2308.08155 (Microsoft Research).</a:t>
            </a:r>
          </a:p>
          <a:p>
            <a:pPr>
              <a:spcAft>
                <a:spcPts val="600"/>
              </a:spcAft>
              <a:defRPr sz="1200" b="0">
                <a:solidFill>
                  <a:srgbClr val="1F2937"/>
                </a:solidFill>
              </a:defRPr>
            </a:pPr>
            <a:r>
              <a:t>    -&gt; Kerangka multi-agen dengan agen tersepesialisasi yang saling berkomunikasi; dasar pola orchestrator + agen peran khusus.</a:t>
            </a:r>
          </a:p>
          <a:p>
            <a:pPr>
              <a:spcAft>
                <a:spcPts val="600"/>
              </a:spcAft>
              <a:defRPr sz="1200" b="0">
                <a:solidFill>
                  <a:srgbClr val="1F2937"/>
                </a:solidFill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457200" y="5852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6B7280"/>
                </a:solidFill>
              </a:defRPr>
            </a:pPr>
            <a:r>
              <a:t>Verifikasi: metadata dua makalah pertama tiap daftar dicek lewat pencarian web pada sesi pengerjaan; D'Haen &amp; Van den Poel (2013) dan AutoGen ditulis dari pengetahuan penulis dan belum dibuka ulang - mohon dicek sebelum dikumpulkan.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FFFFFF"/>
                </a:solidFill>
              </a:defRPr>
            </a:pPr>
            <a:r>
              <a:t>6c. Diagram rencana sistem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6B7280"/>
                </a:solidFill>
              </a:defRPr>
            </a:pPr>
            <a:r>
              <a:t>MALQS: Multi-Agent Lead Qualification &amp; Scoring System  |  [Isi nama Anda]</a:t>
            </a:r>
          </a:p>
        </p:txBody>
      </p:sp>
      <p:pic>
        <p:nvPicPr>
          <p:cNvPr id="5" name="Picture 4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10515600" cy="543245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FFFFFF"/>
                </a:solidFill>
              </a:defRPr>
            </a:pPr>
            <a:r>
              <a:t>6d. Komponen internal 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6B7280"/>
                </a:solidFill>
              </a:defRPr>
            </a:pPr>
            <a:r>
              <a:t>MALQS: Multi-Agent Lead Qualification &amp; Scoring System  |  [Isi nama Anda]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97280"/>
          <a:ext cx="11612880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194560"/>
                <a:gridCol w="3657600"/>
                <a:gridCol w="2194560"/>
                <a:gridCol w="2011680"/>
              </a:tblGrid>
              <a:tr h="6858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Agen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Input / percept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Komponen internal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Output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Metode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</a:defRPr>
                      </a:pPr>
                      <a:r>
                        <a:t>Enrichment Agent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</a:defRPr>
                      </a:pPr>
                      <a:r>
                        <a:t>Lead mentah (nama, perusahaan, atribut)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</a:defRPr>
                      </a:pPr>
                      <a:r>
                        <a:t>Blocking key + TF-IDF trigram karakter, cosine similarity &gt;= 0,60; imputasi median per industri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</a:defRPr>
                      </a:pPr>
                      <a:r>
                        <a:t>Lead bersih tanpa duplikat, nilai lengkap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</a:defRPr>
                      </a:pPr>
                      <a:r>
                        <a:t>Klasik ML / NLP (bukan DL)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</a:defRPr>
                      </a:pPr>
                      <a:r>
                        <a:t>ICP-Fit Agent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</a:defRPr>
                      </a:pPr>
                      <a:r>
                        <a:t>Lead bersih + histori won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</a:defRPr>
                      </a:pPr>
                      <a:r>
                        <a:t>Vektor fitur (one-hot industri, ukuran, jabatan); centroid pelanggan won (dari data latih saja)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</a:defRPr>
                      </a:pPr>
                      <a:r>
                        <a:t>icp_fit in [-1,1]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</a:defRPr>
                      </a:pPr>
                      <a:r>
                        <a:t>Similarity search (unsupervised)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</a:defRPr>
                      </a:pPr>
                      <a:r>
                        <a:t>Intent Agent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</a:defRPr>
                      </a:pPr>
                      <a:r>
                        <a:t>Pesan lead, sumber, perilaku web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</a:defRPr>
                      </a:pPr>
                      <a:r>
                        <a:t>TF-IDF uni+bigram vs prototipe 'niat beli'; skor sumber; log ukuran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</a:defRPr>
                      </a:pPr>
                      <a:r>
                        <a:t>text_intent, source_score, fitur turunan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</a:defRPr>
                      </a:pPr>
                      <a:r>
                        <a:t>NLP klasik (TF-IDF)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</a:defRPr>
                      </a:pPr>
                      <a:r>
                        <a:t>Scoring Agent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</a:defRPr>
                      </a:pPr>
                      <a:r>
                        <a:t>Matriks 10 fitur + label historis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</a:defRPr>
                      </a:pPr>
                      <a:r>
                        <a:t>Standardisasi, Logistic Regression L2 (gradient descent), pemetaan skor &amp; tier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</a:defRPr>
                      </a:pPr>
                      <a:r>
                        <a:t>p_convert, skor 0-100, tier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</a:defRPr>
                      </a:pPr>
                      <a:r>
                        <a:t>Supervised ML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</a:defRPr>
                      </a:pPr>
                      <a:r>
                        <a:t>Action Agent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</a:defRPr>
                      </a:pPr>
                      <a:r>
                        <a:t>Tier + sinyal (demo, pricing views)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</a:defRPr>
                      </a:pPr>
                      <a:r>
                        <a:t>Tabel aturan next-best-action; hook opsional LLM untuk draf e-mail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</a:defRPr>
                      </a:pPr>
                      <a:r>
                        <a:t>Rekomendasi tindakan + draf e-mail (opsional)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</a:defRPr>
                      </a:pPr>
                      <a:r>
                        <a:t>Rule-based (+ LLM opsional)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</a:defRPr>
                      </a:pPr>
                      <a:r>
                        <a:t>Orchestrator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</a:defRPr>
                      </a:pPr>
                      <a:r>
                        <a:t>Semua keluaran agen, hasil won/lost baru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</a:defRPr>
                      </a:pPr>
                      <a:r>
                        <a:t>Penjadwal urutan, blackboard (State), monitor drift AUC, trigger retrain, log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</a:defRPr>
                      </a:pPr>
                      <a:r>
                        <a:t>Alur end-to-end &amp; jejak audit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</a:defRPr>
                      </a:pPr>
                      <a:r>
                        <a:t>Kontrol / orkestrasi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FFFFFF"/>
                </a:solidFill>
              </a:defRPr>
            </a:pPr>
            <a:r>
              <a:t>6e. AI, ML, atau DL?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6B7280"/>
                </a:solidFill>
              </a:defRPr>
            </a:pPr>
            <a:r>
              <a:t>MALQS: Multi-Agent Lead Qualification &amp; Scoring System  |  [Isi nama Anda]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2937"/>
                </a:solidFill>
              </a:defRPr>
            </a:pPr>
            <a:r>
              <a:t>Sistem ini memakai kombinasi AI klasik + ML supervised, bukan Deep Learning. Alasan: (1) data tabular berukuran ~2 ribu baris - pada data tabular kecil, model linier/tree biasanya setara atau lebih baik daripada DL; (2) skor harus dapat dijelaskan ke tim sales (bobot per fitur pada gambar bobot), penting untuk kepercayaan dan audit; (3) biaya komputasi rendah, berjalan di CPU dalam detik.</a:t>
            </a:r>
          </a:p>
          <a:p>
            <a:pPr>
              <a:spcAft>
                <a:spcPts val="600"/>
              </a:spcAft>
              <a:defRPr sz="1500" b="0">
                <a:solidFill>
                  <a:srgbClr val="1F2937"/>
                </a:solidFill>
              </a:defRPr>
            </a:pPr>
            <a:r>
              <a:t>Verifikasi implementasi: model numpy buatan sendiri menghasilkan AUC 0.853 vs LogisticRegression scikit-learn 0.853 pada data uji yang sama.</a:t>
            </a:r>
          </a:p>
          <a:p>
            <a:pPr>
              <a:spcAft>
                <a:spcPts val="600"/>
              </a:spcAft>
              <a:defRPr sz="1500" b="0">
                <a:solidFill>
                  <a:srgbClr val="1F2937"/>
                </a:solidFill>
              </a:defRPr>
            </a:pPr>
            <a:r>
              <a:t>DL/LLM ditempatkan hanya di tempat yang tepat: penulisan draf e-mail (Action Agent, opsional) dan pengayaan teks bila data pesan bertambah (mis. embedding BERT menggantikan TF-IDF). Rencana tahap berikut: bandingkan dengan Gradient Boosting/XGBoost (sesuai temuan González-Flores et al., 2025).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FFFFFF"/>
                </a:solidFill>
              </a:defRPr>
            </a:pPr>
            <a:r>
              <a:t>7. Hasil awal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6B7280"/>
                </a:solidFill>
              </a:defRPr>
            </a:pPr>
            <a:r>
              <a:t>MALQS: Multi-Agent Lead Qualification &amp; Scoring System  |  [Isi nama Anda]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3383280"/>
                <a:gridCol w="329184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Metrik (data uji, n=606)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Agen (LogReg)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Baseline poin manual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AUC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0.853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0.814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Lift@10% teratas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3.68x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3.59x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Precision / Recall @ p&gt;=0,5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0.73 / 0.38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Precision / Recall @ p&gt;=0,3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0.56 / 0.57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3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Konversi hot / warm / cold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72.6% / 32.6% / 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fig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566160"/>
            <a:ext cx="3079414" cy="2743200"/>
          </a:xfrm>
          <a:prstGeom prst="rect">
            <a:avLst/>
          </a:prstGeom>
        </p:spPr>
      </p:pic>
      <p:pic>
        <p:nvPicPr>
          <p:cNvPr id="7" name="Picture 6" descr="fig_ti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3566160"/>
            <a:ext cx="3243784" cy="2743200"/>
          </a:xfrm>
          <a:prstGeom prst="rect">
            <a:avLst/>
          </a:prstGeom>
        </p:spPr>
      </p:pic>
      <p:pic>
        <p:nvPicPr>
          <p:cNvPr id="8" name="Picture 7" descr="fig_weigh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3566160"/>
            <a:ext cx="3897025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FFFFFF"/>
                </a:solidFill>
              </a:defRPr>
            </a:pPr>
            <a:r>
              <a:t>8. Keterbatasan &amp; rencana berikutnya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6B7280"/>
                </a:solidFill>
              </a:defRPr>
            </a:pPr>
            <a:r>
              <a:t>MALQS: Multi-Agent Lead Qualification &amp; Scoring System  |  [Isi nama Anda]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2937"/>
                </a:solidFill>
              </a:defRPr>
            </a:pPr>
            <a:r>
              <a:t>Keterbatasan: data sintetis; recall pada ambang 0,5 rendah (0,38) sehingga ambang perlu disesuaikan dengan kapasitas sales; belum ada uji pada data nyata, dan belum diuji drift.</a:t>
            </a:r>
          </a:p>
          <a:p>
            <a:pPr>
              <a:spcAft>
                <a:spcPts val="600"/>
              </a:spcAft>
              <a:defRPr sz="1500" b="0">
                <a:solidFill>
                  <a:srgbClr val="1F2937"/>
                </a:solidFill>
              </a:defRPr>
            </a:pPr>
            <a:r>
              <a:t>Tugas berikutnya: integrasi LLM untuk draf e-mail, perbandingan XGBoost, simulasi drift &amp; retrain otomatis, dashboard ringkas.</a:t>
            </a:r>
          </a:p>
          <a:p>
            <a:pPr>
              <a:spcAft>
                <a:spcPts val="600"/>
              </a:spcAft>
              <a:defRPr sz="1500" b="0">
                <a:solidFill>
                  <a:srgbClr val="1F2937"/>
                </a:solidFill>
              </a:defRPr>
            </a:pPr>
            <a:r>
              <a:t>Bila memungkinkan: uji pada dataset lead publik agar hasil tidak bergantung pada data sintetis.</a:t>
            </a:r>
          </a:p>
          <a:p>
            <a:pPr>
              <a:spcAft>
                <a:spcPts val="600"/>
              </a:spcAft>
              <a:defRPr sz="1500" b="0">
                <a:solidFill>
                  <a:srgbClr val="1F2937"/>
                </a:solidFill>
              </a:defRPr>
            </a:pPr>
            <a:r>
              <a:t>Kode: https://github.com/AdityaIKO/Agentic-Enterprise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