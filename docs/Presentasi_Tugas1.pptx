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image" Target="../media/image21.png"/><Relationship Id="rId9" Type="http://schemas.openxmlformats.org/officeDocument/2006/relationships/image" Target="../media/image22.png"/><Relationship Id="rId10" Type="http://schemas.openxmlformats.org/officeDocument/2006/relationships/image" Target="../media/image2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29.png"/><Relationship Id="rId8" Type="http://schemas.openxmlformats.org/officeDocument/2006/relationships/image" Target="../media/image3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image" Target="../media/image44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Relationship Id="rId3" Type="http://schemas.openxmlformats.org/officeDocument/2006/relationships/image" Target="../media/image46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4000" b="1">
                <a:solidFill>
                  <a:srgbClr val="FFFFFF"/>
                </a:solidFill>
                <a:latin typeface="Calibri"/>
              </a:defRPr>
            </a:pPr>
            <a:r>
              <a:t>XCMAS: Xpora Consortium Multi-Agent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0">
                <a:solidFill>
                  <a:srgbClr val="5EEAD4"/>
                </a:solidFill>
                <a:latin typeface="Calibri"/>
              </a:defRPr>
            </a:pPr>
            <a:r>
              <a:t>Sistem multi-agen cerdas untuk konsolidasi ekspor UMKM (pilot tempe Jawa Tengah), dikalibrasi dengan operasi trading KrakaCoal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20624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CBD5E1"/>
                </a:solidFill>
                <a:latin typeface="Calibri"/>
              </a:defRPr>
            </a:pPr>
            <a:r>
              <a:t>Laporan Progres Tugas 1</a:t>
            </a:r>
          </a:p>
          <a:p>
            <a:pPr>
              <a:spcAft>
                <a:spcPts val="400"/>
              </a:spcAft>
              <a:defRPr sz="1500" b="0">
                <a:solidFill>
                  <a:srgbClr val="CBD5E1"/>
                </a:solidFill>
                <a:latin typeface="Calibri"/>
              </a:defRPr>
            </a:pPr>
            <a:r>
              <a:t>Agentic Enterprise (AI Agentic Technology Systems for Digital Enterprise Ecosystem) - Magister AI, Universitas Gadjah Mada</a:t>
            </a:r>
          </a:p>
          <a:p>
            <a:pPr>
              <a:spcAft>
                <a:spcPts val="400"/>
              </a:spcAft>
              <a:defRPr sz="1500" b="0">
                <a:solidFill>
                  <a:srgbClr val="CBD5E1"/>
                </a:solidFill>
                <a:latin typeface="Calibri"/>
              </a:defRPr>
            </a:pPr>
            <a:r>
              <a:t>Aditya Wahyu Wijanarko  |  NIM 25/574566/PPA/07251  |  pengerjaan individu</a:t>
            </a:r>
          </a:p>
          <a:p>
            <a:pPr>
              <a:spcAft>
                <a:spcPts val="400"/>
              </a:spcAft>
              <a:defRPr sz="1500" b="0">
                <a:solidFill>
                  <a:srgbClr val="CBD5E1"/>
                </a:solidFill>
                <a:latin typeface="Calibri"/>
              </a:defRPr>
            </a:pPr>
            <a:r>
              <a:t>https://github.com/AdityaIKO/Agentic-Enterprise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400"/>
              </a:spcAft>
              <a:defRPr sz="2500" b="1">
                <a:solidFill>
                  <a:srgbClr val="FFFFFF"/>
                </a:solidFill>
                <a:latin typeface="Calibri"/>
              </a:defRPr>
            </a:pPr>
            <a:r>
              <a:t>Ringkasan eksekutif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7395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850" b="0">
                <a:solidFill>
                  <a:srgbClr val="6B7280"/>
                </a:solidFill>
                <a:latin typeface="Calibri"/>
              </a:defRPr>
            </a:pPr>
            <a:r>
              <a:t>XCMAS: Xpora Consortium Multi-Agent System  |  Aditya Wahyu Wijanarko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850" b="0">
                <a:solidFill>
                  <a:srgbClr val="6B7280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051560"/>
            <a:ext cx="2743200" cy="1325880"/>
          </a:xfrm>
          <a:prstGeom prst="rect">
            <a:avLst/>
          </a:prstGeom>
          <a:solidFill>
            <a:srgbClr val="EAF3F3"/>
          </a:solidFill>
          <a:ln>
            <a:solidFill>
              <a:srgbClr val="0F8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0972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150" b="1">
                <a:solidFill>
                  <a:srgbClr val="6B7280"/>
                </a:solidFill>
                <a:latin typeface="Calibri"/>
              </a:defRPr>
            </a:pPr>
            <a:r>
              <a:t>OTIF Xpora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3716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650" b="1">
                <a:solidFill>
                  <a:srgbClr val="1F2A44"/>
                </a:solidFill>
                <a:latin typeface="Calibri"/>
              </a:defRPr>
            </a:pPr>
            <a:r>
              <a:t>3% → 62%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9659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050" b="0">
                <a:solidFill>
                  <a:srgbClr val="6B7280"/>
                </a:solidFill>
                <a:latin typeface="Calibri"/>
              </a:defRPr>
            </a:pPr>
            <a:r>
              <a:t>manual → multi-agen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1051560"/>
            <a:ext cx="2743200" cy="1325880"/>
          </a:xfrm>
          <a:prstGeom prst="rect">
            <a:avLst/>
          </a:prstGeom>
          <a:solidFill>
            <a:srgbClr val="EAF3F3"/>
          </a:solidFill>
          <a:ln>
            <a:solidFill>
              <a:srgbClr val="0F8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0" y="10972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150" b="1">
                <a:solidFill>
                  <a:srgbClr val="6B7280"/>
                </a:solidFill>
                <a:latin typeface="Calibri"/>
              </a:defRPr>
            </a:pPr>
            <a:r>
              <a:t>OTIF KrakaCoal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13716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650" b="1">
                <a:solidFill>
                  <a:srgbClr val="1F2A44"/>
                </a:solidFill>
                <a:latin typeface="Calibri"/>
              </a:defRPr>
            </a:pPr>
            <a:r>
              <a:t>3% → 52%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19659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050" b="0">
                <a:solidFill>
                  <a:srgbClr val="6B7280"/>
                </a:solidFill>
                <a:latin typeface="Calibri"/>
              </a:defRPr>
            </a:pPr>
            <a:r>
              <a:t>manual → multi-agen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1051560"/>
            <a:ext cx="2743200" cy="1325880"/>
          </a:xfrm>
          <a:prstGeom prst="rect">
            <a:avLst/>
          </a:prstGeom>
          <a:solidFill>
            <a:srgbClr val="EAF3F3"/>
          </a:solidFill>
          <a:ln>
            <a:solidFill>
              <a:srgbClr val="0F8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10972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150" b="1">
                <a:solidFill>
                  <a:srgbClr val="6B7280"/>
                </a:solidFill>
                <a:latin typeface="Calibri"/>
              </a:defRPr>
            </a:pPr>
            <a:r>
              <a:t>Fill rate Xpora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13716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650" b="1">
                <a:solidFill>
                  <a:srgbClr val="1F2A44"/>
                </a:solidFill>
                <a:latin typeface="Calibri"/>
              </a:defRPr>
            </a:pPr>
            <a:r>
              <a:t>83% → 97%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19659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050" b="0">
                <a:solidFill>
                  <a:srgbClr val="6B7280"/>
                </a:solidFill>
                <a:latin typeface="Calibri"/>
              </a:defRPr>
            </a:pPr>
            <a:r>
              <a:t>kg lolos QC / kebutuhan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52559" y="1051560"/>
            <a:ext cx="2743200" cy="1325880"/>
          </a:xfrm>
          <a:prstGeom prst="rect">
            <a:avLst/>
          </a:prstGeom>
          <a:solidFill>
            <a:srgbClr val="EAF3F3"/>
          </a:solidFill>
          <a:ln>
            <a:solidFill>
              <a:srgbClr val="0F8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59" y="10972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150" b="1">
                <a:solidFill>
                  <a:srgbClr val="6B7280"/>
                </a:solidFill>
                <a:latin typeface="Calibri"/>
              </a:defRPr>
            </a:pPr>
            <a:r>
              <a:t>Sentuhan manusia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59" y="13716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650" b="1">
                <a:solidFill>
                  <a:srgbClr val="1F2A44"/>
                </a:solidFill>
                <a:latin typeface="Calibri"/>
              </a:defRPr>
            </a:pPr>
            <a:r>
              <a:t>105 → 1,6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59" y="19659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050" b="0">
                <a:solidFill>
                  <a:srgbClr val="6B7280"/>
                </a:solidFill>
                <a:latin typeface="Calibri"/>
              </a:defRPr>
            </a:pPr>
            <a:r>
              <a:t>per order (Xpora)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2560320"/>
            <a:ext cx="11338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1F2937"/>
                </a:solidFill>
                <a:latin typeface="Calibri"/>
              </a:defRPr>
            </a:pPr>
            <a:r>
              <a:t>• Masalah agentik yang dipecahkan: bagaimana mengubah RFQ pembeli menjadi kontainer yang terisi penuh dan berangkat tepat waktu ketika pasokan tersebar pada puluhan produsen kecil yang kapasitas nyatanya berubah-ubah, kadang gagal kirim, dan sebagian barangnya ditolak QC. XCMAS memodelkannya sebagai sistem multi-agen: Sales Agent (Virtual SDR), Order Agent, Producer Agent (UMKM), QC, Warehouse Line, Compliance, Risk, Freight, Learning, Governance, dan Scout mobile.</a:t>
            </a:r>
          </a:p>
          <a:p>
            <a:pPr>
              <a:spcAft>
                <a:spcPts val="400"/>
              </a:spcAft>
              <a:defRPr sz="1400" b="0">
                <a:solidFill>
                  <a:srgbClr val="1F2937"/>
                </a:solidFill>
                <a:latin typeface="Calibri"/>
              </a:defRPr>
            </a:pPr>
            <a:r>
              <a:t>• Temuan yang jujur: (1) Keunggulan multi-agen atas agen tunggal terpusat berasal dari informasi lokal yang segar (produsen menawar dengan kapasitas nyata hari itu) versus registry yang kedaluwarsa; keunggulan itu hilang bila kapasitas stabil dan registry akurat, sehingga agen tunggal cukup untuk konsorsium kecil yang stabil. (2) Multi-agen memakai lebih banyak pesan per order pada pemasokan tetapi lebih ringan pada node puncak dan lebih tahan gangguan koordinator. (3) Over-allocation 15% adalah trade-off antara kekurangan pasokan dan limbah surplus. (4) Q-learning yang dilatih di lingkungan abstrak tidak transfer; yang dilatih di simulator setara aturan yang dituning. (5) Modul Sales/SDR bersifat eksploratif dan bergantung asumsi. (6) Data bersifat sintetis; pilot Xpora belum berjalan dan syarat pembayaran KrakaCoal tidak dipublikasikan sehingga tidak dimodelkan (hanya asumsi DP).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400"/>
              </a:spcAft>
              <a:defRPr sz="2500" b="1">
                <a:solidFill>
                  <a:srgbClr val="FFFFFF"/>
                </a:solidFill>
                <a:latin typeface="Calibri"/>
              </a:defRPr>
            </a:pPr>
            <a:r>
              <a:t>Peta jawaban Tugas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7395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850" b="0">
                <a:solidFill>
                  <a:srgbClr val="6B7280"/>
                </a:solidFill>
                <a:latin typeface="Calibri"/>
              </a:defRPr>
            </a:pPr>
            <a:r>
              <a:t>XCMAS: Xpora Consortium Multi-Agent System  |  Aditya Wahyu Wijanarko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850" b="0">
                <a:solidFill>
                  <a:srgbClr val="6B7280"/>
                </a:solidFill>
                <a:latin typeface="Calibri"/>
              </a:defRPr>
            </a:pPr>
            <a:r>
              <a:t>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051560"/>
          <a:ext cx="11338560" cy="38988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7315200"/>
                <a:gridCol w="1097280"/>
              </a:tblGrid>
              <a:tr h="2717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Instruksi</a:t>
                      </a:r>
                    </a:p>
                  </a:txBody>
                  <a:tcPr marL="54864" marR="54864" marT="18288" marB="18288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Jawaban</a:t>
                      </a:r>
                    </a:p>
                  </a:txBody>
                  <a:tcPr marL="54864" marR="54864" marT="18288" marB="18288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Lokasi</a:t>
                      </a:r>
                    </a:p>
                  </a:txBody>
                  <a:tcPr marL="54864" marR="54864" marT="18288" marB="18288">
                    <a:solidFill>
                      <a:srgbClr val="1F2A44"/>
                    </a:solidFill>
                  </a:tcPr>
                </a:tc>
              </a:tr>
              <a:tr h="454659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Gunakan topik yang dipilih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Topik: XCMAS, sistem multi-agen konsolidasi ekspor UMKM (venture Xpora; kalibrasi KrakaCoal). Tidak diambil kelompok 1-6.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Bagian 2.1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7178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Upload laporan progres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Dokumen ini (PDF) + slide (PPTX) + kode GitHub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-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</a:tr>
              <a:tr h="27178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Peran anggota tim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Pengerjaan individu; enam peran template Project #1 dipegang satu orang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Bagian 1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7178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Deskripsi problem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MOQ trap, legalitas, kualitas, alokasi kuota; KPI, klasifikasi lingkungan, PEAS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Bagian 2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</a:tr>
              <a:tr h="454659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Ilustrasi data dan perhitungan komputasi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Sumber data (Xpora/KrakaCoal/asumsi), 13 contoh hitung manual, simulasi penuh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Bagian 3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7178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Rumus notasi dan arti simbol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30 rumus dikelompokkan A-H, tiap simbol dijelaskan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Bagian 4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</a:tr>
              <a:tr h="27178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Tiga penelitian topik serupa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Hathikal 2020; Lee 2024; Ouelhadj &amp; Petrovic 2009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Bagian 5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7178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Mengapa single vs multi-agent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Kriteria Bab 4 + bukti eksperimen (informasi segar, ketahanan, skala, batas organisasi)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Bagian 6.1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</a:tr>
              <a:tr h="27178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Tiga penelitian agen cerdas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Smith 1980; Leitao 2009; Zhao 2024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Bagian 6.2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7178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Diagram rencana sistem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Arsitektur, Contract Net kuota produsen, siklus BDI, Gantt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Bagian 6.3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</a:tr>
              <a:tr h="27178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Komponen internal tiap agen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Tabel 11 agen: BDI, komponen, I/O, metode, otonomi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Bagian 6.4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7178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AI / ML / DL dan alasannya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Portofolio metode (ML, RL, LLM, CV) + alasan tidak memakai DL sekarang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Bagian 6.6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400"/>
              </a:spcAft>
              <a:defRPr sz="2500" b="1">
                <a:solidFill>
                  <a:srgbClr val="FFFFFF"/>
                </a:solidFill>
                <a:latin typeface="Calibri"/>
              </a:defRPr>
            </a:pPr>
            <a:r>
              <a:t>1. Peran dalam tim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7395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850" b="0">
                <a:solidFill>
                  <a:srgbClr val="6B7280"/>
                </a:solidFill>
                <a:latin typeface="Calibri"/>
              </a:defRPr>
            </a:pPr>
            <a:r>
              <a:t>XCMAS: Xpora Consortium Multi-Agent System  |  Aditya Wahyu Wijanarko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850" b="0">
                <a:solidFill>
                  <a:srgbClr val="6B7280"/>
                </a:solidFill>
                <a:latin typeface="Calibri"/>
              </a:defRPr>
            </a:pPr>
            <a:r>
              <a:t>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051560"/>
          <a:ext cx="11338560" cy="2405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8229600"/>
              </a:tblGrid>
              <a:tr h="2870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Peran (template Project #1)</a:t>
                      </a:r>
                    </a:p>
                  </a:txBody>
                  <a:tcPr marL="54864" marR="54864" marT="18288" marB="18288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Tanggung jawab</a:t>
                      </a:r>
                    </a:p>
                  </a:txBody>
                  <a:tcPr marL="54864" marR="54864" marT="18288" marB="18288">
                    <a:solidFill>
                      <a:srgbClr val="1F2A44"/>
                    </a:solidFill>
                  </a:tcPr>
                </a:tc>
              </a:tr>
              <a:tr h="28702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Leader / product owner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Memilih topik dari venture sendiri (Xpora, KrakaCoal), merumuskan masalah dan KPI.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8514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Researcher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Studi literatur (3 + 3), memetakan materi Bab 1-5 ke desain, mengumpulkan parameter dari submission Xpora dan situs KrakaCoal.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</a:tr>
              <a:tr h="28702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Programmer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Simulator, agen, model ML/RL, lapisan pesan aman, unit test.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8702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Designer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Arsitektur sistem, protokol Contract Net, diagram, visualisasi.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</a:tr>
              <a:tr h="48514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Evaluator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Eksperimen berpasangan pada dua profil komoditas, ablation, sensitivitas, uji ketahanan dan skala, catatan validitas.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8702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Presenter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Menyusun laporan PDF dan slide PPT.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11480" y="4343400"/>
            <a:ext cx="11338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4B5563"/>
                </a:solidFill>
                <a:latin typeface="Calibri"/>
              </a:defRPr>
            </a:pPr>
            <a:r>
              <a:t>Tugas 1 dikerjakan individu (penulis bergabung terlambat ke kelas), sehingga enam peran pada template Project #1 dipegang satu orang. Kasus berangkat dari venture Xpora (tim PIDI 2026) dan bisnis trading KrakaCoal milik penulis; bagian yang dinilai di sini (model agentik, simulasi, dan analisis) dikerjakan penulis. Claude Code dipakai sebagai asisten penulisan kode dan dokumen; keputusan desain, angka, dan klaim ditinjau oleh penulis. Modul CNN QC dan portal Virtual SDR pada Xpora dikembangkan anggota tim lain dan hanya dimodelkan secara statistik di sini.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400"/>
              </a:spcAft>
              <a:defRPr sz="2500" b="1">
                <a:solidFill>
                  <a:srgbClr val="FFFFFF"/>
                </a:solidFill>
                <a:latin typeface="Calibri"/>
              </a:defRPr>
            </a:pPr>
            <a:r>
              <a:t>2. Deskripsi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7395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850" b="0">
                <a:solidFill>
                  <a:srgbClr val="6B7280"/>
                </a:solidFill>
                <a:latin typeface="Calibri"/>
              </a:defRPr>
            </a:pPr>
            <a:r>
              <a:t>XCMAS: Xpora Consortium Multi-Agent System  |  Aditya Wahyu Wijanarko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850" b="0">
                <a:solidFill>
                  <a:srgbClr val="6B7280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005840"/>
            <a:ext cx="55778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1F2937"/>
                </a:solidFill>
                <a:latin typeface="Calibri"/>
              </a:defRPr>
            </a:pPr>
            <a:r>
              <a:t>• Xpora (submission ke-2 PIDI 2026) menargetkan tiga hambatan struktural ekspor UMKM: (1) fragmentasi kapasitas: pembeli mensyaratkan 15-27 ton per kontainer sementara produsen tempe rumahan hanya 100-300 kg/hari (The MOQ Trap); (2) kemacetan legalitas dan kualitas: hanya 18,6% UMKM memiliki NIB dan 7,8% bersertifikasi produk, mutu tidak konsisten; (3) ilusi literasi digital: komunikasi akar rumput bertumpu pada WhatsApp.</a:t>
            </a:r>
          </a:p>
          <a:p>
            <a:pPr>
              <a:spcAft>
                <a:spcPts val="400"/>
              </a:spcAft>
              <a:defRPr sz="1300" b="0">
                <a:solidFill>
                  <a:srgbClr val="1F2937"/>
                </a:solidFill>
                <a:latin typeface="Calibri"/>
              </a:defRPr>
            </a:pPr>
            <a:r>
              <a:t>• Xpora menjawab dengan lima tahap: inbound negosiasi (Virtual SDR), validasi DP oleh admin (human-in-the-loop), distribusi kuota ke puluhan UMKM via WhatsApp (DP menjadi modal kerja), fulfillment dan QC (CV, Grade A/B/Reject) di gudang konsolidasi, lalu pelunasan dan ekspor di bawah satu PT konsorsium. Tahap yang paling agentik dan paling rawan adalah distribusi kuota dan pemenuhan: kapasitas nyata produsen berubah-ubah, sebagian gagal kirim, dan sebagian barang ditolak QC.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0" y="1005840"/>
            <a:ext cx="55778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1F2937"/>
                </a:solidFill>
                <a:latin typeface="Calibri"/>
              </a:defRPr>
            </a:pPr>
            <a:r>
              <a:t>• KrakaCoal (situs krakacoal.com, PT. Kraka Coal Indonesia) adalah bisnis trading yang sudah berjalan: 'a vetted export network, not a single factory'. Mengumpulkan bahan dari Sumatra, Jawa, dan Sulawesi, karbonisasi di Jawa, uji lab tiap batch, kapasitas 300+ MT/bulan dan 10+ kontainer/bulan, ekspor dari pelabuhan Jawa Timur (Surabaya). MOQ satu FCL (20 ft: 12-17 ton, 40 ft: 25-27 ton), produksi 10 hari (20 ft) atau 14 hari (40 ft), packing 3-6 hari, FOB default dan CIF atas permintaan. Pola ini identik dengan konsorsium Xpora, hanya komoditasnya tidak perishable.</a:t>
            </a:r>
          </a:p>
          <a:p>
            <a:pPr>
              <a:spcAft>
                <a:spcPts val="400"/>
              </a:spcAft>
              <a:defRPr sz="1300" b="0">
                <a:solidFill>
                  <a:srgbClr val="1F2937"/>
                </a:solidFill>
                <a:latin typeface="Calibri"/>
              </a:defRPr>
            </a:pPr>
            <a:r>
              <a:t>• Pernyataan masalah formal: untuk tiap order kontainer, pilih kuota tiap produsen (dengan buffer dan re-kontrak), jadwal lini gudang, dokumen/HS, carrier, dan tindakan pemulihan yang memaksimalkan margin kontribusi M = pendapatan (nilai x fill x (1 - diskon shelf-life)) - biaya total J, dengan constraint kapasitas, closing kapal, batas konsentrasi produsen, kebijakan compliance, dan batas wewenang agen.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400"/>
              </a:spcAft>
              <a:defRPr sz="2500" b="1">
                <a:solidFill>
                  <a:srgbClr val="FFFFFF"/>
                </a:solidFill>
                <a:latin typeface="Calibri"/>
              </a:defRPr>
            </a:pPr>
            <a:r>
              <a:t>2. Lingkungan dan PEAS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7395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850" b="0">
                <a:solidFill>
                  <a:srgbClr val="6B7280"/>
                </a:solidFill>
                <a:latin typeface="Calibri"/>
              </a:defRPr>
            </a:pPr>
            <a:r>
              <a:t>XCMAS: Xpora Consortium Multi-Agent System  |  Aditya Wahyu Wijanarko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850" b="0">
                <a:solidFill>
                  <a:srgbClr val="6B7280"/>
                </a:solidFill>
                <a:latin typeface="Calibri"/>
              </a:defRPr>
            </a:pPr>
            <a:r>
              <a:t>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005840"/>
          <a:ext cx="11338560" cy="14503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7680960"/>
              </a:tblGrid>
              <a:tr h="2565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Karakteristik</a:t>
                      </a:r>
                    </a:p>
                  </a:txBody>
                  <a:tcPr marL="54864" marR="54864" marT="18288" marB="18288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Klasifikasi</a:t>
                      </a:r>
                    </a:p>
                  </a:txBody>
                  <a:tcPr marL="54864" marR="54864" marT="18288" marB="18288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Bukti pada kasus ini</a:t>
                      </a:r>
                    </a:p>
                  </a:txBody>
                  <a:tcPr marL="54864" marR="54864" marT="18288" marB="18288">
                    <a:solidFill>
                      <a:srgbClr val="1F2A44"/>
                    </a:solidFill>
                  </a:tcPr>
                </a:tc>
              </a:tr>
              <a:tr h="424179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Observability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Partially observable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Kapasitas produsen hari ini (sisa setelah pasar lokal), keandalan, dan yield QC tidak diketahui pasti; registry hanya data onboarding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565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Outcome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Stochastic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Gagal kirim produsen, reject QC, kerusakan lini gudang, roll-over kargo, dokumen kurang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</a:tr>
              <a:tr h="2565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Change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Dynamic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Kapasitas berubah tiap order, jadwal kapal mingguan, kongesti pelabuhan, order baru masuk terus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565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Actors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Multi-agent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Pembeli asing, puluhan UMKM, carrier, bea cukai, admin konsorsium: pemilik dan kepentingan berbeda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3383280"/>
          <a:ext cx="11338560" cy="1953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9509760"/>
              </a:tblGrid>
              <a:tr h="2565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Komponen</a:t>
                      </a:r>
                    </a:p>
                  </a:txBody>
                  <a:tcPr marL="54864" marR="54864" marT="18288" marB="18288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Deskripsi XCMAS</a:t>
                      </a:r>
                    </a:p>
                  </a:txBody>
                  <a:tcPr marL="54864" marR="54864" marT="18288" marB="18288">
                    <a:solidFill>
                      <a:srgbClr val="1F2A44"/>
                    </a:solidFill>
                  </a:tcPr>
                </a:tc>
              </a:tr>
              <a:tr h="424179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Performance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OTIF (tepat waktu dan terisi &gt;= 98%); margin kontribusi per order; fill rate; rata-rata hari terlambat; tingkat reject dan surplus; sentuhan manusia; keadilan kuota antar UMKM (Jain); ketahanan dan beban node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24179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Environment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Pasar pembeli global; 30-40 produsen UMKM (WhatsApp); gudang konsolidasi 3 lini x 2; proses dokumen ekspor dan bea cukai; 3 carrier dengan jadwal kapal mingguan; kongesti pelabuhan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</a:tr>
              <a:tr h="424179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Actuators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Broadcast CFP dan pemberian kuota via WhatsApp/bus; penjadwalan lini; lembur; booking carrier; penerbitan dokumen; eskalasi ke manusia; pembaruan quality score dan trust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24179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Sensors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Balasan/bid produsen; hasil QC (CV/lab); sensor kesehatan mesin; jadwal kapal via Scout Agent; status pelabuhan; hasil pengiriman; RFQ masuk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400"/>
              </a:spcAft>
              <a:defRPr sz="2500" b="1">
                <a:solidFill>
                  <a:srgbClr val="FFFFFF"/>
                </a:solidFill>
                <a:latin typeface="Calibri"/>
              </a:defRPr>
            </a:pPr>
            <a:r>
              <a:t>3. Sumber data: Xpora, KrakaCoal, dan asumsi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7395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850" b="0">
                <a:solidFill>
                  <a:srgbClr val="6B7280"/>
                </a:solidFill>
                <a:latin typeface="Calibri"/>
              </a:defRPr>
            </a:pPr>
            <a:r>
              <a:t>XCMAS: Xpora Consortium Multi-Agent System  |  Aditya Wahyu Wijanarko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850" b="0">
                <a:solidFill>
                  <a:srgbClr val="6B7280"/>
                </a:solidFill>
                <a:latin typeface="Calibri"/>
              </a:defRPr>
            </a:pPr>
            <a:r>
              <a:t>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960120"/>
          <a:ext cx="11795760" cy="4356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468880"/>
                <a:gridCol w="2926080"/>
                <a:gridCol w="4023360"/>
              </a:tblGrid>
              <a:tr h="24892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Parameter</a:t>
                      </a:r>
                    </a:p>
                  </a:txBody>
                  <a:tcPr marL="54864" marR="54864" marT="18288" marB="18288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Xpora (tempe)</a:t>
                      </a:r>
                    </a:p>
                  </a:txBody>
                  <a:tcPr marL="54864" marR="54864" marT="18288" marB="18288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KrakaCoal (arang)</a:t>
                      </a:r>
                    </a:p>
                  </a:txBody>
                  <a:tcPr marL="54864" marR="54864" marT="18288" marB="18288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Sumber</a:t>
                      </a:r>
                    </a:p>
                  </a:txBody>
                  <a:tcPr marL="54864" marR="54864" marT="18288" marB="18288">
                    <a:solidFill>
                      <a:srgbClr val="1F2A44"/>
                    </a:solidFill>
                  </a:tcPr>
                </a:tc>
              </a:tr>
              <a:tr h="408940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Produsen di pool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40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30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Xpora: pilot &gt;= 20, target 200 (SOURCE); Kraka: setara 300+ MT/bln (SOURCE)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08940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Kapasitas produsen (kg/hari)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250 (100-320)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350 (150-600)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Xpora: 100-300, rata-rata 250 (SOURCE); Kraka: ASUMSI dikalibrasi ke 300+ MT/bln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Ukuran order (kontainer)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15-27 t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12, 15, 17 t (20 ft) atau 25, 27 t (40 ft)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Xpora: 15-27 t (SOURCE); Kraka: situs (SOURCE)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08940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Harga kontrak (USD/kg)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3,15 (medium), 4,5 (premium)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1,10 dan 1,45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Xpora: pita harga portal (SOURCE); Kraka: harga tidak dipublikasikan, ASUMSI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</a:tr>
              <a:tr h="408940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Fermentasi/karbonisasi + transport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2.75 hari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4 hari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ASUMSI (tempe 36-48 jam; arang karbonisasi + pendinginan)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Lini gudang (hari per 20 t)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QC-CV 0,9 / vakum 1,8 / beku 1,4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Lab 1,5 / packing 4,0 / stuffing 1,0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Kraka: packing 3-6 hari (SOURCE); lainnya ASUMSI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Waktu produksi total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-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10 hari (20 ft) - 14 hari (40 ft)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Kraka (SOURCE); dipakai untuk kalibrasi sourcing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Perishable / shelf life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ya, 45 hari (uji tim: 1-2 bulan)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tidak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Xpora uji vakum (SOURCE)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Tipe kontainer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reefer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kering (tarif x 0.55)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ASUMSI tarif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08940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Incoterm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-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FOB default, CIF atas permintaan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Kraka (SOURCE); model memakai closing/keberangkatan kapal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</a:tr>
              <a:tr h="408940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Jaminan dokumen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HS, NIB, HACCP/BPOM/Halal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COA, MSDS, lab test, SABER/ESMA, EUDR, Halal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Xpora dan Kraka (SOURCE)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08940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Syarat pembayaran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DP buyer sebagai modal kerja (40% ASUMSI)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tidak dipublikasikan pada situs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Belum ada data: perlu diisi penulis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400"/>
              </a:spcAft>
              <a:defRPr sz="2100" b="1">
                <a:solidFill>
                  <a:srgbClr val="FFFFFF"/>
                </a:solidFill>
                <a:latin typeface="Calibri"/>
              </a:defRPr>
            </a:pPr>
            <a:r>
              <a:t>3. Perhitungan komputasi yang dapat diperiksa (1/3): kuota produsen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7395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850" b="0">
                <a:solidFill>
                  <a:srgbClr val="6B7280"/>
                </a:solidFill>
                <a:latin typeface="Calibri"/>
              </a:defRPr>
            </a:pPr>
            <a:r>
              <a:t>XCMAS: Xpora Consortium Multi-Agent System  |  Aditya Wahyu Wijanarko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850" b="0">
                <a:solidFill>
                  <a:srgbClr val="6B7280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005840"/>
            <a:ext cx="55778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1F2937"/>
                </a:solidFill>
                <a:latin typeface="Calibri"/>
              </a:defRPr>
            </a:pPr>
            <a:r>
              <a:t>1. Kebutuhan dengan buffer (over-allocation): Order 20 t (Q = 20.000 kg), buffer awal b = 15%: N_0 = 20.000 x 1,15 = 23.000 kg. Alasan: rata-rata sekitar 2 produsen per order gagal kirim dan ~6% kg ditolak QC; tanpa buffer OTIF turun (lihat sweep buffer, Bagian 7). Putaran susulan hanya menutup kekurangan nyata: N_k = (Q - kg lolos QC) x 1,05.</a:t>
            </a:r>
          </a:p>
          <a:p>
            <a:pPr>
              <a:spcAft>
                <a:spcPts val="800"/>
              </a:spcAft>
              <a:defRPr sz="1200" b="0">
                <a:solidFill>
                  <a:srgbClr val="1F2937"/>
                </a:solidFill>
                <a:latin typeface="Calibri"/>
              </a:defRPr>
            </a:pPr>
            <a:r>
              <a:t>2. Alokasi kuota multi-agen (bid dengan kapasitas nyata): Lot 5.000 kg, jendela 6 hari. Lima produsen menawar: P1: rate 210 kg/hari, tawaran 1.260 kg, harga 0,88, q 0,95, skor 0,675; P2: rate 234 kg/hari, tawaran 1.404 kg, harga 0,84, q 0,90, skor 0,818; P3: rate 240 kg/hari, tawaran 1.440 kg, harga 0,80, q 0,78, skor 0,890; P4: rate 192 kg/hari, tawaran 1.152 kg, harga 0,90, q 0,97, skor 0,589; P5: rate 140 kg/hari, tawaran 840 kg, harga 0,81, q 0,82, skor 0,680. Skor s = 0,3(1 - harga~) + 0,5 q + 0,2 kecepatan~. Urutan: P3 &gt; P2 &gt; P5 &gt; P1 &gt; P4. Kuota: P3 1.440 kg, P2 1.404 kg, P5 840 kg, P1 1.260 kg, P4 56 kg.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0" y="1005840"/>
            <a:ext cx="55778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1F2937"/>
                </a:solidFill>
                <a:latin typeface="Calibri"/>
              </a:defRPr>
            </a:pPr>
            <a:r>
              <a:t>3. Mengapa registry kedaluwarsa merugikan (agen tunggal): Agen tunggal memakai kapasitas registry x ketersediaan rata-rata 0,775: P1 1.442 kg, P2 1.232 kg, P3 1.070 kg, P4 1.558 kg, P5 884 kg. Terhadap tawaran nyata di atas, kuota berikut melebihi kemampuan: P5 +44 kg, P1 +182 kg (total 225 kg) sehingga perlu putaran susulan setelah konfirmasi (+0,25 hari) dan lebih banyak pesan. Pada multi-agen kekurangan ini tidak muncul karena produsen menawar sebatas kapasitas nyata.</a:t>
            </a:r>
          </a:p>
          <a:p>
            <a:pPr>
              <a:spcAft>
                <a:spcPts val="800"/>
              </a:spcAft>
              <a:defRPr sz="1200" b="0">
                <a:solidFill>
                  <a:srgbClr val="1F2937"/>
                </a:solidFill>
                <a:latin typeface="Calibri"/>
              </a:defRPr>
            </a:pPr>
            <a:r>
              <a:t>4. QC dan pembaruan quality score: Produsen mengirim 1.600 kg dengan yield 0,86: lolos QC = 1.376 kg. Untuk order premium dengan produsen yield &lt; 0,85 hanya 55% yang Grade A: 757 kg. Quality score q = 0,78 diperbarui q' = 0,8 x 0,78 + 0,2 x 0,86 = 0,796; bila gagal kirim (hasil 0): q' = 0,624; dua kali gagal: 0,499 &lt; 0,60 sehingga diblokir.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400"/>
              </a:spcAft>
              <a:defRPr sz="2100" b="1">
                <a:solidFill>
                  <a:srgbClr val="FFFFFF"/>
                </a:solidFill>
                <a:latin typeface="Calibri"/>
              </a:defRPr>
            </a:pPr>
            <a:r>
              <a:t>3. Perhitungan komputasi yang dapat diperiksa (2/3): gudang dan carrier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7395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850" b="0">
                <a:solidFill>
                  <a:srgbClr val="6B7280"/>
                </a:solidFill>
                <a:latin typeface="Calibri"/>
              </a:defRPr>
            </a:pPr>
            <a:r>
              <a:t>XCMAS: Xpora Consortium Multi-Agent System  |  Aditya Wahyu Wijanarko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850" b="0">
                <a:solidFill>
                  <a:srgbClr val="6B7280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005840"/>
            <a:ext cx="55778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1F2937"/>
                </a:solidFill>
                <a:latin typeface="Calibri"/>
              </a:defRPr>
            </a:pPr>
            <a:r>
              <a:t>5. Dispatch lini gudang (critical ratio): t = 5: J1 tenggat 12,5 sisa 3,2; J2 10,5 dan 4,0; J3 9,0 dan 1,4. CR = (d - t)/W: J1 2,34; J2 1,375; J3 2,86. Urutan J2 &gt; J1 &gt; J3.</a:t>
            </a:r>
          </a:p>
          <a:p>
            <a:pPr>
              <a:spcAft>
                <a:spcPts val="800"/>
              </a:spcAft>
              <a:defRPr sz="1200" b="0">
                <a:solidFill>
                  <a:srgbClr val="1F2937"/>
                </a:solidFill>
                <a:latin typeface="Calibri"/>
              </a:defRPr>
            </a:pPr>
            <a:r>
              <a:t>6. Tawaran Contract Net antar lini: Job w = 1,8 hari pada t = 5. Lini a: beban 2,4, kecepatan 1,02: ETA = 9,12. Lini b: beban 0,9, kecepatan 0,97: ETA = 7,78 sehingga ACCEPT ke b. Bila b terindikasi rusak sampai t = 7,5: ETA b = 10,28 dan a menang.</a:t>
            </a:r>
          </a:p>
          <a:p>
            <a:pPr>
              <a:spcAft>
                <a:spcPts val="800"/>
              </a:spcAft>
              <a:defRPr sz="1200" b="0">
                <a:solidFill>
                  <a:srgbClr val="1F2937"/>
                </a:solidFill>
                <a:latin typeface="Calibri"/>
              </a:defRPr>
            </a:pPr>
            <a:r>
              <a:t>7. Pemilihan carrier: skor hibrida vs biaya harapan: Order $42.000, 1 kontainer kering, tiba gerbang t = 15,2, LSD = 22. ColdLine-A: biaya $2.310, berangkat hari 24, p = 0,08, z = 89,8, g = 0, h = 0,0, E[biaya] = $2.855; ColdLine-B: biaya $2.640, berangkat hari 20, p = 0,11, z = 88,4, g = 1, h = 88,6, E[biaya] = $2.758; ColdLine-Prime: biaya $3.135, berangkat hari 22, p = 0,03, z = 79,9, g = 1, h = 87,4, E[biaya] = $3.185. Hibrida memilih ColdLine-B; biaya-harapan murni memilih ColdLine-B.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0" y="1005840"/>
            <a:ext cx="55778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1F2937"/>
                </a:solidFill>
                <a:latin typeface="Calibri"/>
              </a:defRPr>
            </a:pPr>
            <a:r>
              <a:t>8. Risiko roll-over (kebenaran tersembunyi vs model): ColdLine-A, kongesti 0,6, musim puncak, buffer 2 hari: logit = -1,55 + 1,8(0,6) + 1,1(1) - 0,3(2) = 0,03; p = 0,507. Carrier tercepat pada kondisi sama p = 0,139. Model Risk Agent memperkirakan p dari 4.000 pengiriman historis (AUC 0,76).</a:t>
            </a:r>
          </a:p>
          <a:p>
            <a:pPr>
              <a:spcAft>
                <a:spcPts val="800"/>
              </a:spcAft>
              <a:defRPr sz="1200" b="0">
                <a:solidFill>
                  <a:srgbClr val="1F2937"/>
                </a:solidFill>
                <a:latin typeface="Calibri"/>
              </a:defRPr>
            </a:pPr>
            <a:r>
              <a:t>9. Klasifikasi HS dengan kemiripan kosinus: Query 'frozen tempe block'. Dokumen 'frozen tempe block vacuum (HS 2106)': cos = 3/(sqrt(3) x sqrt(4)) = 0,866. Dokumen 'frozen shrimp block (HS 0306, tidak ada di katalog)': irisan 2 kata, cos = 0,667. Sistem sebenarnya memakai TF-IDF n-gram kata + karakter dan k-NN; confidence &lt; 0,60 diserahkan ke manusia.</a:t>
            </a:r>
          </a:p>
          <a:p>
            <a:pPr>
              <a:spcAft>
                <a:spcPts val="800"/>
              </a:spcAft>
              <a:defRPr sz="1200" b="0">
                <a:solidFill>
                  <a:srgbClr val="1F2937"/>
                </a:solidFill>
                <a:latin typeface="Calibri"/>
              </a:defRPr>
            </a:pPr>
            <a:r>
              <a:t>10. Trust carrier: T = 0,80, terangkut (q = 1): T' = 0,84. Roll-over (q = 0,2): T' = 0,68; roll-over kedua: 0,584 &lt; 0,60 sehingga diblokir oleh gerbang 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400"/>
              </a:spcAft>
              <a:defRPr sz="1850" b="1">
                <a:solidFill>
                  <a:srgbClr val="FFFFFF"/>
                </a:solidFill>
                <a:latin typeface="Calibri"/>
              </a:defRPr>
            </a:pPr>
            <a:r>
              <a:t>3. Perhitungan komputasi yang dapat diperiksa (3/3): RL, negosiasi, biaya, metrik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7395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850" b="0">
                <a:solidFill>
                  <a:srgbClr val="6B7280"/>
                </a:solidFill>
                <a:latin typeface="Calibri"/>
              </a:defRPr>
            </a:pPr>
            <a:r>
              <a:t>XCMAS: Xpora Consortium Multi-Agent System  |  Aditya Wahyu Wijanarko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850" b="0">
                <a:solidFill>
                  <a:srgbClr val="6B7280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005840"/>
            <a:ext cx="55778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1F2937"/>
                </a:solidFill>
                <a:latin typeface="Calibri"/>
              </a:defRPr>
            </a:pPr>
            <a:r>
              <a:t>11. Q-learning keputusan lembur: Contoh kuliah: Q = 2,0; alpha = 0,2; r = 5; gamma = 0,9; max Q' = 4: target = 8,6, TD = 6,6, Q baru = 3,32. Contoh kita: Q(s, lembur) = -120; r = -45 x 1,4/1,35 = -46,7; max Q' = -60: target = -104,9; TD = 15,1; Q baru = -118,5.</a:t>
            </a:r>
          </a:p>
          <a:p>
            <a:pPr>
              <a:spcAft>
                <a:spcPts val="800"/>
              </a:spcAft>
              <a:defRPr sz="1200" b="0">
                <a:solidFill>
                  <a:srgbClr val="1F2937"/>
                </a:solidFill>
                <a:latin typeface="Calibri"/>
              </a:defRPr>
            </a:pPr>
            <a:r>
              <a:t>12. Negosiasi Sales Agent dan Nash bargaining: Harga per kg: pembeli membuka 2,60 (batas 3,40), penjual membuka 4,20 (batas bawah 3,00), T = 4: ronde 1: 2,80 vs 3,90; ronde 2: 3,00 vs 3,60; ronde 3: 3,20 vs 3,30; ronde 4: 3,40 vs 3,00. Sepakat pada 3,20 USD/kg pada ronde 4; surplus pembeli 0,20 dan penjual 0,20 per kg. Nash product tertinggi pada tarif $2.100-$2.200 pada contoh tarif di modul negosiasi.</a:t>
            </a:r>
          </a:p>
          <a:p>
            <a:pPr>
              <a:spcAft>
                <a:spcPts val="800"/>
              </a:spcAft>
              <a:defRPr sz="1200" b="0">
                <a:solidFill>
                  <a:srgbClr val="1F2937"/>
                </a:solidFill>
                <a:latin typeface="Calibri"/>
              </a:defRPr>
            </a:pPr>
            <a:r>
              <a:t>13. Biaya dan margin satu order (KrakaCoal, skenario 7, order #1 dan #4): Manual order #1: kuantitas 12 t, terisi 59%, 4 putaran, 24 produsen, sourcing $4.669, freight $3.135, penalti $1.861, penyimpanan $48, manusia $1.008, pendapatan $7.960 (terlambat 12 hari); Manual order #4: kuantitas 27 t, terisi 88%, 4 putaran, 23 produsen, sourcing $15.952, freight $2.640, penalti $0, penyimpanan $22, manusia $936, pendapatan $35.756 (terlambat 0 hari); Multi-agen order #1: kuantitas 12 t, terisi 100%, 1 putaran, 10 produsen, sourcing $7.779, freight $2.310, penalti $0, penyimpanan $33, manusia $12, pendapatan $13.466 (terlambat 0 hari); Multi-agen order #4: kuantitas 27 t, terisi 100%, 1 putaran, 18 produsen, sourcing $17.969, freight $3.135, penalti $0, penyimpanan $25, manusia $36, pendapatan $40.419 (terlambat 0 hari).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0" y="1005840"/>
            <a:ext cx="55778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1F2937"/>
                </a:solidFill>
                <a:latin typeface="Calibri"/>
              </a:defRPr>
            </a:pPr>
            <a:r>
              <a:t>14. Metrik sistem multi-agen (Bab 4): Speedup 1.000 task: 100 s vs 29 s pada 4 agen: S = 3,45, efisiensi 0,86. Redundansi 3 agen R = 0,9: R_sys = 0,999. Biaya komunikasi satu pesan 8 KB pada 8 Mbps dan 20 ms: 28,2 ms. Jain: kuota merata 1,00; timpang (4,1,1,1) 0,64. Jain kuota antar produsen pada simulasi: Xpora 0,79, KrakaCoal 0,76.</a:t>
            </a:r>
          </a:p>
          <a:p>
            <a:pPr>
              <a:spcAft>
                <a:spcPts val="800"/>
              </a:spcAft>
              <a:defRPr sz="1200" b="0">
                <a:solidFill>
                  <a:srgbClr val="1F2937"/>
                </a:solidFill>
                <a:latin typeface="Calibri"/>
              </a:defRPr>
            </a:pPr>
            <a:r>
              <a:t>15. Migrasi Scout Agent: Host dengan trust &gt;= 0,80 dan risiko &lt;= 0,20 boleh dimigrasi; host carrier A (trust 0,71, risiko 0,30) ditolak walau latensinya terbaik. Data yang dipindahkan per skenario: 9,3 MB (scout) vs 27,0 MB (remote pull); penghematan 65%.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400"/>
              </a:spcAft>
              <a:defRPr sz="2500" b="1">
                <a:solidFill>
                  <a:srgbClr val="FFFFFF"/>
                </a:solidFill>
                <a:latin typeface="Calibri"/>
              </a:defRPr>
            </a:pPr>
            <a:r>
              <a:t>4. Rumus notasi dan arti simbol (1/4)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7395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850" b="0">
                <a:solidFill>
                  <a:srgbClr val="6B7280"/>
                </a:solidFill>
                <a:latin typeface="Calibri"/>
              </a:defRPr>
            </a:pPr>
            <a:r>
              <a:t>XCMAS: Xpora Consortium Multi-Agent System  |  Aditya Wahyu Wijanarko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850" b="0">
                <a:solidFill>
                  <a:srgbClr val="6B7280"/>
                </a:solidFill>
                <a:latin typeface="Calibri"/>
              </a:defRPr>
            </a:pPr>
            <a:r>
              <a:t>11</a:t>
            </a:r>
          </a:p>
        </p:txBody>
      </p:sp>
      <p:pic>
        <p:nvPicPr>
          <p:cNvPr id="6" name="Picture 5" descr="ag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24128"/>
            <a:ext cx="5486400" cy="34819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35040" y="1005840"/>
            <a:ext cx="5760720" cy="674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374151"/>
                </a:solidFill>
                <a:latin typeface="Calibri"/>
              </a:defRPr>
            </a:pPr>
            <a:r>
              <a:t>G goal, B belief, I intention, M memory, C context, R reasoning, P planning, T tools (Bab 3). s_t keadaan sistem, o_t observasi, a_t aksi, F fungsi transisi lingkungan.</a:t>
            </a:r>
          </a:p>
        </p:txBody>
      </p:sp>
      <p:pic>
        <p:nvPicPr>
          <p:cNvPr id="8" name="Picture 7" descr="m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698498"/>
            <a:ext cx="5486400" cy="31254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35040" y="1680210"/>
            <a:ext cx="5760720" cy="674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374151"/>
                </a:solidFill>
                <a:latin typeface="Calibri"/>
              </a:defRPr>
            </a:pPr>
            <a:r>
              <a:t>A himpunan agen, E lingkungan, S state, O observasi, Act aksi, C komunikasi, Phi aturan interaksi (protokol); pi_i kebijakan keputusan agen i (Bab 4).</a:t>
            </a:r>
          </a:p>
        </p:txBody>
      </p:sp>
      <p:pic>
        <p:nvPicPr>
          <p:cNvPr id="10" name="Picture 9" descr="ration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2372868"/>
            <a:ext cx="4824654" cy="41810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35040" y="2354580"/>
            <a:ext cx="5760720" cy="674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374151"/>
                </a:solidFill>
                <a:latin typeface="Calibri"/>
              </a:defRPr>
            </a:pPr>
            <a:r>
              <a:t>Agen rasional memilih aksi dengan utilitas tertinggi U yang tetap memenuhi kebijakan/constraint (budget, compliance, wewenang, batas konsentrasi produsen).</a:t>
            </a:r>
          </a:p>
        </p:txBody>
      </p:sp>
      <p:pic>
        <p:nvPicPr>
          <p:cNvPr id="12" name="Picture 11" descr="autonom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3047238"/>
            <a:ext cx="5486400" cy="30388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35040" y="3028950"/>
            <a:ext cx="5760720" cy="674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374151"/>
                </a:solidFill>
                <a:latin typeface="Calibri"/>
              </a:defRPr>
            </a:pPr>
            <a:r>
              <a:t>Aksi otomatis (level 4, delegate) hanya jika risiko &lt; rho, confidence &gt; tau, dan agen berwenang; selain itu perlu persetujuan manusia (level 2), mis. verifikasi DP dan HS confidence rendah.</a:t>
            </a:r>
          </a:p>
        </p:txBody>
      </p:sp>
      <p:pic>
        <p:nvPicPr>
          <p:cNvPr id="14" name="Picture 13" descr="obj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80" y="3721607"/>
            <a:ext cx="1676808" cy="41810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035040" y="3703320"/>
            <a:ext cx="5760720" cy="674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374151"/>
                </a:solidFill>
                <a:latin typeface="Calibri"/>
              </a:defRPr>
            </a:pPr>
            <a:r>
              <a:t>J biaya total (sourcing, freight, penyimpanan, lembur, sentuhan manusia, penalti). M margin kontribusi: V_i nilai kontrak order i, phi_i fill rate, delta_i diskon shelf-life. Dipakai sebagai fungsi tujuan (Bab 4: service-cost objective).</a:t>
            </a:r>
          </a:p>
        </p:txBody>
      </p:sp>
      <p:pic>
        <p:nvPicPr>
          <p:cNvPr id="16" name="Picture 15" descr="fil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480" y="4395977"/>
            <a:ext cx="2828387" cy="41810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035040" y="4377690"/>
            <a:ext cx="5760720" cy="674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374151"/>
                </a:solidFill>
                <a:latin typeface="Calibri"/>
              </a:defRPr>
            </a:pPr>
            <a:r>
              <a:t>phi fill rate (kg lolos QC dibagi kebutuhan Q); OTIF (on-time in-full) bernilai 1 bila kirim tepat waktu dan terisi &gt;= 98%.</a:t>
            </a:r>
          </a:p>
        </p:txBody>
      </p:sp>
      <p:pic>
        <p:nvPicPr>
          <p:cNvPr id="18" name="Picture 17" descr="pe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1480" y="5070347"/>
            <a:ext cx="5486400" cy="35551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035040" y="5052059"/>
            <a:ext cx="5760720" cy="674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374151"/>
                </a:solidFill>
                <a:latin typeface="Calibri"/>
              </a:defRPr>
            </a:pPr>
            <a:r>
              <a:t>V nilai kontrak (USD), d hari keterlambatan di atas toleransi. 0,4% nilai per hari + 45 USD/hari demurrage/storage + diskon 5% bila L/C basi (d &gt; 10). ASUMSI pemodelan.</a:t>
            </a:r>
          </a:p>
        </p:txBody>
      </p:sp>
      <p:pic>
        <p:nvPicPr>
          <p:cNvPr id="20" name="Picture 19" descr="closing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1480" y="5744717"/>
            <a:ext cx="5486400" cy="39959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035040" y="5726429"/>
            <a:ext cx="5760720" cy="674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 b="0">
                <a:solidFill>
                  <a:srgbClr val="374151"/>
                </a:solidFill>
                <a:latin typeface="Calibri"/>
              </a:defRPr>
            </a:pPr>
            <a:r>
              <a:t>c_j(t) closing kapal carrier j pertama yang &gt;= t (berlayar mingguan, offset o_j); keberangkatan = closing + 3 hari, +7 hari bila kargo tidak terangkut (roll-over); L keterlambatan terhadap LSD (latest shipment date, toleransi 2 hari).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61722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850" b="0">
                <a:solidFill>
                  <a:srgbClr val="0F8B8D"/>
                </a:solidFill>
                <a:latin typeface="Calibri"/>
              </a:defRPr>
            </a:pPr>
            <a:r>
              <a:t>A. Agen dan sistem multi-agen; B. Model masalah ekspor konsorsium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400"/>
              </a:spcAft>
              <a:defRPr sz="2500" b="1">
                <a:solidFill>
                  <a:srgbClr val="FFFFFF"/>
                </a:solidFill>
                <a:latin typeface="Calibri"/>
              </a:defRPr>
            </a:pPr>
            <a:r>
              <a:t>4. Rumus notasi dan arti simbol (2/4)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7395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850" b="0">
                <a:solidFill>
                  <a:srgbClr val="6B7280"/>
                </a:solidFill>
                <a:latin typeface="Calibri"/>
              </a:defRPr>
            </a:pPr>
            <a:r>
              <a:t>XCMAS: Xpora Consortium Multi-Agent System  |  Aditya Wahyu Wijanarko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850" b="0">
                <a:solidFill>
                  <a:srgbClr val="6B7280"/>
                </a:solidFill>
                <a:latin typeface="Calibri"/>
              </a:defRPr>
            </a:pPr>
            <a:r>
              <a:t>12</a:t>
            </a:r>
          </a:p>
        </p:txBody>
      </p:sp>
      <p:pic>
        <p:nvPicPr>
          <p:cNvPr id="6" name="Picture 5" descr="ne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24128"/>
            <a:ext cx="5486400" cy="43753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35040" y="1005840"/>
            <a:ext cx="5760720" cy="89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374151"/>
                </a:solidFill>
                <a:latin typeface="Calibri"/>
              </a:defRPr>
            </a:pPr>
            <a:r>
              <a:t>Kebutuhan awal N_0 = kuantitas Q ditambah buffer over-allocation b = 15% (lindung nilai terhadap gagal kirim dan reject QC); putaran susulan (re-kontrak) N_k menutup kekurangan dengan buffer b_r = 5%.</a:t>
            </a:r>
          </a:p>
        </p:txBody>
      </p:sp>
      <p:pic>
        <p:nvPicPr>
          <p:cNvPr id="8" name="Picture 7" descr="off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923288"/>
            <a:ext cx="5486400" cy="39774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35040" y="1905000"/>
            <a:ext cx="5760720" cy="89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374151"/>
                </a:solidFill>
                <a:latin typeface="Calibri"/>
              </a:defRPr>
            </a:pPr>
            <a:r>
              <a:t>Tawaran produsen j: c_j kapasitas nominal (kg/hari), u_j ketersediaan aktual hari itu (0,55-1: sisa setelah pasar lokal), W_j jendela produksi; tau_lag fermentasi/karbonisasi, tau_tr transport. Pada multi-agen produsen menawar dengan u_j sebenarnya (informasi lokal).</a:t>
            </a:r>
          </a:p>
        </p:txBody>
      </p:sp>
      <p:pic>
        <p:nvPicPr>
          <p:cNvPr id="10" name="Picture 9" descr="central_e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2822448"/>
            <a:ext cx="5486400" cy="40831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35040" y="2804160"/>
            <a:ext cx="5760720" cy="89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374151"/>
                </a:solidFill>
                <a:latin typeface="Calibri"/>
              </a:defRPr>
            </a:pPr>
            <a:r>
              <a:t>Estimasi agen tunggal dari registry: c^_j kapasitas hasil onboarding (kedaluwarsa/berderau epsilon_j), u_bar ketersediaan rata-rata (0,775). Selisih o^_j vs o_j menimbulkan over-commit dan putaran susulan.</a:t>
            </a:r>
          </a:p>
        </p:txBody>
      </p:sp>
      <p:pic>
        <p:nvPicPr>
          <p:cNvPr id="12" name="Picture 11" descr="sco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3721608"/>
            <a:ext cx="5486400" cy="29900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35040" y="3703320"/>
            <a:ext cx="5760720" cy="89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374151"/>
                </a:solidFill>
                <a:latin typeface="Calibri"/>
              </a:defRPr>
            </a:pPr>
            <a:r>
              <a:t>Skor bid: p~_j harga ternormalisasi (0-1), q_j quality score produsen, o~_j kecepatan (tawaran ternormalisasi). Order Agent memberi kuota berurut skor tertinggi: x_j = min(o_j, N_sisa, 0,3 x 1,3 Q); produsen dengan q_j &lt; 0,60 tidak dikontrak.</a:t>
            </a:r>
          </a:p>
        </p:txBody>
      </p:sp>
      <p:pic>
        <p:nvPicPr>
          <p:cNvPr id="14" name="Picture 13" descr="q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80" y="4620768"/>
            <a:ext cx="5486400" cy="3135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035040" y="4602480"/>
            <a:ext cx="5760720" cy="89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374151"/>
                </a:solidFill>
                <a:latin typeface="Calibri"/>
              </a:defRPr>
            </a:pPr>
            <a:r>
              <a:t>d_j kg yang benar-benar dapat dikirim; g_j = yield lolos QC (CV/lab) produsen j + derau; f_j = 1 bila memenuhi grade (0,55 bila order premium dan yield &lt; 0,85); default_j gagal kirim dengan peluang 1 - keandalan.</a:t>
            </a:r>
          </a:p>
        </p:txBody>
      </p:sp>
      <p:pic>
        <p:nvPicPr>
          <p:cNvPr id="16" name="Picture 15" descr="qscor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480" y="5519928"/>
            <a:ext cx="5486400" cy="520607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035040" y="5501640"/>
            <a:ext cx="5760720" cy="89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374151"/>
                </a:solidFill>
                <a:latin typeface="Calibri"/>
              </a:defRPr>
            </a:pPr>
            <a:r>
              <a:t>Pembaruan quality score (bentuk trust eksponensial Bab 4): produsen konsisten Grade A memperoleh prioritas kuota berikutnya (insentif kualitas organik); gagal kirim memberi hasil 0.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61722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850" b="0">
                <a:solidFill>
                  <a:srgbClr val="0F8B8D"/>
                </a:solidFill>
                <a:latin typeface="Calibri"/>
              </a:defRPr>
            </a:pPr>
            <a:r>
              <a:t>C. Alokasi kuota ke produsen UMKM (Contract Net)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400"/>
              </a:spcAft>
              <a:defRPr sz="2500" b="1">
                <a:solidFill>
                  <a:srgbClr val="FFFFFF"/>
                </a:solidFill>
                <a:latin typeface="Calibri"/>
              </a:defRPr>
            </a:pPr>
            <a:r>
              <a:t>4. Rumus notasi dan arti simbol (3/4)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7395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850" b="0">
                <a:solidFill>
                  <a:srgbClr val="6B7280"/>
                </a:solidFill>
                <a:latin typeface="Calibri"/>
              </a:defRPr>
            </a:pPr>
            <a:r>
              <a:t>XCMAS: Xpora Consortium Multi-Agent System  |  Aditya Wahyu Wijanarko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850" b="0">
                <a:solidFill>
                  <a:srgbClr val="6B7280"/>
                </a:solidFill>
                <a:latin typeface="Calibri"/>
              </a:defRPr>
            </a:pPr>
            <a:r>
              <a:t>13</a:t>
            </a:r>
          </a:p>
        </p:txBody>
      </p:sp>
      <p:pic>
        <p:nvPicPr>
          <p:cNvPr id="6" name="Picture 5" descr="c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24128"/>
            <a:ext cx="2270095" cy="3716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35040" y="1005840"/>
            <a:ext cx="5760720" cy="599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374151"/>
                </a:solidFill>
                <a:latin typeface="Calibri"/>
              </a:defRPr>
            </a:pPr>
            <a:r>
              <a:t>Critical ratio: d_i batas tiba di gerbang pelabuhan, t waktu sekarang, W_i sisa beban; CR terkecil dikerjakan dulu. ETA_m tawaran lini gudang m: t_0 waktu mulai, L_m beban antrean, w kerja baru, v_m kecepatan.</a:t>
            </a:r>
          </a:p>
        </p:txBody>
      </p:sp>
      <p:pic>
        <p:nvPicPr>
          <p:cNvPr id="8" name="Picture 7" descr="z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623568"/>
            <a:ext cx="4318365" cy="37165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35040" y="1605280"/>
            <a:ext cx="5760720" cy="599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374151"/>
                </a:solidFill>
                <a:latin typeface="Calibri"/>
              </a:defRPr>
            </a:pPr>
            <a:r>
              <a:t>Skor hibrida carrier (Bab 3): z_j skor DSS (biaya, keberangkatan, trust T_j; bobot 0,45/0,25/0,30), p_j peluang roll-over dari model ML, g_j gerbang kelayakan (trust &gt;= 0,60 dan berangkat &lt;= LSD), alpha = 0,55.</a:t>
            </a:r>
          </a:p>
        </p:txBody>
      </p:sp>
      <p:pic>
        <p:nvPicPr>
          <p:cNvPr id="10" name="Picture 9" descr="expco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2223008"/>
            <a:ext cx="5486400" cy="25011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35040" y="2204720"/>
            <a:ext cx="5760720" cy="599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374151"/>
                </a:solidFill>
                <a:latin typeface="Calibri"/>
              </a:defRPr>
            </a:pPr>
            <a:r>
              <a:t>Biaya harapan (Pen_0 bila terangkut, Pen_7 bila tergeser 7 hari) dan pembaruan trust carrier: q = 1 bila terangkut, 0,2 bila roll-over. Trusted &gt;= 0,80; conditional 0,60-0,80; blocked &lt; 0,60.</a:t>
            </a:r>
          </a:p>
        </p:txBody>
      </p:sp>
      <p:pic>
        <p:nvPicPr>
          <p:cNvPr id="12" name="Picture 11" descr="shelf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2822448"/>
            <a:ext cx="2117630" cy="37165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35040" y="2804160"/>
            <a:ext cx="5760720" cy="599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374151"/>
                </a:solidFill>
                <a:latin typeface="Calibri"/>
              </a:defRPr>
            </a:pPr>
            <a:r>
              <a:t>Shelf-life produk perishable (tempe vakum beku, uji tim: 1-2 bulan; dipakai 45 hari): umur saat tiba = waktu tunggu setelah pembekuan + transit; diskon harga delta bila sisa umur &lt; 10 hari.</a:t>
            </a:r>
          </a:p>
        </p:txBody>
      </p:sp>
      <p:pic>
        <p:nvPicPr>
          <p:cNvPr id="14" name="Picture 13" descr="co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80" y="3421887"/>
            <a:ext cx="3665181" cy="37165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035040" y="3403599"/>
            <a:ext cx="5760720" cy="599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374151"/>
                </a:solidFill>
                <a:latin typeface="Calibri"/>
              </a:defRPr>
            </a:pPr>
            <a:r>
              <a:t>Kemiripan kosinus vektor TF-IDF deskripsi produk (Compliance Agent, klasifikasi HS). tf frekuensi term t pada dokumen d, N jumlah dokumen latih, df(t) jumlah dokumen berisi t (varian smooth scikit-learn).</a:t>
            </a:r>
          </a:p>
        </p:txBody>
      </p:sp>
      <p:pic>
        <p:nvPicPr>
          <p:cNvPr id="16" name="Picture 15" descr="kn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480" y="4021327"/>
            <a:ext cx="1006968" cy="37165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035040" y="4003039"/>
            <a:ext cx="5760720" cy="599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374151"/>
                </a:solidFill>
                <a:latin typeface="Calibri"/>
              </a:defRPr>
            </a:pPr>
            <a:r>
              <a:t>k-NN berbobot kosinus (k=5): confidence = porsi bobot tetangga N_k berlabel y. Bila conf &lt; 0,60 keputusan diserahkan ke manusia (selective classification).</a:t>
            </a:r>
          </a:p>
        </p:txBody>
      </p:sp>
      <p:pic>
        <p:nvPicPr>
          <p:cNvPr id="18" name="Picture 17" descr="logi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1480" y="4620767"/>
            <a:ext cx="1912918" cy="37165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035040" y="4602480"/>
            <a:ext cx="5760720" cy="599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374151"/>
                </a:solidFill>
                <a:latin typeface="Calibri"/>
              </a:defRPr>
            </a:pPr>
            <a:r>
              <a:t>Regresi logistik Risk Agent: x~ fitur terstandarisasi (carrier, kongesti, musim puncak, buffer hari, jumlah kontainer), y = 1 bila roll-over, lambda regularisasi L2, eta learning rate.</a:t>
            </a:r>
          </a:p>
        </p:txBody>
      </p:sp>
      <p:pic>
        <p:nvPicPr>
          <p:cNvPr id="20" name="Picture 19" descr="truth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1480" y="5220208"/>
            <a:ext cx="5160256" cy="37165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035040" y="5201920"/>
            <a:ext cx="5760720" cy="599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374151"/>
                </a:solidFill>
                <a:latin typeface="Calibri"/>
              </a:defRPr>
            </a:pPr>
            <a:r>
              <a:t>Proses pembangkit data (kebenaran tersembunyi yang tidak dilihat agen): b_j dasar per carrier, cong kongesti pelabuhan, peak musim puncak, buf selisih hari antara tiba di gerbang dan closing.</a:t>
            </a:r>
          </a:p>
        </p:txBody>
      </p:sp>
      <p:pic>
        <p:nvPicPr>
          <p:cNvPr id="22" name="Picture 21" descr="metric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1480" y="5819648"/>
            <a:ext cx="2490224" cy="371652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035040" y="5801360"/>
            <a:ext cx="5760720" cy="599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374151"/>
                </a:solidFill>
                <a:latin typeface="Calibri"/>
              </a:defRPr>
            </a:pPr>
            <a:r>
              <a:t>AUC peluang skor positif melebihi negatif; Brier kalibrasi probabilitas; beta topi kemiringan tren percept sequence sensor mesin (Bab 2: 55, 60, 64, 72, 80 C: tren naik = risiko kerusakan).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61722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850" b="0">
                <a:solidFill>
                  <a:srgbClr val="0F8B8D"/>
                </a:solidFill>
                <a:latin typeface="Calibri"/>
              </a:defRPr>
            </a:pPr>
            <a:r>
              <a:t>D. Gudang konsolidasi dan pemilihan carrier; E. Machine learning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400"/>
              </a:spcAft>
              <a:defRPr sz="2500" b="1">
                <a:solidFill>
                  <a:srgbClr val="FFFFFF"/>
                </a:solidFill>
                <a:latin typeface="Calibri"/>
              </a:defRPr>
            </a:pPr>
            <a:r>
              <a:t>4. Rumus notasi dan arti simbol (4/4)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7395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850" b="0">
                <a:solidFill>
                  <a:srgbClr val="6B7280"/>
                </a:solidFill>
                <a:latin typeface="Calibri"/>
              </a:defRPr>
            </a:pPr>
            <a:r>
              <a:t>XCMAS: Xpora Consortium Multi-Agent System  |  Aditya Wahyu Wijanarko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850" b="0">
                <a:solidFill>
                  <a:srgbClr val="6B7280"/>
                </a:solidFill>
                <a:latin typeface="Calibri"/>
              </a:defRPr>
            </a:pPr>
            <a:r>
              <a:t>14</a:t>
            </a:r>
          </a:p>
        </p:txBody>
      </p:sp>
      <p:pic>
        <p:nvPicPr>
          <p:cNvPr id="6" name="Picture 5" descr="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24128"/>
            <a:ext cx="5438266" cy="47783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35040" y="1005840"/>
            <a:ext cx="5760720" cy="7707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374151"/>
                </a:solidFill>
                <a:latin typeface="Calibri"/>
              </a:defRPr>
            </a:pPr>
            <a:r>
              <a:t>Q-learning (Bab 4-5): s = (bucket slack, bucket nilai order, tahap), a in {normal, lembur}, r = -biaya lembur; reward akhir = -penalti. alpha learning rate, gamma discount; eksplorasi epsilon-greedy.</a:t>
            </a:r>
          </a:p>
        </p:txBody>
      </p:sp>
      <p:pic>
        <p:nvPicPr>
          <p:cNvPr id="8" name="Picture 7" descr="ne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794836"/>
            <a:ext cx="4453934" cy="47783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35040" y="1776548"/>
            <a:ext cx="5760720" cy="7707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374151"/>
                </a:solidFill>
                <a:latin typeface="Calibri"/>
              </a:defRPr>
            </a:pPr>
            <a:r>
              <a:t>Konsesi bergantung waktu dan Nash bargaining (Bab 4), dipakai Sales Agent: pembeli menaikkan tawaran dari p_B^0 menuju batas p_B^max dalam T ronde; sepakat bila tawaran pembeli &gt;= permintaan penjual; d_i utilitas bila gagal sepakat.</a:t>
            </a:r>
          </a:p>
        </p:txBody>
      </p:sp>
      <p:pic>
        <p:nvPicPr>
          <p:cNvPr id="10" name="Picture 9" descr="d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2565545"/>
            <a:ext cx="5486400" cy="24594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35040" y="2547257"/>
            <a:ext cx="5760720" cy="7707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374151"/>
                </a:solidFill>
                <a:latin typeface="Calibri"/>
              </a:defRPr>
            </a:pPr>
            <a:r>
              <a:t>Peluang deal (modul eksploratif Sales Agent): balas sebelum kesabaran pembeli habis dan harga reservasi pembeli v_B &gt;= batas bawah penjual f. Distribusi waktu balas adalah ASUMSI.</a:t>
            </a:r>
          </a:p>
        </p:txBody>
      </p:sp>
      <p:pic>
        <p:nvPicPr>
          <p:cNvPr id="12" name="Picture 11" descr="spe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3336253"/>
            <a:ext cx="3835372" cy="47783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35040" y="3317965"/>
            <a:ext cx="5760720" cy="7707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374151"/>
                </a:solidFill>
                <a:latin typeface="Calibri"/>
              </a:defRPr>
            </a:pPr>
            <a:r>
              <a:t>Speedup dan efisiensi paralel; keandalan sistem dengan redundansi (3 agen R=0,9 memberi 0,999). Sumber: Bab 4 sub-bab Skalabilitas.</a:t>
            </a:r>
          </a:p>
        </p:txBody>
      </p:sp>
      <p:pic>
        <p:nvPicPr>
          <p:cNvPr id="14" name="Picture 13" descr="com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80" y="4106962"/>
            <a:ext cx="2699004" cy="47783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035040" y="4088674"/>
            <a:ext cx="5760720" cy="7707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374151"/>
                </a:solidFill>
                <a:latin typeface="Calibri"/>
              </a:defRPr>
            </a:pPr>
            <a:r>
              <a:t>Biaya komunikasi: L ukuran pesan, B bandwidth 8 Mbps, tau latensi 20 ms. Indeks keadilan Jain (1 = merata) dipakai untuk pemerataan kuota antar produsen UMKM (tujuan inklusi ekonomi) dan utilisasi lini gudang.</a:t>
            </a:r>
          </a:p>
        </p:txBody>
      </p:sp>
      <p:pic>
        <p:nvPicPr>
          <p:cNvPr id="16" name="Picture 15" descr="se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480" y="4877670"/>
            <a:ext cx="5486400" cy="2274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035040" y="4859382"/>
            <a:ext cx="5760720" cy="7707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374151"/>
                </a:solidFill>
                <a:latin typeface="Calibri"/>
              </a:defRPr>
            </a:pPr>
            <a:r>
              <a:t>Integritas pesan (tanda tangan HMAC-SHA256), pertahanan replay (nonce + jendela waktu Delta), dan capability check (aksi harus ada pada himpunan wewenang agen).</a:t>
            </a:r>
          </a:p>
        </p:txBody>
      </p:sp>
      <p:pic>
        <p:nvPicPr>
          <p:cNvPr id="18" name="Picture 17" descr="mig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1480" y="5648379"/>
            <a:ext cx="2313962" cy="477839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035040" y="5630091"/>
            <a:ext cx="5760720" cy="7707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374151"/>
                </a:solidFill>
                <a:latin typeface="Calibri"/>
              </a:defRPr>
            </a:pPr>
            <a:r>
              <a:t>Syarat migrasi Scout Agent (Bab 4-5): trust host &gt;= 0,80, state terverifikasi, risiko &lt;= 0,20. Skor komposit hanya meranking host yang lolos; keamanan adalah constraint keras.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1722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850" b="0">
                <a:solidFill>
                  <a:srgbClr val="0F8B8D"/>
                </a:solidFill>
                <a:latin typeface="Calibri"/>
              </a:defRPr>
            </a:pPr>
            <a:r>
              <a:t>F. Reinforcement learning; G. Koordinasi, negosiasi, dan metrik MAS; H. Keamanan, trust, dan mobilitas agen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400"/>
              </a:spcAft>
              <a:defRPr sz="2500" b="1">
                <a:solidFill>
                  <a:srgbClr val="FFFFFF"/>
                </a:solidFill>
                <a:latin typeface="Calibri"/>
              </a:defRPr>
            </a:pPr>
            <a:r>
              <a:t>5. Tiga penelitian serupa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7395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850" b="0">
                <a:solidFill>
                  <a:srgbClr val="6B7280"/>
                </a:solidFill>
                <a:latin typeface="Calibri"/>
              </a:defRPr>
            </a:pPr>
            <a:r>
              <a:t>XCMAS: Xpora Consortium Multi-Agent System  |  Aditya Wahyu Wijanarko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850" b="0">
                <a:solidFill>
                  <a:srgbClr val="6B7280"/>
                </a:solidFill>
                <a:latin typeface="Calibri"/>
              </a:defRPr>
            </a:pPr>
            <a:r>
              <a:t>15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005840"/>
          <a:ext cx="11338560" cy="27025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3566160"/>
                <a:gridCol w="3200400"/>
              </a:tblGrid>
              <a:tr h="2565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Penelitian</a:t>
                      </a:r>
                    </a:p>
                  </a:txBody>
                  <a:tcPr marL="54864" marR="54864" marT="18288" marB="18288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Ringkasan</a:t>
                      </a:r>
                    </a:p>
                  </a:txBody>
                  <a:tcPr marL="54864" marR="54864" marT="18288" marB="18288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Relevansi</a:t>
                      </a:r>
                    </a:p>
                  </a:txBody>
                  <a:tcPr marL="54864" marR="54864" marT="18288" marB="18288">
                    <a:solidFill>
                      <a:srgbClr val="1F2A44"/>
                    </a:solidFill>
                  </a:tcPr>
                </a:tc>
              </a:tr>
              <a:tr h="759459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Hathikal, S., Chung, S. H., &amp; Karczewski, M. (2020). Prediction of ocean import shipment lead time using machine learning methods. SN Applied Sciences, 2, 1272.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Memprediksi lead time pengiriman laut dengan regresi logistik multinomial, pohon keputusan, SVM, Naive Bayes, dan k-NN untuk shipper, carrier, forwarder, dan consignee.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Dasar pemakaian model klasik/explainable untuk risiko pengiriman: Risk Agent memakai regresi logistik untuk peluang roll-over.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9271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Lee, E., Kim, S., Kim, S., Jung, S., Kim, H., &amp; Cha, M. (2024). Explainable Product Classification for Customs. ACM Transactions on Intelligent Systems and Technology, 15(2), Art. 25. doi:10.1145/3635158.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Model XAI untuk membantu petugas bea cukai menetapkan 6 digit kode HS dari deskripsi barang, disertai alasan yang dapat dibaca.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Dasar Compliance Agent: klasifikasi teks HS lintas komoditas dengan confidence dan eskalasi ke manusia (selective classification); relevan untuk klaim Xpora bahwa arsitektur agnostik komoditas.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</a:tr>
              <a:tr h="759459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Ouelhadj, D., &amp; Petrovic, S. (2009). A survey of dynamic scheduling in manufacturing systems. Journal of Scheduling, 12, 417-431. doi:10.1007/s10951-008-0090-8.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Tinjauan penjadwalan dinamis (heuristik, meta-heuristik, sistem multi-agen, teknik AI lain) saat terjadi gangguan seperti kerusakan mesin dan order mendadak.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Dasar penjadwalan reaktif: re-kontrak pekerjaan saat produsen gagal kirim atau lini gudang rusak, dan critical ratio.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400"/>
              </a:spcAft>
              <a:defRPr sz="2500" b="1">
                <a:solidFill>
                  <a:srgbClr val="FFFFFF"/>
                </a:solidFill>
                <a:latin typeface="Calibri"/>
              </a:defRPr>
            </a:pPr>
            <a:r>
              <a:t>6.1 Mengapa multi-agent, bukan single agent?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7395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850" b="0">
                <a:solidFill>
                  <a:srgbClr val="6B7280"/>
                </a:solidFill>
                <a:latin typeface="Calibri"/>
              </a:defRPr>
            </a:pPr>
            <a:r>
              <a:t>XCMAS: Xpora Consortium Multi-Agent System  |  Aditya Wahyu Wijanarko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850" b="0">
                <a:solidFill>
                  <a:srgbClr val="6B7280"/>
                </a:solidFill>
                <a:latin typeface="Calibri"/>
              </a:defRPr>
            </a:pPr>
            <a:r>
              <a:t>16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005840"/>
          <a:ext cx="11338560" cy="1884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377440"/>
                <a:gridCol w="2194560"/>
                <a:gridCol w="1828800"/>
                <a:gridCol w="2743200"/>
              </a:tblGrid>
              <a:tr h="24892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Kriteria (Bab 4)</a:t>
                      </a:r>
                    </a:p>
                  </a:txBody>
                  <a:tcPr marL="54864" marR="54864" marT="18288" marB="18288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Terpusat</a:t>
                      </a:r>
                    </a:p>
                  </a:txBody>
                  <a:tcPr marL="54864" marR="54864" marT="18288" marB="18288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Terdesentralisasi</a:t>
                      </a:r>
                    </a:p>
                  </a:txBody>
                  <a:tcPr marL="54864" marR="54864" marT="18288" marB="18288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Hybrid</a:t>
                      </a:r>
                    </a:p>
                  </a:txBody>
                  <a:tcPr marL="54864" marR="54864" marT="18288" marB="18288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Posisi XCMAS</a:t>
                      </a:r>
                    </a:p>
                  </a:txBody>
                  <a:tcPr marL="54864" marR="54864" marT="18288" marB="18288">
                    <a:solidFill>
                      <a:srgbClr val="1F2A44"/>
                    </a:solidFill>
                  </a:tcPr>
                </a:tc>
              </a:tr>
              <a:tr h="408940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Latensi dan bandwidth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Sedang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Rendah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Rendah-sedang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CFP hanya ke kandidat (fan-out dibatasi)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08940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Fault tolerance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Rendah (single point of failure)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Tinggi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Tinggi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Kegagalan satu produsen/agen tidak menghentikan order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</a:tr>
              <a:tr h="408940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Optimalitas global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Tinggi bila data akurat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Lokal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Cukup tinggi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Aturan skor bersama + governance; data segar dari bid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08940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Biaya koordinasi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Fan-in O(n) pada koordinator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Tinggi (banyak pesan)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Sedang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Lebih banyak pesan per order pada pemasokan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11480" y="3246120"/>
            <a:ext cx="113385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50" b="0">
                <a:solidFill>
                  <a:srgbClr val="1F2937"/>
                </a:solidFill>
                <a:latin typeface="Calibri"/>
              </a:defRPr>
            </a:pPr>
            <a:r>
              <a:t>• Batas organisasi dan kepemilikan: Produsen UMKM, carrier, bea cukai, dan pembeli adalah pihak otonom; planner pusat tidak dapat memerintah mereka, hanya menegosiasikan (CFP/PROPOSE/ACCEPT). Konsorsium Xpora memang berbasis kepercayaan lintas pemilik.</a:t>
            </a:r>
          </a:p>
          <a:p>
            <a:pPr>
              <a:spcAft>
                <a:spcPts val="500"/>
              </a:spcAft>
              <a:defRPr sz="1050" b="0">
                <a:solidFill>
                  <a:srgbClr val="1F2937"/>
                </a:solidFill>
                <a:latin typeface="Calibri"/>
              </a:defRPr>
            </a:pPr>
            <a:r>
              <a:t>• Informasi lokal yang segar: Kapasitas nyata produsen berubah (pasar lokal, musim, kondisi). Bid multi-agen memakai kapasitas nyata; registry pusat kedaluwarsa. Dengan variasi ketersediaan 45% (default), multi-agen menaikkan margin $541/order (Xpora) dan $118/order (KrakaCoal); bila kapasitas stabil (variasi 0%) selisihnya $361 dan $71.</a:t>
            </a:r>
          </a:p>
          <a:p>
            <a:pPr>
              <a:spcAft>
                <a:spcPts val="500"/>
              </a:spcAft>
              <a:defRPr sz="1050" b="0">
                <a:solidFill>
                  <a:srgbClr val="1F2937"/>
                </a:solidFill>
                <a:latin typeface="Calibri"/>
              </a:defRPr>
            </a:pPr>
            <a:r>
              <a:t>• Ketahanan terhadap single point of failure: Gangguan bidang kontrol 2-5 hari pada 50% skenario mengubah OTIF agen tunggal dari 51,6% ke 52,4% dan multi-agen dari 61,3% ke 63,0% (Xpora): tidak ada penurunan berarti karena jadwal memiliki slack; ketahanan bukan alasan utama pada kasus ini, tetapi menjadi relevan bila slack ketat.</a:t>
            </a:r>
          </a:p>
          <a:p>
            <a:pPr>
              <a:spcAft>
                <a:spcPts val="500"/>
              </a:spcAft>
              <a:defRPr sz="1050" b="0">
                <a:solidFill>
                  <a:srgbClr val="1F2937"/>
                </a:solidFill>
                <a:latin typeface="Calibri"/>
              </a:defRPr>
            </a:pPr>
            <a:r>
              <a:t>• Beban node puncak dan skala: Pada 800 produsen, koordinator menerima 1617 pesan pada hari tersibuk vs 226 pada agen tersibuk multi-agen; total pesan justru lebih banyak pada multi-agen untuk pemasokan (45.289 vs 39.935).</a:t>
            </a:r>
          </a:p>
          <a:p>
            <a:pPr>
              <a:spcAft>
                <a:spcPts val="500"/>
              </a:spcAft>
              <a:defRPr sz="1050" b="0">
                <a:solidFill>
                  <a:srgbClr val="1F2937"/>
                </a:solidFill>
                <a:latin typeface="Calibri"/>
              </a:defRPr>
            </a:pPr>
            <a:r>
              <a:t>• Modularitas dan komoditas baru: Producer Agent cukup diberi profil baru (kapasitas, harga, perishable) untuk komoditas lain: profil KrakaCoal dan Xpora dijalankan pada mesin yang sama tanpa mengubah agen (klaim agnostik komoditas pada submission Xpora).</a:t>
            </a:r>
          </a:p>
          <a:p>
            <a:pPr>
              <a:spcAft>
                <a:spcPts val="500"/>
              </a:spcAft>
              <a:defRPr sz="1050" b="0">
                <a:solidFill>
                  <a:srgbClr val="1F2937"/>
                </a:solidFill>
                <a:latin typeface="Calibri"/>
              </a:defRPr>
            </a:pPr>
            <a:r>
              <a:t>• Catatan penting: keunggulan multi-agen bergantung pada seberapa kedaluwarsa data pusat. Bila kapasitas produsen stabil dan registry akurat, agen tunggal terpusat setara. Rekomendasi: arsitektur hybrid: satu inti kognitif per pabrik/gudang, negosiasi multi-agen pada batas organisasi (produsen, carrier), dan governance sebagai bidang kontrol; untuk pilot 20 produsen yang stabil, agen tunggal + WhatsApp sudah cukup, lalu berpindah ke multi-agen saat pool tumbuh ke ratusan produsen dengan kapasitas berubah-ubah.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400"/>
              </a:spcAft>
              <a:defRPr sz="2500" b="1">
                <a:solidFill>
                  <a:srgbClr val="FFFFFF"/>
                </a:solidFill>
                <a:latin typeface="Calibri"/>
              </a:defRPr>
            </a:pPr>
            <a:r>
              <a:t>6.1 Bukti: nilai informasi lokal yang segar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7395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850" b="0">
                <a:solidFill>
                  <a:srgbClr val="6B7280"/>
                </a:solidFill>
                <a:latin typeface="Calibri"/>
              </a:defRPr>
            </a:pPr>
            <a:r>
              <a:t>XCMAS: Xpora Consortium Multi-Agent System  |  Aditya Wahyu Wijanarko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850" b="0">
                <a:solidFill>
                  <a:srgbClr val="6B7280"/>
                </a:solidFill>
                <a:latin typeface="Calibri"/>
              </a:defRPr>
            </a:pPr>
            <a:r>
              <a:t>17</a:t>
            </a:r>
          </a:p>
        </p:txBody>
      </p:sp>
      <p:pic>
        <p:nvPicPr>
          <p:cNvPr id="6" name="Picture 5" descr="fig_stale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79" y="960120"/>
            <a:ext cx="10881360" cy="310896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4206240"/>
          <a:ext cx="11887200" cy="16535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474720"/>
                <a:gridCol w="1828800"/>
                <a:gridCol w="2377440"/>
                <a:gridCol w="1463040"/>
              </a:tblGrid>
              <a:tr h="40894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Variasi ketersediaan (1 - u_min)</a:t>
                      </a:r>
                    </a:p>
                  </a:txBody>
                  <a:tcPr marL="54864" marR="54864" marT="18288" marB="18288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Xpora: margin/order (agen tunggal / multi-agen)</a:t>
                      </a:r>
                    </a:p>
                  </a:txBody>
                  <a:tcPr marL="54864" marR="54864" marT="18288" marB="18288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Xpora: OTIF</a:t>
                      </a:r>
                    </a:p>
                  </a:txBody>
                  <a:tcPr marL="54864" marR="54864" marT="18288" marB="18288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KrakaCoal: margin/order</a:t>
                      </a:r>
                    </a:p>
                  </a:txBody>
                  <a:tcPr marL="54864" marR="54864" marT="18288" marB="18288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KrakaCoal: OTIF</a:t>
                      </a:r>
                    </a:p>
                  </a:txBody>
                  <a:tcPr marL="54864" marR="54864" marT="18288" marB="18288">
                    <a:solidFill>
                      <a:srgbClr val="1F2A44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0%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48.453 / 48.814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60% / 64%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7.074 / 7.145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48% / 53%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15%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48.445 / 48.841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57% / 64%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7.061 / 7.150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46% / 52%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30%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48.364 / 48.702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56% / 63%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7.023 / 7.129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47% / 52%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45%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48.113 / 48.654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52% / 61%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6.963 / 7.081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45% / 51%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60%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47.517 / 48.438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47% / 60%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6.807 / 7.008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42% / 49%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400"/>
              </a:spcAft>
              <a:defRPr sz="2500" b="1">
                <a:solidFill>
                  <a:srgbClr val="FFFFFF"/>
                </a:solidFill>
                <a:latin typeface="Calibri"/>
              </a:defRPr>
            </a:pPr>
            <a:r>
              <a:t>6.1 Bukti: ketahanan dan skala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7395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850" b="0">
                <a:solidFill>
                  <a:srgbClr val="6B7280"/>
                </a:solidFill>
                <a:latin typeface="Calibri"/>
              </a:defRPr>
            </a:pPr>
            <a:r>
              <a:t>XCMAS: Xpora Consortium Multi-Agent System  |  Aditya Wahyu Wijanarko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850" b="0">
                <a:solidFill>
                  <a:srgbClr val="6B7280"/>
                </a:solidFill>
                <a:latin typeface="Calibri"/>
              </a:defRPr>
            </a:pPr>
            <a:r>
              <a:t>18</a:t>
            </a:r>
          </a:p>
        </p:txBody>
      </p:sp>
      <p:pic>
        <p:nvPicPr>
          <p:cNvPr id="6" name="Picture 5" descr="fig_robu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592807"/>
            <a:ext cx="5852160" cy="2038144"/>
          </a:xfrm>
          <a:prstGeom prst="rect">
            <a:avLst/>
          </a:prstGeom>
        </p:spPr>
      </p:pic>
      <p:pic>
        <p:nvPicPr>
          <p:cNvPr id="7" name="Picture 6" descr="fig_sca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2763645"/>
            <a:ext cx="5852160" cy="169646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400"/>
              </a:spcAft>
              <a:defRPr sz="2500" b="1">
                <a:solidFill>
                  <a:srgbClr val="FFFFFF"/>
                </a:solidFill>
                <a:latin typeface="Calibri"/>
              </a:defRPr>
            </a:pPr>
            <a:r>
              <a:t>6.2 Tiga penelitian tentang agen cerdas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7395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850" b="0">
                <a:solidFill>
                  <a:srgbClr val="6B7280"/>
                </a:solidFill>
                <a:latin typeface="Calibri"/>
              </a:defRPr>
            </a:pPr>
            <a:r>
              <a:t>XCMAS: Xpora Consortium Multi-Agent System  |  Aditya Wahyu Wijanarko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850" b="0">
                <a:solidFill>
                  <a:srgbClr val="6B7280"/>
                </a:solidFill>
                <a:latin typeface="Calibri"/>
              </a:defRPr>
            </a:pPr>
            <a:r>
              <a:t>19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005840"/>
          <a:ext cx="11338560" cy="2534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3566160"/>
                <a:gridCol w="3200400"/>
              </a:tblGrid>
              <a:tr h="2565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Penelitian</a:t>
                      </a:r>
                    </a:p>
                  </a:txBody>
                  <a:tcPr marL="54864" marR="54864" marT="18288" marB="18288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Ringkasan</a:t>
                      </a:r>
                    </a:p>
                  </a:txBody>
                  <a:tcPr marL="54864" marR="54864" marT="18288" marB="18288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Relevansi</a:t>
                      </a:r>
                    </a:p>
                  </a:txBody>
                  <a:tcPr marL="54864" marR="54864" marT="18288" marB="18288">
                    <a:solidFill>
                      <a:srgbClr val="1F2A44"/>
                    </a:solidFill>
                  </a:tcPr>
                </a:tc>
              </a:tr>
              <a:tr h="759459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Smith, R. G. (1980). The Contract Net Protocol: High-level communication and control in a distributed problem solver. IEEE Transactions on Computers, C-29(12), 1104-1113.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Alokasi tugas terdesentralisasi: manajer mengumumkan tugas (CFP), kontraktor menawar, pemenang dipilih; dapat re-kontrak bila gagal.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Protokol inti XCMAS untuk kuota produsen UMKM, dispatch lini gudang, dan pemilihan carrier (Bab 4 bagian Contract Net).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759459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Leitao, P. (2009). Agent-based distributed manufacturing control: A state-of-the-art survey. Engineering Applications of Artificial Intelligence, 22(7), 979-991.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Survei kontrol manufaktur terdistribusi berbasis agen: fleksibilitas, kemampuan bereaksi terhadap gangguan, dan tantangan integrasi.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Menjustifikasi produsen/lini sebagai unit otonom dan pendekatan hibrida (koordinasi terdesentralisasi + kontrol ringan).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</a:tr>
              <a:tr h="759459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Zhao, Z., Tang, D., Liu, C., Wang, L., Zhang, Z., Zhu, H., Chen, K., Nie, Q., &amp; Ji, Y. (2024). A Large Language Model-based multi-agent manufacturing system for intelligent shopfloor. arXiv:2405.16887.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Sistem multi-agen berbasis LLM untuk shopfloor pintar dengan modul agen dan cara kolaborasi, meminimalkan intervensi manusia.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Arah lanjutan: LLM sebagai lapisan bahasa (Virtual SDR, ekstraksi dokumen, penjelasan) yang tetap dibatasi kebijakan dan aturan deterministik.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11480" y="5669280"/>
            <a:ext cx="11338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 b="0">
                <a:solidFill>
                  <a:srgbClr val="6B7280"/>
                </a:solidFill>
                <a:latin typeface="Calibri"/>
              </a:defRPr>
            </a:pPr>
            <a:r>
              <a:t>Verifikasi: metadata Hathikal dkk., Lee dkk., Ouelhadj &amp; Petrovic, Leitao, dan Zhao dkk. dicek melalui pencarian web pada sesi pengerjaan (situs penerbit tidak dapat dibuka langsung dari lingkungan kerja). Smith (1980) dan halaman jurnal Leitao ditulis dari pengetahuan penulis: mohon diverifikasi sebelum pengumpulan.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400"/>
              </a:spcAft>
              <a:defRPr sz="2500" b="1">
                <a:solidFill>
                  <a:srgbClr val="FFFFFF"/>
                </a:solidFill>
                <a:latin typeface="Calibri"/>
              </a:defRPr>
            </a:pPr>
            <a:r>
              <a:t>6.3 Diagram rencana sistem: arsitektur XCMAS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7395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850" b="0">
                <a:solidFill>
                  <a:srgbClr val="6B7280"/>
                </a:solidFill>
                <a:latin typeface="Calibri"/>
              </a:defRPr>
            </a:pPr>
            <a:r>
              <a:t>XCMAS: Xpora Consortium Multi-Agent System  |  Aditya Wahyu Wijanarko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850" b="0">
                <a:solidFill>
                  <a:srgbClr val="6B7280"/>
                </a:solidFill>
                <a:latin typeface="Calibri"/>
              </a:defRPr>
            </a:pPr>
            <a:r>
              <a:t>20</a:t>
            </a:r>
          </a:p>
        </p:txBody>
      </p:sp>
      <p:pic>
        <p:nvPicPr>
          <p:cNvPr id="6" name="Picture 5" descr="fig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9079" y="960120"/>
            <a:ext cx="8543361" cy="544068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400"/>
              </a:spcAft>
              <a:defRPr sz="2500" b="1">
                <a:solidFill>
                  <a:srgbClr val="FFFFFF"/>
                </a:solidFill>
                <a:latin typeface="Calibri"/>
              </a:defRPr>
            </a:pPr>
            <a:r>
              <a:t>6.3 Contract Net kuota produsen dan siklus kognitif agen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7395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850" b="0">
                <a:solidFill>
                  <a:srgbClr val="6B7280"/>
                </a:solidFill>
                <a:latin typeface="Calibri"/>
              </a:defRPr>
            </a:pPr>
            <a:r>
              <a:t>XCMAS: Xpora Consortium Multi-Agent System  |  Aditya Wahyu Wijanarko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850" b="0">
                <a:solidFill>
                  <a:srgbClr val="6B7280"/>
                </a:solidFill>
                <a:latin typeface="Calibri"/>
              </a:defRPr>
            </a:pPr>
            <a:r>
              <a:t>21</a:t>
            </a:r>
          </a:p>
        </p:txBody>
      </p:sp>
      <p:pic>
        <p:nvPicPr>
          <p:cNvPr id="6" name="Picture 5" descr="fig_cnp_sequ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038232"/>
            <a:ext cx="6035040" cy="3238735"/>
          </a:xfrm>
          <a:prstGeom prst="rect">
            <a:avLst/>
          </a:prstGeom>
        </p:spPr>
      </p:pic>
      <p:pic>
        <p:nvPicPr>
          <p:cNvPr id="7" name="Picture 6" descr="fig_bdi_cy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8256" y="1005839"/>
            <a:ext cx="5540047" cy="2743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55080" y="3840480"/>
            <a:ext cx="5486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1F2937"/>
                </a:solidFill>
                <a:latin typeface="Calibri"/>
              </a:defRPr>
            </a:pPr>
            <a:r>
              <a:t>• Alur: RFQ → LoI (SDR) → verifikasi DP (manusia) → CFP ke produsen → kuota + buffer 15% → kirim + QC → re-kontrak bila gagal/reject → lini gudang → carrier (CNP hibrida) → ekspor.</a:t>
            </a:r>
          </a:p>
          <a:p>
            <a:pPr>
              <a:spcAft>
                <a:spcPts val="400"/>
              </a:spcAft>
              <a:defRPr sz="1200" b="0">
                <a:solidFill>
                  <a:srgbClr val="1F2937"/>
                </a:solidFill>
                <a:latin typeface="Calibri"/>
              </a:defRPr>
            </a:pPr>
            <a:r>
              <a:t>• Tiap pesan ditandatangani HMAC, ada nonce dan audit log; FSM menolak urutan pesan yang salah.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400"/>
              </a:spcAft>
              <a:defRPr sz="2500" b="1">
                <a:solidFill>
                  <a:srgbClr val="FFFFFF"/>
                </a:solidFill>
                <a:latin typeface="Calibri"/>
              </a:defRPr>
            </a:pPr>
            <a:r>
              <a:t>6.3 Contoh: proses manual vs multi-agen (KrakaCoal)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7395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850" b="0">
                <a:solidFill>
                  <a:srgbClr val="6B7280"/>
                </a:solidFill>
                <a:latin typeface="Calibri"/>
              </a:defRPr>
            </a:pPr>
            <a:r>
              <a:t>XCMAS: Xpora Consortium Multi-Agent System  |  Aditya Wahyu Wijanarko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850" b="0">
                <a:solidFill>
                  <a:srgbClr val="6B7280"/>
                </a:solidFill>
                <a:latin typeface="Calibri"/>
              </a:defRPr>
            </a:pPr>
            <a:r>
              <a:t>22</a:t>
            </a:r>
          </a:p>
        </p:txBody>
      </p:sp>
      <p:pic>
        <p:nvPicPr>
          <p:cNvPr id="6" name="Picture 5" descr="fig_gant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08911"/>
            <a:ext cx="6766560" cy="4697377"/>
          </a:xfrm>
          <a:prstGeom prst="rect">
            <a:avLst/>
          </a:prstGeom>
        </p:spPr>
      </p:pic>
      <p:pic>
        <p:nvPicPr>
          <p:cNvPr id="7" name="Picture 6" descr="fig_sourcing_deta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2114386"/>
            <a:ext cx="4937760" cy="217202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040880" y="502920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6B7280"/>
                </a:solidFill>
                <a:latin typeface="Calibri"/>
              </a:defRPr>
            </a:pPr>
            <a:r>
              <a:t>Kanan: order #4 (27 t): produsen yang dikontrak per putaran; merah = gagal kirim.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400"/>
              </a:spcAft>
              <a:defRPr sz="2500" b="1">
                <a:solidFill>
                  <a:srgbClr val="FFFFFF"/>
                </a:solidFill>
                <a:latin typeface="Calibri"/>
              </a:defRPr>
            </a:pPr>
            <a:r>
              <a:t>6.4 Agen dan komponen internal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7395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850" b="0">
                <a:solidFill>
                  <a:srgbClr val="6B7280"/>
                </a:solidFill>
                <a:latin typeface="Calibri"/>
              </a:defRPr>
            </a:pPr>
            <a:r>
              <a:t>XCMAS: Xpora Consortium Multi-Agent System  |  Aditya Wahyu Wijanarko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850" b="0">
                <a:solidFill>
                  <a:srgbClr val="6B7280"/>
                </a:solidFill>
                <a:latin typeface="Calibri"/>
              </a:defRPr>
            </a:pPr>
            <a:r>
              <a:t>23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28600" y="960120"/>
          <a:ext cx="11887200" cy="3822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097280"/>
                <a:gridCol w="2651760"/>
                <a:gridCol w="2377440"/>
                <a:gridCol w="1737360"/>
                <a:gridCol w="1371600"/>
                <a:gridCol w="1188720"/>
              </a:tblGrid>
              <a:tr h="2413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Agen</a:t>
                      </a:r>
                    </a:p>
                  </a:txBody>
                  <a:tcPr marL="54864" marR="54864" marT="18288" marB="18288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Tipe</a:t>
                      </a:r>
                    </a:p>
                  </a:txBody>
                  <a:tcPr marL="54864" marR="54864" marT="18288" marB="18288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Belief / Desire / Intention</a:t>
                      </a:r>
                    </a:p>
                  </a:txBody>
                  <a:tcPr marL="54864" marR="54864" marT="18288" marB="18288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Komponen internal dan tools</a:t>
                      </a:r>
                    </a:p>
                  </a:txBody>
                  <a:tcPr marL="54864" marR="54864" marT="18288" marB="18288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Input -&gt; Output</a:t>
                      </a:r>
                    </a:p>
                  </a:txBody>
                  <a:tcPr marL="54864" marR="54864" marT="18288" marB="18288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Metode</a:t>
                      </a:r>
                    </a:p>
                  </a:txBody>
                  <a:tcPr marL="54864" marR="54864" marT="18288" marB="18288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Otonomi</a:t>
                      </a:r>
                    </a:p>
                  </a:txBody>
                  <a:tcPr marL="54864" marR="54864" marT="18288" marB="18288">
                    <a:solidFill>
                      <a:srgbClr val="1F2A44"/>
                    </a:solidFill>
                  </a:tcPr>
                </a:tc>
              </a:tr>
              <a:tr h="54610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Sales Agent (Virtual SDR)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Deliberatif, statis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B: RFQ, spesifikasi, batas harga. D: konversi RFQ ke LoI. I: menawar/berkonsesi atau eskalasi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Deteksi niat, kalkulator konsesi (beta), guardrail harga, hook LLM, CRM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RFQ -&gt; LoI / eskalasi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LLM (opsional) + konsesi waktu-tergantung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Supervise (LoI dalam band harga)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69850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Order Agent (x n)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Hybrid, statis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B: ETA, antrean, trust. D: terisi penuh dan berangkat &lt;= LSD dengan margin maksimum. I: memilih bid produsen/lini/carrier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Estimator slack, klien CNP, kalkulator penalti, kebijakan expedite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DP terverifikasi -&gt; CFP, ACCEPT/REJECT, booking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Aturan + DSS hibrida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Delegate (nilai &lt; batas)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</a:tr>
              <a:tr h="54610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Producer Agent (UMKM, x 30-40)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Reaktif, statis (WhatsApp)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B: kapasitas hari ini, stok bahan. D: mendapat kuota dan modal kerja. I: menawar kg, harga, ETA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Template WhatsApp, ketersediaan lokal u, riwayat quality score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CFP -&gt; PROPOSE(kg, harga, ETA); INFORM(kirim)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Aturan lokal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Otonom (pihak eksternal)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54610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QC Agent (CV / lab)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Reaktif + belajar, statis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B: hasil klasifikasi. D: grade akurat. I: A/B/Reject dan umpan balik ke produsen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Model CV (rencana tim) atau uji lab; estimator yield per produsen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Sampel -&gt; grade, kg lolos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CNN (rencana); disimulasikan statistik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Delegate; sengketa ke manusia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</a:tr>
              <a:tr h="54610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Warehouse Line Agent (x 6)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Reaktif + deliberatif, statis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B: antrean, kesehatan mesin. D: throughput. I: menawar ETA, memproses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Estimator ETA, monitor kondisi (tren sensor), antrean critical ratio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CFP -&gt; PROPOSE(ETA); INFORM(done)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Regresi slope + aturan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Delegate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69850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Compliance Agent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Deliberatif, statis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B: deskripsi produk, aturan dokumen. D: dokumen benar dan siap sebelum produksi selesai. I: menetapkan HS, meminta review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TF-IDF kata+karakter, k-NN kosinus, mesin aturan lisensi/sertifikat, penilai confidence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Deskripsi -&gt; HS + confidence; review manusia bila &lt; 0,60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ML klasik (NLP) + aturan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Delegate / Approve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400"/>
              </a:spcAft>
              <a:defRPr sz="2500" b="1">
                <a:solidFill>
                  <a:srgbClr val="FFFFFF"/>
                </a:solidFill>
                <a:latin typeface="Calibri"/>
              </a:defRPr>
            </a:pPr>
            <a:r>
              <a:t>6.4 Agen dan komponen internal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7395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850" b="0">
                <a:solidFill>
                  <a:srgbClr val="6B7280"/>
                </a:solidFill>
                <a:latin typeface="Calibri"/>
              </a:defRPr>
            </a:pPr>
            <a:r>
              <a:t>XCMAS: Xpora Consortium Multi-Agent System  |  Aditya Wahyu Wijanarko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850" b="0">
                <a:solidFill>
                  <a:srgbClr val="6B7280"/>
                </a:solidFill>
                <a:latin typeface="Calibri"/>
              </a:defRPr>
            </a:pPr>
            <a:r>
              <a:t>24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28600" y="960120"/>
          <a:ext cx="11887200" cy="3413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097280"/>
                <a:gridCol w="2651760"/>
                <a:gridCol w="2377440"/>
                <a:gridCol w="1737360"/>
                <a:gridCol w="1371600"/>
                <a:gridCol w="1188720"/>
              </a:tblGrid>
              <a:tr h="24892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Agen</a:t>
                      </a:r>
                    </a:p>
                  </a:txBody>
                  <a:tcPr marL="54864" marR="54864" marT="18288" marB="18288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Tipe</a:t>
                      </a:r>
                    </a:p>
                  </a:txBody>
                  <a:tcPr marL="54864" marR="54864" marT="18288" marB="18288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Belief / Desire / Intention</a:t>
                      </a:r>
                    </a:p>
                  </a:txBody>
                  <a:tcPr marL="54864" marR="54864" marT="18288" marB="18288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Komponen internal dan tools</a:t>
                      </a:r>
                    </a:p>
                  </a:txBody>
                  <a:tcPr marL="54864" marR="54864" marT="18288" marB="18288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Input -&gt; Output</a:t>
                      </a:r>
                    </a:p>
                  </a:txBody>
                  <a:tcPr marL="54864" marR="54864" marT="18288" marB="18288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Metode</a:t>
                      </a:r>
                    </a:p>
                  </a:txBody>
                  <a:tcPr marL="54864" marR="54864" marT="18288" marB="18288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Otonomi</a:t>
                      </a:r>
                    </a:p>
                  </a:txBody>
                  <a:tcPr marL="54864" marR="54864" marT="18288" marB="18288">
                    <a:solidFill>
                      <a:srgbClr val="1F2A44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Risk Agent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Deliberatif, statis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B: fitur pelabuhan/carrier, riwayat outcome. D: estimasi risiko akurat. I: memberi p roll-over dan trust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Regresi logistik (numpy), registri trust, kalibrasi (Brier)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Fitur -&gt; p; outcome -&gt; trust update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Supervised ML + trust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Supervise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Freight Agent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Deliberatif, statis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B: tarif, closing, p, trust. D: berangkat sebelum LSD dengan biaya wajar. I: memilih carrier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CNP klien, skor hibrida h, gerbang kelayakan g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CFP -&gt; pilih carrier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DSS + ML + kebijakan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Delegate; Approve bila nilai tinggi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</a:tr>
              <a:tr h="728980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Learning Agent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Learning agent (Bab 2)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B: state (slack, nilai, tahap). D: minimalkan biaya+penalti. I: normal atau lembur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Performance element, critic, learning element (Q), problem generator (epsilon), guardrail anggaran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State -&gt; aksi; outcome -&gt; update Q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Q-learning tabular (RL)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Supervise, batas anggaran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728980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Governance &amp; Security Agent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Deliberatif, statis (bidang kontrol)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B: kebijakan, identitas, quality score/trust, level otonomi. D: keputusan sah dan dapat diaudit. I: izinkan/tolak/eskalasi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Policy engine, capability, HMAC + nonce, FSM protokol, audit log rantai-hash, batas konsentrasi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Pesan/aksi -&gt; allow/deny/level 1-4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Rule-based (deterministik)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Delegate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Scout Agent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Mobile, deliberatif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B: host dan trust. D: jadwal terkini dengan trafik minimal. I: migrasi jika aman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Serialisasi state, verifikasi hash/HMAC, pemilih host, sandbox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Host tepercaya -&gt; closing time (2 KB)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Aturan + skor komposit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Supervise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400"/>
              </a:spcAft>
              <a:defRPr sz="2500" b="1">
                <a:solidFill>
                  <a:srgbClr val="FFFFFF"/>
                </a:solidFill>
                <a:latin typeface="Calibri"/>
              </a:defRPr>
            </a:pPr>
            <a:r>
              <a:t>6.6 AI, ML, DL, RL, atau LLM? Alasan pemilihan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7395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850" b="0">
                <a:solidFill>
                  <a:srgbClr val="6B7280"/>
                </a:solidFill>
                <a:latin typeface="Calibri"/>
              </a:defRPr>
            </a:pPr>
            <a:r>
              <a:t>XCMAS: Xpora Consortium Multi-Agent System  |  Aditya Wahyu Wijanarko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850" b="0">
                <a:solidFill>
                  <a:srgbClr val="6B7280"/>
                </a:solidFill>
                <a:latin typeface="Calibri"/>
              </a:defRPr>
            </a:pPr>
            <a:r>
              <a:t>25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28600" y="960120"/>
          <a:ext cx="11887200" cy="3873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103120"/>
                <a:gridCol w="1188720"/>
                <a:gridCol w="3566160"/>
                <a:gridCol w="3383280"/>
              </a:tblGrid>
              <a:tr h="2413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Komponen</a:t>
                      </a:r>
                    </a:p>
                  </a:txBody>
                  <a:tcPr marL="54864" marR="54864" marT="18288" marB="18288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Metode</a:t>
                      </a:r>
                    </a:p>
                  </a:txBody>
                  <a:tcPr marL="54864" marR="54864" marT="18288" marB="18288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Kelas</a:t>
                      </a:r>
                    </a:p>
                  </a:txBody>
                  <a:tcPr marL="54864" marR="54864" marT="18288" marB="18288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Alasan pemilihan</a:t>
                      </a:r>
                    </a:p>
                  </a:txBody>
                  <a:tcPr marL="54864" marR="54864" marT="18288" marB="18288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Mengapa bukan DL/LLM (sekarang)</a:t>
                      </a:r>
                    </a:p>
                  </a:txBody>
                  <a:tcPr marL="54864" marR="54864" marT="18288" marB="18288">
                    <a:solidFill>
                      <a:srgbClr val="1F2A44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Alokasi kuota produsen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Contract Net + skor berbobot + buffer + governance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AI klasik / DSS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Keputusan dapat dijelaskan ke produsen dan buyer; kendala keras (kapasitas, konsentrasi, kualitas)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Data historis produsen belum ada; optimasi eksplisit lebih tepat daripada model black-box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Quality score produsen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Pembaruan eksponensial (trust)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Statistik online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Insentif kualitas organik (submission Xpora); sederhana dan transparan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Tidak butuh model kompleks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Klasifikasi HS lintas komoditas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TF-IDF + k-NN kosinus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ML klasik (NLP)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Deskripsi pendek, ~1.000 contoh; akurasi 95,9%; confidence dapat dijelaskan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Data kecil; LLM/BERT ditambahkan bila kosakata dan bahasa bertambah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Risiko roll-over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Regresi logistik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ML supervised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Data tabular 4.000 pengiriman; AUC 0,76; bobot terbaca; probabilitas terkalibrasi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Pada data tabular kecil, model linier setara DL (Bab 1); XGBoost sebagai pembanding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QC visual (Grade A/B/Reject)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CNN (rencana tim Xpora); di sini: yield statistik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DL (rencana)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Citra produk adalah data yang cocok untuk DL (Bab 1); dataset sedang dikumpulkan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Belum ada dataset terlabel; Tugas 1 memodelkan hasilnya (pass rate) saja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Virtual SDR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LLM + konsesi waktu-tergantung + guardrail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LLM + aturan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Bahasa alami multibahasa 24/7; harga dijaga oleh aturan dan band diskon (Bab 3: LLM tidak sendirian)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Di simulasi hanya logika negosiasi; panggilan LLM belum dipakai (hook tersedia)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</a:tr>
              <a:tr h="24130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Keputusan lembur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Q-learning tabular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RL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Ruang state kecil, reward tertunda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Deep RL tidak diperlukan; sulit diaudit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4130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Kesehatan lini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Slope percept sequence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Statistik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Bab 2: tren lebih informatif daripada nilai tunggal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Sensor sedikit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Pemilihan carrier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DSS berbobot + ML + gerbang kebijakan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Hibrida (Bab 3)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Skor hibrida h; kelayakan sebagai constraint keras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Keputusan finansial harus dapat dijelaskan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Keamanan dan otonomi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HMAC, nonce, FSM, capability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Deterministik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Jaminan keamanan harus pasti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-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11480" y="594360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 b="0">
                <a:solidFill>
                  <a:srgbClr val="6B7280"/>
                </a:solidFill>
                <a:latin typeface="Calibri"/>
              </a:defRPr>
            </a:pPr>
            <a:r>
              <a:t>Kriteria pemilihan model (Bab 3): akurasi dan explainability, latensi dan biaya, privasi dan data, skalabilitas. Prinsip Bab 1: pilih model paling sederhana yang memenuhi kebutuhan. Kesimpulan: XCMAS adalah hibrida AI klasik + ML supervised + RL kecil + aturan deterministik, dengan slot untuk LLM (Sales) dan CNN (QC) yang dikembangkan tim.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400"/>
              </a:spcAft>
              <a:defRPr sz="2500" b="1">
                <a:solidFill>
                  <a:srgbClr val="FFFFFF"/>
                </a:solidFill>
                <a:latin typeface="Calibri"/>
              </a:defRPr>
            </a:pPr>
            <a:r>
              <a:t>6.5 / 6.7 Otonomi, keamanan, dan 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7395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850" b="0">
                <a:solidFill>
                  <a:srgbClr val="6B7280"/>
                </a:solidFill>
                <a:latin typeface="Calibri"/>
              </a:defRPr>
            </a:pPr>
            <a:r>
              <a:t>XCMAS: Xpora Consortium Multi-Agent System  |  Aditya Wahyu Wijanarko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850" b="0">
                <a:solidFill>
                  <a:srgbClr val="6B7280"/>
                </a:solidFill>
                <a:latin typeface="Calibri"/>
              </a:defRPr>
            </a:pPr>
            <a:r>
              <a:t>26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005840"/>
          <a:ext cx="11064240" cy="1884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4754880"/>
                <a:gridCol w="2011680"/>
                <a:gridCol w="2651760"/>
              </a:tblGrid>
              <a:tr h="40894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Level (Bab 2)</a:t>
                      </a:r>
                    </a:p>
                  </a:txBody>
                  <a:tcPr marL="54864" marR="54864" marT="18288" marB="18288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Keputusan pada XCMAS</a:t>
                      </a:r>
                    </a:p>
                  </a:txBody>
                  <a:tcPr marL="54864" marR="54864" marT="18288" marB="18288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Rata-rata per skenario (Xpora)</a:t>
                      </a:r>
                    </a:p>
                  </a:txBody>
                  <a:tcPr marL="54864" marR="54864" marT="18288" marB="18288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Kendali</a:t>
                      </a:r>
                    </a:p>
                  </a:txBody>
                  <a:tcPr marL="54864" marR="54864" marT="18288" marB="18288">
                    <a:solidFill>
                      <a:srgbClr val="1F2A44"/>
                    </a:solidFill>
                  </a:tcPr>
                </a:tc>
              </a:tr>
              <a:tr h="408940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4 Delegate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Dispatch lini, kuota dalam batas konsentrasi, HS confidence &gt;= 0,60, carrier order di bawah batas nilai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26,6 (67%)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Otomatis, audit trail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08940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3 Supervise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Lembur dalam anggaran, LoI dalam band harga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3,2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Agen bertindak, manusia dapat override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</a:tr>
              <a:tr h="408940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2 Approve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Verifikasi DP (selalu), HS confidence rendah, order bernilai tinggi, lembur di luar anggaran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9,9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Human-in-the-loop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 Assist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Belum dipakai (mode rekomendasi)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0,0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Rekomendasi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3429000"/>
          <a:ext cx="11612880" cy="1991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7772400"/>
              </a:tblGrid>
              <a:tr h="24892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Serangan / pelanggaran</a:t>
                      </a:r>
                    </a:p>
                  </a:txBody>
                  <a:tcPr marL="54864" marR="54864" marT="18288" marB="18288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Hasil pada bus pesan</a:t>
                      </a:r>
                    </a:p>
                  </a:txBody>
                  <a:tcPr marL="54864" marR="54864" marT="18288" marB="18288">
                    <a:solidFill>
                      <a:srgbClr val="1F2A44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spoofed sender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blocked: unknown sender (spoofing)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tampered payload (kg 1.000 -&gt; 99.999)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blocked: bad signature (tampering/spoofing)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replayed message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blocked: replay detected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capability abuse (producer issues ACCEPT)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blocked: capability denied: prod1 may not ACCEPT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protocol violation (ACCEPT without CFP)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blocked: protocol violation in CNP-x/5: ACCEPT while IDLE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stale message (timestamp outside window)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blocked: replay detected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tampered mobile-agent state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blocked: state hash mismatch -&gt; migration refused, remote pull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400"/>
              </a:spcAft>
              <a:defRPr sz="2500" b="1">
                <a:solidFill>
                  <a:srgbClr val="FFFFFF"/>
                </a:solidFill>
                <a:latin typeface="Calibri"/>
              </a:defRPr>
            </a:pPr>
            <a:r>
              <a:t>6.8 Mobile agent (Scout): pindahkan kode, bukan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7395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850" b="0">
                <a:solidFill>
                  <a:srgbClr val="6B7280"/>
                </a:solidFill>
                <a:latin typeface="Calibri"/>
              </a:defRPr>
            </a:pPr>
            <a:r>
              <a:t>XCMAS: Xpora Consortium Multi-Agent System  |  Aditya Wahyu Wijanarko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850" b="0">
                <a:solidFill>
                  <a:srgbClr val="6B7280"/>
                </a:solidFill>
                <a:latin typeface="Calibri"/>
              </a:defRPr>
            </a:pPr>
            <a:r>
              <a:t>27</a:t>
            </a:r>
          </a:p>
        </p:txBody>
      </p:sp>
      <p:pic>
        <p:nvPicPr>
          <p:cNvPr id="6" name="Picture 5" descr="fig_mob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314" y="1097280"/>
            <a:ext cx="4067131" cy="310896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754880" y="1188720"/>
          <a:ext cx="6995160" cy="14046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731520"/>
                <a:gridCol w="868680"/>
                <a:gridCol w="731520"/>
                <a:gridCol w="731520"/>
                <a:gridCol w="1737360"/>
              </a:tblGrid>
              <a:tr h="40894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Host</a:t>
                      </a:r>
                    </a:p>
                  </a:txBody>
                  <a:tcPr marL="54864" marR="54864" marT="18288" marB="18288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Trust</a:t>
                      </a:r>
                    </a:p>
                  </a:txBody>
                  <a:tcPr marL="54864" marR="54864" marT="18288" marB="18288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Latensi (ms)</a:t>
                      </a:r>
                    </a:p>
                  </a:txBody>
                  <a:tcPr marL="54864" marR="54864" marT="18288" marB="18288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Risiko</a:t>
                      </a:r>
                    </a:p>
                  </a:txBody>
                  <a:tcPr marL="54864" marR="54864" marT="18288" marB="18288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Skor</a:t>
                      </a:r>
                    </a:p>
                  </a:txBody>
                  <a:tcPr marL="54864" marR="54864" marT="18288" marB="18288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Keputusan</a:t>
                      </a:r>
                    </a:p>
                  </a:txBody>
                  <a:tcPr marL="54864" marR="54864" marT="18288" marB="18288">
                    <a:solidFill>
                      <a:srgbClr val="1F2A44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carrier_ColdLineA_edge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0,71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12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0,30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0,85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reject (remote pull)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carrier_ColdLineB_edge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0,90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18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0,10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0,72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migrate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carrier_ColdLinePrime_edge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0,86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25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0,15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0,43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migrate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port_community_node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0,93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15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0,08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0,85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migrate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754880" y="3931920"/>
            <a:ext cx="70408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1F2937"/>
                </a:solidFill>
                <a:latin typeface="Calibri"/>
              </a:defRPr>
            </a:pPr>
            <a:r>
              <a:t>• Migrasi hanya jika trust host &gt;= 0,80, risiko &lt;= 0,20, dan state terverifikasi (SHA-256 + HMAC); selain itu remote pull.</a:t>
            </a:r>
          </a:p>
          <a:p>
            <a:pPr>
              <a:spcAft>
                <a:spcPts val="400"/>
              </a:spcAft>
              <a:defRPr sz="1200" b="0">
                <a:solidFill>
                  <a:srgbClr val="1F2937"/>
                </a:solidFill>
                <a:latin typeface="Calibri"/>
              </a:defRPr>
            </a:pPr>
            <a:r>
              <a:t>• Skor komposit hanya meranking host yang lolos: keamanan adalah constraint keras (Bab 4-5).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400"/>
              </a:spcAft>
              <a:defRPr sz="2500" b="1">
                <a:solidFill>
                  <a:srgbClr val="FFFFFF"/>
                </a:solidFill>
                <a:latin typeface="Calibri"/>
              </a:defRPr>
            </a:pPr>
            <a:r>
              <a:t>7.1 Rancangan eksperimen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7395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850" b="0">
                <a:solidFill>
                  <a:srgbClr val="6B7280"/>
                </a:solidFill>
                <a:latin typeface="Calibri"/>
              </a:defRPr>
            </a:pPr>
            <a:r>
              <a:t>XCMAS: Xpora Consortium Multi-Agent System  |  Aditya Wahyu Wijanarko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850" b="0">
                <a:solidFill>
                  <a:srgbClr val="6B7280"/>
                </a:solidFill>
                <a:latin typeface="Calibri"/>
              </a:defRPr>
            </a:pPr>
            <a: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005840"/>
            <a:ext cx="55778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1F2937"/>
                </a:solidFill>
                <a:latin typeface="Calibri"/>
              </a:defRPr>
            </a:pPr>
            <a:r>
              <a:t>• Tiga arsitektur pada skenario yang sama (common random numbers), dua profil: Xpora (tempe, cold chain) dan KrakaCoal (arang, kering).</a:t>
            </a:r>
          </a:p>
          <a:p>
            <a:pPr>
              <a:spcAft>
                <a:spcPts val="700"/>
              </a:spcAft>
              <a:defRPr sz="1300" b="0">
                <a:solidFill>
                  <a:srgbClr val="1F2937"/>
                </a:solidFill>
                <a:latin typeface="Calibri"/>
              </a:defRPr>
            </a:pPr>
            <a:r>
              <a:t>• Manual: admin WhatsApp satu per satu, bagi rata, buffer 5%, dokumen setelah produksi, HS manual.</a:t>
            </a:r>
          </a:p>
          <a:p>
            <a:pPr>
              <a:spcAft>
                <a:spcPts val="700"/>
              </a:spcAft>
              <a:defRPr sz="1300" b="0">
                <a:solidFill>
                  <a:srgbClr val="1F2937"/>
                </a:solidFill>
                <a:latin typeface="Calibri"/>
              </a:defRPr>
            </a:pPr>
            <a:r>
              <a:t>• Agen tunggal: satu inti dengan registry produsen (kapasitas berderau 10% x ketersediaan rata-rata), aturan keputusan hibrida.</a:t>
            </a:r>
          </a:p>
          <a:p>
            <a:pPr>
              <a:spcAft>
                <a:spcPts val="700"/>
              </a:spcAft>
              <a:defRPr sz="1300" b="0">
                <a:solidFill>
                  <a:srgbClr val="1F2937"/>
                </a:solidFill>
                <a:latin typeface="Calibri"/>
              </a:defRPr>
            </a:pPr>
            <a:r>
              <a:t>• Multi-agen: keputusan sama, kuota via Contract Net; produsen menawar dengan kapasitas nyata.</a:t>
            </a:r>
          </a:p>
          <a:p>
            <a:pPr>
              <a:spcAft>
                <a:spcPts val="700"/>
              </a:spcAft>
              <a:defRPr sz="1300" b="0">
                <a:solidFill>
                  <a:srgbClr val="1F2937"/>
                </a:solidFill>
                <a:latin typeface="Calibri"/>
              </a:defRPr>
            </a:pPr>
            <a:r>
              <a:t>• 300 skenario per profil, CI 95% bootstrap; seed evaluasi 0-299 terpisah dari kalibrasi (1000+) dan RL (10000+); 26 unit test.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172200" y="1005840"/>
          <a:ext cx="5760720" cy="51765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737360"/>
                <a:gridCol w="2286000"/>
              </a:tblGrid>
              <a:tr h="233679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Parameter</a:t>
                      </a:r>
                    </a:p>
                  </a:txBody>
                  <a:tcPr marL="54864" marR="54864" marT="18288" marB="18288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Nilai</a:t>
                      </a:r>
                    </a:p>
                  </a:txBody>
                  <a:tcPr marL="54864" marR="54864" marT="18288" marB="18288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Keterangan</a:t>
                      </a:r>
                    </a:p>
                  </a:txBody>
                  <a:tcPr marL="54864" marR="54864" marT="18288" marB="18288">
                    <a:solidFill>
                      <a:srgbClr val="1F2A44"/>
                    </a:solidFill>
                  </a:tcPr>
                </a:tc>
              </a:tr>
              <a:tr h="668020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Ketersediaan kapasitas u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U(0.55; 1)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sisa kapasitas produsen setelah pasar lokal (ASUMSI); registry mengira rata-rata 0,775 dan kapasitas nominal berderau 10%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523239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Waktu balas WhatsApp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median 1.5 jam, sigma 0.9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lognormal; SLA target Xpora &lt; 2 jam; bid lebih lambat dari 6 jam diabaikan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</a:tr>
              <a:tr h="378460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Buffer over-allocation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15% (awal), 5% (susulan)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dipilih dari sweep pada seed kalibrasi; admin manual 5%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523239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Batas konsentrasi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30%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tiap produsen maks 30% dari satu order; produsen dengan quality score &lt; 0,60 diblokir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</a:tr>
              <a:tr h="523239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Gagal kirim produsen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1 - keandalan, keandalan U(0,80; 0,99)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yield QC = 0,72 + 0,26 x keandalan + derau; premium butuh yield &gt;= 0,85 (Grade A)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378460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Surplus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dijual lokal 60% harga beli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biaya limbah = 40% harga beli untuk kg surplus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</a:tr>
              <a:tr h="523239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Lini gudang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2 mesin/tahap; kerusakan 0.035/hari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lembur x1.35, 45 USD per hari operasi; anggaran 12 tahap per skenario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523239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Penalti keterlambatan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0,4% nilai/hari + 45 USD/hari (+5% bila &gt; 10 hari)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ASUMSI; L/C basi dan reputasi tidak dimodelkan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</a:tr>
              <a:tr h="523239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Verifikasi DP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0.3-1.2 hari, oleh admin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SOURCE: human-in-the-loop yang disengaja oleh Xpora; berlaku pada semua mode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378460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Respons sales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manual median 0.75 hari; SDR 0.05 hari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ASUMSI (zona waktu dan jam kantor)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400"/>
              </a:spcAft>
              <a:defRPr sz="2500" b="1">
                <a:solidFill>
                  <a:srgbClr val="FFFFFF"/>
                </a:solidFill>
                <a:latin typeface="Calibri"/>
              </a:defRPr>
            </a:pPr>
            <a:r>
              <a:t>7.2 Hasil utama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7395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850" b="0">
                <a:solidFill>
                  <a:srgbClr val="6B7280"/>
                </a:solidFill>
                <a:latin typeface="Calibri"/>
              </a:defRPr>
            </a:pPr>
            <a:r>
              <a:t>XCMAS: Xpora Consortium Multi-Agent System  |  Aditya Wahyu Wijanarko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850" b="0">
                <a:solidFill>
                  <a:srgbClr val="6B7280"/>
                </a:solidFill>
                <a:latin typeface="Calibri"/>
              </a:defRPr>
            </a:pPr>
            <a:r>
              <a:t>29</a:t>
            </a:r>
          </a:p>
        </p:txBody>
      </p:sp>
      <p:pic>
        <p:nvPicPr>
          <p:cNvPr id="6" name="Picture 5" descr="fig_main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2426" y="960120"/>
            <a:ext cx="9796667" cy="544068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400"/>
              </a:spcAft>
              <a:defRPr sz="2500" b="1">
                <a:solidFill>
                  <a:srgbClr val="FFFFFF"/>
                </a:solidFill>
                <a:latin typeface="Calibri"/>
              </a:defRPr>
            </a:pPr>
            <a:r>
              <a:t>7.2 Hasil utama: Xpora (tempe) dan KrakaCoal (arang)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7395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850" b="0">
                <a:solidFill>
                  <a:srgbClr val="6B7280"/>
                </a:solidFill>
                <a:latin typeface="Calibri"/>
              </a:defRPr>
            </a:pPr>
            <a:r>
              <a:t>XCMAS: Xpora Consortium Multi-Agent System  |  Aditya Wahyu Wijanarko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850" b="0">
                <a:solidFill>
                  <a:srgbClr val="6B7280"/>
                </a:solidFill>
                <a:latin typeface="Calibri"/>
              </a:defRPr>
            </a:pPr>
            <a:r>
              <a:t>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96012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 b="1">
                <a:solidFill>
                  <a:srgbClr val="0F8B8D"/>
                </a:solidFill>
                <a:latin typeface="Calibri"/>
              </a:defRPr>
            </a:pPr>
            <a:r>
              <a:t>Xpora (tempe, cold chain)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325880"/>
          <a:ext cx="5669280" cy="2311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188720"/>
                <a:gridCol w="1188720"/>
                <a:gridCol w="1188720"/>
              </a:tblGrid>
              <a:tr h="56896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Metrik</a:t>
                      </a:r>
                    </a:p>
                  </a:txBody>
                  <a:tcPr marL="54864" marR="54864" marT="18288" marB="18288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Manual (admin WhatsApp)</a:t>
                      </a:r>
                    </a:p>
                  </a:txBody>
                  <a:tcPr marL="54864" marR="54864" marT="18288" marB="18288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Agen tunggal (registry)</a:t>
                      </a:r>
                    </a:p>
                  </a:txBody>
                  <a:tcPr marL="54864" marR="54864" marT="18288" marB="18288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Multi-agen (bid live)</a:t>
                      </a:r>
                    </a:p>
                  </a:txBody>
                  <a:tcPr marL="54864" marR="54864" marT="18288" marB="18288">
                    <a:solidFill>
                      <a:srgbClr val="1F2A44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OTIF (tepat waktu dan terisi)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2,6%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51,7%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62,3%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Tepat waktu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49,1%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86,3%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87,3%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Fill rate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82,9%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96,3%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97,3%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Margin per order (USD)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38.217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47.693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48.312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Biaya sourcing per order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16.855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19.503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19.733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Sentuhan manusia per order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104,7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1,6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1,6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Putaran sourcing per order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3,87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1,78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1,56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263640" y="96012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 b="1">
                <a:solidFill>
                  <a:srgbClr val="0F8B8D"/>
                </a:solidFill>
                <a:latin typeface="Calibri"/>
              </a:defRPr>
            </a:pPr>
            <a:r>
              <a:t>KrakaCoal (arang, kontainer kering)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325880"/>
          <a:ext cx="5669280" cy="2311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188720"/>
                <a:gridCol w="1188720"/>
                <a:gridCol w="1188720"/>
              </a:tblGrid>
              <a:tr h="56896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Metrik</a:t>
                      </a:r>
                    </a:p>
                  </a:txBody>
                  <a:tcPr marL="54864" marR="54864" marT="18288" marB="18288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Manual (admin WhatsApp)</a:t>
                      </a:r>
                    </a:p>
                  </a:txBody>
                  <a:tcPr marL="54864" marR="54864" marT="18288" marB="18288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Agen tunggal (registry)</a:t>
                      </a:r>
                    </a:p>
                  </a:txBody>
                  <a:tcPr marL="54864" marR="54864" marT="18288" marB="18288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Multi-agen (bid live)</a:t>
                      </a:r>
                    </a:p>
                  </a:txBody>
                  <a:tcPr marL="54864" marR="54864" marT="18288" marB="18288">
                    <a:solidFill>
                      <a:srgbClr val="1F2A44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OTIF (tepat waktu dan terisi)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2,8%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45,0%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52,0%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Tepat waktu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42,7%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84,1%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85,7%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Fill rate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78,6%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94,4%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95,4%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Margin per order (USD)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4.199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6.920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7.043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Biaya sourcing per order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10.396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12.373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12.529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Sentuhan manusia per order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78,4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1,3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1,3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Putaran sourcing per order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3,85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1,86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1,54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65760" y="5212080"/>
            <a:ext cx="11430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1F2937"/>
                </a:solidFill>
                <a:latin typeface="Calibri"/>
              </a:defRPr>
            </a:pPr>
            <a:r>
              <a:t>Keunggulan multi-agen atas agen tunggal kecil tetapi konsisten: margin $619/order (Xpora) dan $123/order (KrakaCoal), OTIF 11 dan 7 poin.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400"/>
              </a:spcAft>
              <a:defRPr sz="2500" b="1">
                <a:solidFill>
                  <a:srgbClr val="FFFFFF"/>
                </a:solidFill>
                <a:latin typeface="Calibri"/>
              </a:defRPr>
            </a:pPr>
            <a:r>
              <a:t>7.3 Ablation: kontribusi tiap komponen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7395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850" b="0">
                <a:solidFill>
                  <a:srgbClr val="6B7280"/>
                </a:solidFill>
                <a:latin typeface="Calibri"/>
              </a:defRPr>
            </a:pPr>
            <a:r>
              <a:t>XCMAS: Xpora Consortium Multi-Agent System  |  Aditya Wahyu Wijanarko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850" b="0">
                <a:solidFill>
                  <a:srgbClr val="6B7280"/>
                </a:solidFill>
                <a:latin typeface="Calibri"/>
              </a:defRPr>
            </a:pPr>
            <a:r>
              <a:t>31</a:t>
            </a:r>
          </a:p>
        </p:txBody>
      </p:sp>
      <p:pic>
        <p:nvPicPr>
          <p:cNvPr id="6" name="Picture 5" descr="fig_ab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923" y="960120"/>
            <a:ext cx="9947673" cy="3931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1480" y="4937760"/>
            <a:ext cx="11338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1F2937"/>
                </a:solidFill>
                <a:latin typeface="Calibri"/>
              </a:defRPr>
            </a:pPr>
            <a:r>
              <a:t>• Sumber nilai terbesar (margin per order): kuota berbasis bid live ($540 Xpora, $120 KrakaCoal), dokumen paralel dengan sourcing ($453 dan $42), dan re-optimasi carrier ($67 dan $-36). Quality-score prioritisation: $-39 dan $-67; tanpa buffer margin turun $3.074 dan $568.</a:t>
            </a:r>
          </a:p>
          <a:p>
            <a:pPr>
              <a:spcAft>
                <a:spcPts val="400"/>
              </a:spcAft>
              <a:defRPr sz="1100" b="0">
                <a:solidFill>
                  <a:srgbClr val="1F2937"/>
                </a:solidFill>
                <a:latin typeface="Calibri"/>
              </a:defRPr>
            </a:pPr>
            <a:r>
              <a:t>• Trade-off: menghapus model risiko atau memakai aturan biaya-harapan dapat menaikkan margin ($-501 dan $-610 per order pada Xpora) tetapi menurunkan OTIF; aturan hibrida (Bab 3) memprioritaskan tingkat layanan. Pilihan bobot adalah keputusan bisnis; kerugian reputasi dan L/C tidak dimodelkan sehingga nilai layanan di sini konservatif.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400"/>
              </a:spcAft>
              <a:defRPr sz="2500" b="1">
                <a:solidFill>
                  <a:srgbClr val="FFFFFF"/>
                </a:solidFill>
                <a:latin typeface="Calibri"/>
              </a:defRPr>
            </a:pPr>
            <a:r>
              <a:t>7.4 Buffer over-allocation: lindung nilai vs limbah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7395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850" b="0">
                <a:solidFill>
                  <a:srgbClr val="6B7280"/>
                </a:solidFill>
                <a:latin typeface="Calibri"/>
              </a:defRPr>
            </a:pPr>
            <a:r>
              <a:t>XCMAS: Xpora Consortium Multi-Agent System  |  Aditya Wahyu Wijanarko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850" b="0">
                <a:solidFill>
                  <a:srgbClr val="6B7280"/>
                </a:solidFill>
                <a:latin typeface="Calibri"/>
              </a:defRPr>
            </a:pPr>
            <a:r>
              <a:t>32</a:t>
            </a:r>
          </a:p>
        </p:txBody>
      </p:sp>
      <p:pic>
        <p:nvPicPr>
          <p:cNvPr id="6" name="Picture 5" descr="fig_buff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63039"/>
            <a:ext cx="6583680" cy="219456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4251960"/>
          <a:ext cx="9692640" cy="17805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554480"/>
                <a:gridCol w="1097280"/>
                <a:gridCol w="1463040"/>
                <a:gridCol w="1645920"/>
                <a:gridCol w="1280160"/>
                <a:gridCol w="1554480"/>
              </a:tblGrid>
              <a:tr h="37846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Buffer awal</a:t>
                      </a:r>
                    </a:p>
                  </a:txBody>
                  <a:tcPr marL="54864" marR="54864" marT="18288" marB="18288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Xpora: margin/order</a:t>
                      </a:r>
                    </a:p>
                  </a:txBody>
                  <a:tcPr marL="54864" marR="54864" marT="18288" marB="18288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Xpora: OTIF</a:t>
                      </a:r>
                    </a:p>
                  </a:txBody>
                  <a:tcPr marL="54864" marR="54864" marT="18288" marB="18288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Xpora: limbah/order</a:t>
                      </a:r>
                    </a:p>
                  </a:txBody>
                  <a:tcPr marL="54864" marR="54864" marT="18288" marB="18288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KrakaCoal: margin/order</a:t>
                      </a:r>
                    </a:p>
                  </a:txBody>
                  <a:tcPr marL="54864" marR="54864" marT="18288" marB="18288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KrakaCoal: OTIF</a:t>
                      </a:r>
                    </a:p>
                  </a:txBody>
                  <a:tcPr marL="54864" marR="54864" marT="18288" marB="18288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KrakaCoal: limbah/order</a:t>
                      </a:r>
                    </a:p>
                  </a:txBody>
                  <a:tcPr marL="54864" marR="54864" marT="18288" marB="18288">
                    <a:solidFill>
                      <a:srgbClr val="1F2A44"/>
                    </a:solidFill>
                  </a:tcPr>
                </a:tc>
              </a:tr>
              <a:tr h="233679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0%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45.593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23%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6.540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14%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33679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5%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46.927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35%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6.873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31%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</a:tr>
              <a:tr h="233679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10%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48.079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48%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54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7.049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42%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53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33679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15%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48.654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61%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163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7.081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51%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137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</a:tr>
              <a:tr h="233679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20%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48.893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72%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340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6.997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61%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254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33679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30%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48.302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85%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876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6.471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76%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573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040880" y="1097280"/>
            <a:ext cx="48463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1F2937"/>
                </a:solidFill>
                <a:latin typeface="Calibri"/>
              </a:defRPr>
            </a:pPr>
            <a:r>
              <a:t>Buffer over-allocation: margin puncak pada 15-20% (Bagian sweep) karena kekurangan pasokan (gagal kirim, reject QC) lebih mahal daripada limbah surplus yang dijual 60% harga beli. Pada buffer 30% margin turun karena limbah surplus.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400"/>
              </a:spcAft>
              <a:defRPr sz="2500" b="1">
                <a:solidFill>
                  <a:srgbClr val="FFFFFF"/>
                </a:solidFill>
                <a:latin typeface="Calibri"/>
              </a:defRPr>
            </a:pPr>
            <a:r>
              <a:t>7.6 Model ML: klasifikasi HS dan risiko roll-over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7395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850" b="0">
                <a:solidFill>
                  <a:srgbClr val="6B7280"/>
                </a:solidFill>
                <a:latin typeface="Calibri"/>
              </a:defRPr>
            </a:pPr>
            <a:r>
              <a:t>XCMAS: Xpora Consortium Multi-Agent System  |  Aditya Wahyu Wijanarko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850" b="0">
                <a:solidFill>
                  <a:srgbClr val="6B7280"/>
                </a:solidFill>
                <a:latin typeface="Calibri"/>
              </a:defRPr>
            </a:pPr>
            <a:r>
              <a:t>33</a:t>
            </a:r>
          </a:p>
        </p:txBody>
      </p:sp>
      <p:pic>
        <p:nvPicPr>
          <p:cNvPr id="6" name="Picture 5" descr="fig_h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55504"/>
            <a:ext cx="7315199" cy="2901070"/>
          </a:xfrm>
          <a:prstGeom prst="rect">
            <a:avLst/>
          </a:prstGeom>
        </p:spPr>
      </p:pic>
      <p:pic>
        <p:nvPicPr>
          <p:cNvPr id="7" name="Picture 6" descr="fig_ris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0727" y="960120"/>
            <a:ext cx="3618144" cy="329184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11480" y="4434840"/>
          <a:ext cx="11338560" cy="1897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4754880"/>
                <a:gridCol w="3291840"/>
              </a:tblGrid>
              <a:tr h="21082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</a:t>
                      </a:r>
                    </a:p>
                  </a:txBody>
                  <a:tcPr marL="54864" marR="54864" marT="18288" marB="18288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Metrik</a:t>
                      </a:r>
                    </a:p>
                  </a:txBody>
                  <a:tcPr marL="54864" marR="54864" marT="18288" marB="18288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Nilai</a:t>
                      </a:r>
                    </a:p>
                  </a:txBody>
                  <a:tcPr marL="54864" marR="54864" marT="18288" marB="18288">
                    <a:solidFill>
                      <a:srgbClr val="1F2A44"/>
                    </a:solidFill>
                  </a:tcPr>
                </a:tc>
              </a:tr>
              <a:tr h="21082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Klasifikasi HS (uji 25%, 7 heading)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Akurasi (semua)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95,9%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1082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Klasifikasi HS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Akurasi pada yang otomatis (tau = 0,60)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99,5%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</a:tr>
              <a:tr h="21082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Klasifikasi HS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Cakupan otomatis (tau = 0,60)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89,0%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1082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Risiko roll-over (uji 25%)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AUC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0,758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</a:tr>
              <a:tr h="21082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Risiko roll-over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Brier (model / baseline base-rate)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0,1021 / 0,1162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1082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Q-learning (MDP abstrak)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Return per order: Q / aturan slack&lt;0 / never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-340 / -339 / -383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</a:tr>
              <a:tr h="21082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Sales/SDR (eksploratif, 6.000 RFQ)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Konversi RFQ ke deal: manual / SDR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44% / 68%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1082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Sales/SDR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Jam RFQ ke harga sepakat: manual / SDR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33 / 3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400"/>
              </a:spcAft>
              <a:defRPr sz="2500" b="1">
                <a:solidFill>
                  <a:srgbClr val="FFFFFF"/>
                </a:solidFill>
                <a:latin typeface="Calibri"/>
              </a:defRPr>
            </a:pPr>
            <a:r>
              <a:t>7.6 Reinforcement learning dan Sales/SDR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7395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850" b="0">
                <a:solidFill>
                  <a:srgbClr val="6B7280"/>
                </a:solidFill>
                <a:latin typeface="Calibri"/>
              </a:defRPr>
            </a:pPr>
            <a:r>
              <a:t>XCMAS: Xpora Consortium Multi-Agent System  |  Aditya Wahyu Wijanarko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850" b="0">
                <a:solidFill>
                  <a:srgbClr val="6B7280"/>
                </a:solidFill>
                <a:latin typeface="Calibri"/>
              </a:defRPr>
            </a:pPr>
            <a:r>
              <a:t>34</a:t>
            </a:r>
          </a:p>
        </p:txBody>
      </p:sp>
      <p:pic>
        <p:nvPicPr>
          <p:cNvPr id="6" name="Picture 5" descr="fig_r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184" y="960119"/>
            <a:ext cx="10637151" cy="2743200"/>
          </a:xfrm>
          <a:prstGeom prst="rect">
            <a:avLst/>
          </a:prstGeom>
        </p:spPr>
      </p:pic>
      <p:pic>
        <p:nvPicPr>
          <p:cNvPr id="7" name="Picture 6" descr="fig_sa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096351"/>
            <a:ext cx="5120640" cy="195713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577840" y="3794760"/>
            <a:ext cx="63093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1F2937"/>
                </a:solidFill>
                <a:latin typeface="Calibri"/>
              </a:defRPr>
            </a:pPr>
            <a:r>
              <a:t>• Pembelajaran RL: policy Q dari MDP abstrak tidak transfer ke simulator (hampir tidak pernah lembur), sedangkan Q yang dilatih langsung di simulator setara aturan slack&lt;0. Pada sebagian profil 'selalu lembur (dalam anggaran)' lebih baik: lembur murah dibanding penalti dan anggaran governance menjadi parameter yang mengikat. Penyebab Q tidak menemukannya: reward akhir bising dan kredit tercampur antar order; perbaikan: difference reward (Bab 4) dan lebih banyak episode.</a:t>
            </a:r>
          </a:p>
          <a:p>
            <a:pPr>
              <a:spcAft>
                <a:spcPts val="400"/>
              </a:spcAft>
              <a:defRPr sz="1100" b="0">
                <a:solidFill>
                  <a:srgbClr val="1F2937"/>
                </a:solidFill>
                <a:latin typeface="Calibri"/>
              </a:defRPr>
            </a:pPr>
            <a:r>
              <a:t>• Sales/SDR (eksploratif, bergantung asumsi waktu balas): konversi RFQ ke deal 44% (meja manusia) vs 68% (SDR) dan waktu ke harga sepakat 33 vs 3 jam; harga rata-rata hampir sama karena strategi konsesi sama. Perlu divalidasi dengan data RFQ nyata.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400"/>
              </a:spcAft>
              <a:defRPr sz="2500" b="1">
                <a:solidFill>
                  <a:srgbClr val="FFFFFF"/>
                </a:solidFill>
                <a:latin typeface="Calibri"/>
              </a:defRPr>
            </a:pPr>
            <a:r>
              <a:t>7.7 Implikasi bisnis bagi Xpora dan KrakaCoal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7395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850" b="0">
                <a:solidFill>
                  <a:srgbClr val="6B7280"/>
                </a:solidFill>
                <a:latin typeface="Calibri"/>
              </a:defRPr>
            </a:pPr>
            <a:r>
              <a:t>XCMAS: Xpora Consortium Multi-Agent System  |  Aditya Wahyu Wijanarko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850" b="0">
                <a:solidFill>
                  <a:srgbClr val="6B7280"/>
                </a:solidFill>
                <a:latin typeface="Calibri"/>
              </a:defRPr>
            </a:pPr>
            <a:r>
              <a:t>35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005840"/>
          <a:ext cx="11430000" cy="34543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83680"/>
                <a:gridCol w="4846320"/>
              </a:tblGrid>
              <a:tr h="2717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Rekomendasi operasional</a:t>
                      </a:r>
                    </a:p>
                  </a:txBody>
                  <a:tcPr marL="54864" marR="54864" marT="18288" marB="18288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Dasar pada eksperimen</a:t>
                      </a:r>
                    </a:p>
                  </a:txBody>
                  <a:tcPr marL="54864" marR="54864" marT="18288" marB="18288">
                    <a:solidFill>
                      <a:srgbClr val="1F2A44"/>
                    </a:solidFill>
                  </a:tcPr>
                </a:tc>
              </a:tr>
              <a:tr h="454659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Pakai buffer over-allocation 15% pada putaran pertama; pertahankan re-kontrak untuk kekurangan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Sweep buffer: margin puncak 15-20%; tanpa buffer OTIF turun tajam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54659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Minta konfirmasi kapasitas nyata dari produsen (template WhatsApp) sebelum mengunci kuota, bukan mengandalkan data onboarding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Sweep staleness: nilai bid live tumbuh dengan variasi ketersediaan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</a:tr>
              <a:tr h="454659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Prioritaskan produsen dengan quality score tinggi dan blokir score &lt; 0,60; batasi 30% per produsen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Ablation quality-score dan concentration cap; Jain kuota tetap terpantau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54659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Mulai dokumen (HS, sertifikat) saat DP terverifikasi, paralel dengan produksi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Ablation: dokumen paralel = penghematan waktu terbesar kedua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</a:tr>
              <a:tr h="454659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Pertahankan verifikasi DP manual (level 2) dan persetujuan order bernilai tinggi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Desain Xpora; menambah 1 sentuhan per order namun mencegah kesalahan pembayaran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54659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Untuk pilot 20 produsen stabil, mulai dengan agen tunggal; pindah ke multi-agen saat pool ratusan produsen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Kesimpulan sensitivitas dan skala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</a:tr>
              <a:tr h="454659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Kumpulkan data untuk kalibrasi: syarat pembayaran, harga beli per produsen, tingkat gagal kirim dan reject, waktu balas WhatsApp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Batasan data sintetis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400"/>
              </a:spcAft>
              <a:defRPr sz="2500" b="1">
                <a:solidFill>
                  <a:srgbClr val="FFFFFF"/>
                </a:solidFill>
                <a:latin typeface="Calibri"/>
              </a:defRPr>
            </a:pPr>
            <a:r>
              <a:t>7.8 Keterbatasan dan validitas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7395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850" b="0">
                <a:solidFill>
                  <a:srgbClr val="6B7280"/>
                </a:solidFill>
                <a:latin typeface="Calibri"/>
              </a:defRPr>
            </a:pPr>
            <a:r>
              <a:t>XCMAS: Xpora Consortium Multi-Agent System  |  Aditya Wahyu Wijanarko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850" b="0">
                <a:solidFill>
                  <a:srgbClr val="6B7280"/>
                </a:solidFill>
                <a:latin typeface="Calibri"/>
              </a:defRPr>
            </a:pPr>
            <a:r>
              <a:t>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005840"/>
            <a:ext cx="113385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1F2937"/>
                </a:solidFill>
                <a:latin typeface="Calibri"/>
              </a:defRPr>
            </a:pPr>
            <a:r>
              <a:t>• Data sintetis: pilot Xpora belum mengirim, KrakaCoal tidak mempublikasikan harga atau syarat pembayaran. Tidak ada klaim performa nyata; kalibrasi ke data ERP/CRM riil adalah langkah wajib berikutnya.</a:t>
            </a:r>
          </a:p>
          <a:p>
            <a:pPr>
              <a:spcAft>
                <a:spcPts val="600"/>
              </a:spcAft>
              <a:defRPr sz="1300" b="0">
                <a:solidFill>
                  <a:srgbClr val="1F2937"/>
                </a:solidFill>
                <a:latin typeface="Calibri"/>
              </a:defRPr>
            </a:pPr>
            <a:r>
              <a:t>• Keunggulan multi-agen bergantung pada asumsi variasi ketersediaan (45%) dan noise registry (10%); sweep sensitivitas ditampilkan dan pada variasi 0% keunggulan hilang.</a:t>
            </a:r>
          </a:p>
          <a:p>
            <a:pPr>
              <a:spcAft>
                <a:spcPts val="600"/>
              </a:spcAft>
              <a:defRPr sz="1300" b="0">
                <a:solidFill>
                  <a:srgbClr val="1F2937"/>
                </a:solidFill>
                <a:latin typeface="Calibri"/>
              </a:defRPr>
            </a:pPr>
            <a:r>
              <a:t>• Keunggulan jumlah pesan pusat vs MAS bergantung pada asumsi heartbeat/refresh registry mingguan dan fan-out CFP; pada pemasokan multi-agen memakai lebih banyak pesan.</a:t>
            </a:r>
          </a:p>
          <a:p>
            <a:pPr>
              <a:spcAft>
                <a:spcPts val="600"/>
              </a:spcAft>
              <a:defRPr sz="1300" b="0">
                <a:solidFill>
                  <a:srgbClr val="1F2937"/>
                </a:solidFill>
                <a:latin typeface="Calibri"/>
              </a:defRPr>
            </a:pPr>
            <a:r>
              <a:t>• QC (CNN) dan Virtual SDR (LLM) tidak diimplementasikan sebagai model; QC dimodelkan sebagai pass-rate statistik dan SDR sebagai logika konsesi. Modul SDR bersifat eksploratif.</a:t>
            </a:r>
          </a:p>
          <a:p>
            <a:pPr>
              <a:spcAft>
                <a:spcPts val="600"/>
              </a:spcAft>
              <a:defRPr sz="1300" b="0">
                <a:solidFill>
                  <a:srgbClr val="1F2937"/>
                </a:solidFill>
                <a:latin typeface="Calibri"/>
              </a:defRPr>
            </a:pPr>
            <a:r>
              <a:t>• Penalti keterlambatan, harga jual, dan tarif carrier adalah asumsi; kerugian reputasi, pembatalan L/C, dan kurs tidak dimodelkan. Data volume scout adalah asumsi.</a:t>
            </a:r>
          </a:p>
          <a:p>
            <a:pPr>
              <a:spcAft>
                <a:spcPts val="600"/>
              </a:spcAft>
              <a:defRPr sz="1300" b="0">
                <a:solidFill>
                  <a:srgbClr val="1F2937"/>
                </a:solidFill>
                <a:latin typeface="Calibri"/>
              </a:defRPr>
            </a:pPr>
            <a:r>
              <a:t>• Model risiko (AUC 0,76) dilatih pada data yang dibangkitkan dari proses logit yang kita tulis; belum ada uji drift/retraining online.</a:t>
            </a:r>
          </a:p>
          <a:p>
            <a:pPr>
              <a:spcAft>
                <a:spcPts val="600"/>
              </a:spcAft>
              <a:defRPr sz="1300" b="0">
                <a:solidFill>
                  <a:srgbClr val="1F2937"/>
                </a:solidFill>
                <a:latin typeface="Calibri"/>
              </a:defRPr>
            </a:pPr>
            <a:r>
              <a:t>• Simulasi diskret (langkah 0,05 hari), 300 skenario evaluasi per profil (seed 0-299), terpisah dari seed kalibrasi (1000+) dan pelatihan RL (10000+).</a:t>
            </a:r>
          </a:p>
          <a:p>
            <a:pPr>
              <a:spcAft>
                <a:spcPts val="600"/>
              </a:spcAft>
              <a:defRPr sz="1300" b="0">
                <a:solidFill>
                  <a:srgbClr val="1F2937"/>
                </a:solidFill>
                <a:latin typeface="Calibri"/>
              </a:defRPr>
            </a:pPr>
            <a:r>
              <a:t>• Belum ada UI dashboard, integrasi WhatsApp Business API, atau API bea cukai/carrier nyata; itu rencana Project #1 dan MVP Xpora.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400"/>
              </a:spcAft>
              <a:defRPr sz="2500" b="1">
                <a:solidFill>
                  <a:srgbClr val="FFFFFF"/>
                </a:solidFill>
                <a:latin typeface="Calibri"/>
              </a:defRPr>
            </a:pPr>
            <a:r>
              <a:t>Peta materi kuliah ke implementasi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7395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850" b="0">
                <a:solidFill>
                  <a:srgbClr val="6B7280"/>
                </a:solidFill>
                <a:latin typeface="Calibri"/>
              </a:defRPr>
            </a:pPr>
            <a:r>
              <a:t>XCMAS: Xpora Consortium Multi-Agent System  |  Aditya Wahyu Wijanarko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850" b="0">
                <a:solidFill>
                  <a:srgbClr val="6B7280"/>
                </a:solidFill>
                <a:latin typeface="Calibri"/>
              </a:defRPr>
            </a:pPr>
            <a:r>
              <a:t>37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960120"/>
          <a:ext cx="11704320" cy="458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80560"/>
                <a:gridCol w="4572000"/>
                <a:gridCol w="2651760"/>
              </a:tblGrid>
              <a:tr h="24892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Materi kuliah</a:t>
                      </a:r>
                    </a:p>
                  </a:txBody>
                  <a:tcPr marL="54864" marR="54864" marT="18288" marB="18288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Penerapan pada XCMAS</a:t>
                      </a:r>
                    </a:p>
                  </a:txBody>
                  <a:tcPr marL="54864" marR="54864" marT="18288" marB="18288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Berkas kode</a:t>
                      </a:r>
                    </a:p>
                  </a:txBody>
                  <a:tcPr marL="54864" marR="54864" marT="18288" marB="18288">
                    <a:solidFill>
                      <a:srgbClr val="1F2A44"/>
                    </a:solidFill>
                  </a:tcPr>
                </a:tc>
              </a:tr>
              <a:tr h="408940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Bab 1: hibrida prediksi + aturan deterministik; model paling sederhana yang memadai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Risk/Compliance = ML klasik; governance = aturan; DL/LLM sesuai porsi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ml.py, sim.py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08940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Bab 2: PEAS, klasifikasi lingkungan, rational agent, utility + constraint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Bagian 2.3-2.4; a* = argmax U s.t. policy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config.py, consortium.py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</a:tr>
              <a:tr h="408940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Bab 2: percept sequence, reactive vs deliberative, level otonomi, learning agent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Monitor kondisi lini; hybrid; level 1-4; Learning Agent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ml.py, rl.py, rl_sim.py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Bab 3: BDI, A = &lt;G,B,I,M,C,R,P,T&gt;, s(t+1)=F(s,o,a)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Tabel agen (6.4), siklus kognitif (6.3)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sim.py, consortium.py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</a:tr>
              <a:tr h="408940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Bab 3: skor hibrida h = g[alpha z + (1-alpha) 100 (1-p)], DSS + ML + policy engine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Pemilihan carrier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sim.py (book)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08940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Bab 3: runtime, observability, audit trail, batas berhenti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Audit log rantai-hash, jumlah pesan, anggaran lembur, eskalasi confidence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messaging.py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</a:tr>
              <a:tr h="408940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Bab 4: MAS tuple, ACL, FSM, ontologi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Message m = &lt;s,r,p,c,o,l,id,t&gt;, FSM Contract Net, ontologi export-mfg-v1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messaging.py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08940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Bab 4: Contract Net, negosiasi, task allocation, utility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Kuota produsen (CNP), lini gudang, carrier, negosiasi Sales Agent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consortium.py, negotiation.py, sales.py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</a:tr>
              <a:tr h="408940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Bab 4: trust eksponensial, HMAC, replay, capability, migrasi aman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Quality score produsen, trust carrier, 7 uji serangan, gerbang migrasi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messaging.py, mobile.py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08940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Bab 4: speedup, R_sys, Jain, C_comm, KPI vector, smart manufacturing, supply chain MAS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Bagian 3 (contoh 14) dan 7 (metrik sistem, fairness kuota)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negotiation.py, experiments.py</a:t>
                      </a:r>
                    </a:p>
                  </a:txBody>
                  <a:tcPr marL="54864" marR="54864" marT="18288" marB="18288">
                    <a:solidFill>
                      <a:srgbClr val="F3F8F8"/>
                    </a:solidFill>
                  </a:tcPr>
                </a:tc>
              </a:tr>
              <a:tr h="408940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Bab 5: mobile agent, serialisasi, migrasi, sandbox, RL mobility, layout Project #1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Scout Agent; Q-learning; struktur laporan mengikuti layout Project #1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mobile.py, rl.py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400"/>
              </a:spcAft>
              <a:defRPr sz="2500" b="1">
                <a:solidFill>
                  <a:srgbClr val="FFFFFF"/>
                </a:solidFill>
                <a:latin typeface="Calibri"/>
              </a:defRPr>
            </a:pPr>
            <a:r>
              <a:t>8. Kesimpulan dan rencana berikutnya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7395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850" b="0">
                <a:solidFill>
                  <a:srgbClr val="6B7280"/>
                </a:solidFill>
                <a:latin typeface="Calibri"/>
              </a:defRPr>
            </a:pPr>
            <a:r>
              <a:t>XCMAS: Xpora Consortium Multi-Agent System  |  Aditya Wahyu Wijanarko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850" b="0">
                <a:solidFill>
                  <a:srgbClr val="6B7280"/>
                </a:solidFill>
                <a:latin typeface="Calibri"/>
              </a:defRPr>
            </a:pPr>
            <a:r>
              <a:t>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005840"/>
            <a:ext cx="113385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1F2937"/>
                </a:solidFill>
                <a:latin typeface="Calibri"/>
              </a:defRPr>
            </a:pPr>
            <a:r>
              <a:t>XCMAS memodelkan alur ekspor konsorsium UMKM (RFQ, kuota produsen, QC, dokumen, carrier) sebagai sistem agen cerdas yang hibrida, aman, dan dapat diaudit; mesin yang sama berjalan pada tempe dan arang. OTIF naik 3% → 62% (Xpora) dan 3% → 52% (KrakaCoal) pada data sintetis. Multi-agen unggul tipis atas agen tunggal dan bergantung pada seberapa kedaluwarsa data pusat: rekomendasi akhir arsitektur hybrid.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743200"/>
            <a:ext cx="113385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 b="0">
                <a:solidFill>
                  <a:srgbClr val="1F2937"/>
                </a:solidFill>
                <a:latin typeface="Calibri"/>
              </a:defRPr>
            </a:pPr>
            <a:r>
              <a:t>• Kalibrasi dengan data nyata KrakaCoal (syarat pembayaran, harga beli per pemasok, tingkat gagal/reject, waktu balas) dan data pilot Xpora; ganti asumsi dengan estimasi.</a:t>
            </a:r>
          </a:p>
          <a:p>
            <a:pPr>
              <a:spcAft>
                <a:spcPts val="600"/>
              </a:spcAft>
              <a:defRPr sz="1250" b="0">
                <a:solidFill>
                  <a:srgbClr val="1F2937"/>
                </a:solidFill>
                <a:latin typeface="Calibri"/>
              </a:defRPr>
            </a:pPr>
            <a:r>
              <a:t>• Project #1 (tema domain enterprise): perluas ke Scout/Broker/Worker/Security (Bab 5), dashboard UI/UX (Command Center: peta kapasitas UMKM, status pesanan, QC), GNN untuk jaringan produsen-gudang-pelabuhan, dan perbandingan dengan sistem statis.</a:t>
            </a:r>
          </a:p>
          <a:p>
            <a:pPr>
              <a:spcAft>
                <a:spcPts val="600"/>
              </a:spcAft>
              <a:defRPr sz="1250" b="0">
                <a:solidFill>
                  <a:srgbClr val="1F2937"/>
                </a:solidFill>
                <a:latin typeface="Calibri"/>
              </a:defRPr>
            </a:pPr>
            <a:r>
              <a:t>• Integrasikan komponen yang dikembangkan tim Xpora: CNN QC (Grade A/B/Reject) menggantikan pass-rate statistik, LLM Virtual SDR menggantikan logika konsesi, dan WhatsApp Business API sebagai kanal agen produsen.</a:t>
            </a:r>
          </a:p>
          <a:p>
            <a:pPr>
              <a:spcAft>
                <a:spcPts val="600"/>
              </a:spcAft>
              <a:defRPr sz="1250" b="0">
                <a:solidFill>
                  <a:srgbClr val="1F2937"/>
                </a:solidFill>
                <a:latin typeface="Calibri"/>
              </a:defRPr>
            </a:pPr>
            <a:r>
              <a:t>• Perkuat RL (difference reward, replay terkontrol, safe-RL) dan bandingkan XGBoost untuk risiko roll-over; tambahkan uji drift dan retraining online.</a:t>
            </a:r>
          </a:p>
          <a:p>
            <a:pPr>
              <a:spcAft>
                <a:spcPts val="600"/>
              </a:spcAft>
              <a:defRPr sz="1250" b="0">
                <a:solidFill>
                  <a:srgbClr val="1F2937"/>
                </a:solidFill>
                <a:latin typeface="Calibri"/>
              </a:defRPr>
            </a:pPr>
            <a:r>
              <a:t>• Bandingkan dengan optimizer global (MILP/OR-Tools) sebagai batas atas optimalitas alokasi kuota.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400"/>
              </a:spcAft>
              <a:defRPr sz="2500" b="1">
                <a:solidFill>
                  <a:srgbClr val="FFFFFF"/>
                </a:solidFill>
                <a:latin typeface="Calibri"/>
              </a:defRPr>
            </a:pPr>
            <a:r>
              <a:t>Referensi dan repositori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7395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850" b="0">
                <a:solidFill>
                  <a:srgbClr val="6B7280"/>
                </a:solidFill>
                <a:latin typeface="Calibri"/>
              </a:defRPr>
            </a:pPr>
            <a:r>
              <a:t>XCMAS: Xpora Consortium Multi-Agent System  |  Aditya Wahyu Wijanarko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850" b="0">
                <a:solidFill>
                  <a:srgbClr val="6B7280"/>
                </a:solidFill>
                <a:latin typeface="Calibri"/>
              </a:defRPr>
            </a:pPr>
            <a:r>
              <a:t>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005840"/>
            <a:ext cx="113385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1F2937"/>
                </a:solidFill>
                <a:latin typeface="Calibri"/>
              </a:defRPr>
            </a:pPr>
            <a:r>
              <a:t>• Hathikal, S., Chung, S. H., &amp; Karczewski, M. (2020). Prediction of ocean import shipment lead time using machine learning methods. SN Applied Sciences, 2, 1272.</a:t>
            </a:r>
          </a:p>
          <a:p>
            <a:pPr>
              <a:spcAft>
                <a:spcPts val="500"/>
              </a:spcAft>
              <a:defRPr sz="1100" b="0">
                <a:solidFill>
                  <a:srgbClr val="1F2937"/>
                </a:solidFill>
                <a:latin typeface="Calibri"/>
              </a:defRPr>
            </a:pPr>
            <a:r>
              <a:t>• Lee, E., Kim, S., Kim, S., Jung, S., Kim, H., &amp; Cha, M. (2024). Explainable Product Classification for Customs. ACM Transactions on Intelligent Systems and Technology, 15(2), Art. 25. doi:10.1145/3635158.</a:t>
            </a:r>
          </a:p>
          <a:p>
            <a:pPr>
              <a:spcAft>
                <a:spcPts val="500"/>
              </a:spcAft>
              <a:defRPr sz="1100" b="0">
                <a:solidFill>
                  <a:srgbClr val="1F2937"/>
                </a:solidFill>
                <a:latin typeface="Calibri"/>
              </a:defRPr>
            </a:pPr>
            <a:r>
              <a:t>• Ouelhadj, D., &amp; Petrovic, S. (2009). A survey of dynamic scheduling in manufacturing systems. Journal of Scheduling, 12, 417-431. doi:10.1007/s10951-008-0090-8.</a:t>
            </a:r>
          </a:p>
          <a:p>
            <a:pPr>
              <a:spcAft>
                <a:spcPts val="500"/>
              </a:spcAft>
              <a:defRPr sz="1100" b="0">
                <a:solidFill>
                  <a:srgbClr val="1F2937"/>
                </a:solidFill>
                <a:latin typeface="Calibri"/>
              </a:defRPr>
            </a:pPr>
            <a:r>
              <a:t>• Smith, R. G. (1980). The Contract Net Protocol: High-level communication and control in a distributed problem solver. IEEE Transactions on Computers, C-29(12), 1104-1113.</a:t>
            </a:r>
          </a:p>
          <a:p>
            <a:pPr>
              <a:spcAft>
                <a:spcPts val="500"/>
              </a:spcAft>
              <a:defRPr sz="1100" b="0">
                <a:solidFill>
                  <a:srgbClr val="1F2937"/>
                </a:solidFill>
                <a:latin typeface="Calibri"/>
              </a:defRPr>
            </a:pPr>
            <a:r>
              <a:t>• Leitao, P. (2009). Agent-based distributed manufacturing control: A state-of-the-art survey. Engineering Applications of Artificial Intelligence, 22(7), 979-991.</a:t>
            </a:r>
          </a:p>
          <a:p>
            <a:pPr>
              <a:spcAft>
                <a:spcPts val="500"/>
              </a:spcAft>
              <a:defRPr sz="1100" b="0">
                <a:solidFill>
                  <a:srgbClr val="1F2937"/>
                </a:solidFill>
                <a:latin typeface="Calibri"/>
              </a:defRPr>
            </a:pPr>
            <a:r>
              <a:t>• Zhao, Z., Tang, D., Liu, C., Wang, L., Zhang, Z., Zhu, H., Chen, K., Nie, Q., &amp; Ji, Y. (2024). A Large Language Model-based multi-agent manufacturing system for intelligent shopfloor. arXiv:2405.16887.</a:t>
            </a:r>
          </a:p>
          <a:p>
            <a:pPr>
              <a:spcAft>
                <a:spcPts val="500"/>
              </a:spcAft>
              <a:defRPr sz="1100" b="0">
                <a:solidFill>
                  <a:srgbClr val="1F2937"/>
                </a:solidFill>
                <a:latin typeface="Calibri"/>
              </a:defRPr>
            </a:pPr>
            <a:r>
              <a:t>• Prof. Dr. Azhari MT. Materi kuliah AI Agentic Technology Systems for Digital Enterprise Ecosystem, Bab 1-5, UGM.</a:t>
            </a:r>
          </a:p>
          <a:p>
            <a:pPr>
              <a:spcAft>
                <a:spcPts val="500"/>
              </a:spcAft>
              <a:defRPr sz="1100" b="0">
                <a:solidFill>
                  <a:srgbClr val="1F2937"/>
                </a:solidFill>
                <a:latin typeface="Calibri"/>
              </a:defRPr>
            </a:pPr>
            <a:r>
              <a:t>• Tim Xpora (2026). Xpora 2nd Submission (Digdaya x Hackathon 2026, PIDI).</a:t>
            </a:r>
          </a:p>
          <a:p>
            <a:pPr>
              <a:spcAft>
                <a:spcPts val="500"/>
              </a:spcAft>
              <a:defRPr sz="1100" b="0">
                <a:solidFill>
                  <a:srgbClr val="1F2937"/>
                </a:solidFill>
                <a:latin typeface="Calibri"/>
              </a:defRPr>
            </a:pPr>
            <a:r>
              <a:t>• PT. Kraka Coal Indonesia. krakacoal.com (FAQ, produk, knowledge base).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5349240"/>
            <a:ext cx="11338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0F8B8D"/>
                </a:solidFill>
                <a:latin typeface="Calibri"/>
              </a:defRPr>
            </a:pPr>
            <a:r>
              <a:t>Kode: https://github.com/AdityaIKO/Agentic-Enterprise</a:t>
            </a:r>
          </a:p>
          <a:p>
            <a:pPr>
              <a:spcAft>
                <a:spcPts val="400"/>
              </a:spcAft>
              <a:defRPr sz="1200" b="0">
                <a:solidFill>
                  <a:srgbClr val="0F8B8D"/>
                </a:solidFill>
                <a:latin typeface="Calibri"/>
              </a:defRPr>
            </a:pPr>
            <a:r>
              <a:t>pip install -r requirements.txt · cd src &amp;&amp; python -m xpora_mas.experiments · python -m xpora_mas.figures · python docs/build_pdf.py · python docs/build_pptx.py · pytest tests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