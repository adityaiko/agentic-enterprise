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10698480" cy="1645920"/>
          </a:xfrm>
          <a:prstGeom prst="rect">
            <a:avLst/>
          </a:prstGeom>
          <a:noFill/>
        </p:spPr>
        <p:txBody>
          <a:bodyPr wrap="square">
            <a:spAutoFit/>
          </a:bodyPr>
          <a:lstStyle/>
          <a:p>
            <a:pPr>
              <a:spcAft>
                <a:spcPts val="400"/>
              </a:spcAft>
              <a:defRPr sz="3450" b="1">
                <a:solidFill>
                  <a:srgbClr val="000000"/>
                </a:solidFill>
                <a:latin typeface="Calibri"/>
              </a:defRPr>
            </a:pPr>
            <a:r>
              <a:t>KCMAS: Sistem Multi-Agen untuk Konsolidasi dan Ekspor Arang (KrakaCoal)</a:t>
            </a:r>
          </a:p>
        </p:txBody>
      </p:sp>
      <p:sp>
        <p:nvSpPr>
          <p:cNvPr id="4" name="TextBox 3"/>
          <p:cNvSpPr txBox="1"/>
          <p:nvPr/>
        </p:nvSpPr>
        <p:spPr>
          <a:xfrm>
            <a:off x="731520" y="3108960"/>
            <a:ext cx="10698480" cy="914400"/>
          </a:xfrm>
          <a:prstGeom prst="rect">
            <a:avLst/>
          </a:prstGeom>
          <a:noFill/>
        </p:spPr>
        <p:txBody>
          <a:bodyPr wrap="square">
            <a:spAutoFit/>
          </a:bodyPr>
          <a:lstStyle/>
          <a:p>
            <a:pPr>
              <a:spcAft>
                <a:spcPts val="400"/>
              </a:spcAft>
              <a:defRPr sz="2000" b="0">
                <a:solidFill>
                  <a:srgbClr val="333333"/>
                </a:solidFill>
                <a:latin typeface="Calibri"/>
              </a:defRPr>
            </a:pPr>
            <a:r>
              <a:t>Sistem agen cerdas yang mengubah permintaan pembeli menjadi kontainer arang yang terisi penuh dan berangkat tepat waktu, dari puluhan produsen kecil</a:t>
            </a:r>
          </a:p>
        </p:txBody>
      </p:sp>
      <p:sp>
        <p:nvSpPr>
          <p:cNvPr id="5" name="TextBox 4"/>
          <p:cNvSpPr txBox="1"/>
          <p:nvPr/>
        </p:nvSpPr>
        <p:spPr>
          <a:xfrm>
            <a:off x="731520" y="4206240"/>
            <a:ext cx="10698480" cy="1645920"/>
          </a:xfrm>
          <a:prstGeom prst="rect">
            <a:avLst/>
          </a:prstGeom>
          <a:noFill/>
        </p:spPr>
        <p:txBody>
          <a:bodyPr wrap="square">
            <a:spAutoFit/>
          </a:bodyPr>
          <a:lstStyle/>
          <a:p>
            <a:pPr>
              <a:spcAft>
                <a:spcPts val="400"/>
              </a:spcAft>
              <a:defRPr sz="1500" b="0">
                <a:solidFill>
                  <a:srgbClr val="000000"/>
                </a:solidFill>
                <a:latin typeface="Calibri"/>
              </a:defRPr>
            </a:pPr>
            <a:r>
              <a:t>Laporan Progres Tugas 1</a:t>
            </a:r>
          </a:p>
          <a:p>
            <a:pPr>
              <a:spcAft>
                <a:spcPts val="400"/>
              </a:spcAft>
              <a:defRPr sz="1500" b="0">
                <a:solidFill>
                  <a:srgbClr val="000000"/>
                </a:solidFill>
                <a:latin typeface="Calibri"/>
              </a:defRPr>
            </a:pPr>
            <a:r>
              <a:t>Agentic Enterprise (AI Agentic Technology Systems for Digital Enterprise Ecosystem) - Magister AI, Universitas Gadjah Mada</a:t>
            </a:r>
          </a:p>
          <a:p>
            <a:pPr>
              <a:spcAft>
                <a:spcPts val="400"/>
              </a:spcAft>
              <a:defRPr sz="1500" b="0">
                <a:solidFill>
                  <a:srgbClr val="000000"/>
                </a:solidFill>
                <a:latin typeface="Calibri"/>
              </a:defRPr>
            </a:pPr>
            <a:r>
              <a:t>Aditya Wahyu Wijanarko  |  NIM 25/574566/PPA/07251  |  pengerjaan individu</a:t>
            </a:r>
          </a:p>
          <a:p>
            <a:pPr>
              <a:spcAft>
                <a:spcPts val="400"/>
              </a:spcAft>
              <a:defRPr sz="1500" b="0">
                <a:solidFill>
                  <a:srgbClr val="000000"/>
                </a:solidFill>
                <a:latin typeface="Calibri"/>
              </a:defRPr>
            </a:pPr>
            <a:r>
              <a:t>https://github.com/AdityaIKO/Agentic-Enterprise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Ringkasan eksekutif</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a:t>
            </a:r>
          </a:p>
        </p:txBody>
      </p:sp>
      <p:graphicFrame>
        <p:nvGraphicFramePr>
          <p:cNvPr id="6" name="Table 5"/>
          <p:cNvGraphicFramePr>
            <a:graphicFrameLocks noGrp="1"/>
          </p:cNvGraphicFramePr>
          <p:nvPr/>
        </p:nvGraphicFramePr>
        <p:xfrm>
          <a:off x="411480" y="1005840"/>
          <a:ext cx="10424160" cy="1435100"/>
        </p:xfrm>
        <a:graphic>
          <a:graphicData uri="http://schemas.openxmlformats.org/drawingml/2006/table">
            <a:tbl>
              <a:tblPr firstRow="1" bandRow="1">
                <a:tableStyleId>{5C22544A-7EE6-4342-B048-85BDC9FD1C3A}</a:tableStyleId>
              </a:tblPr>
              <a:tblGrid>
                <a:gridCol w="3840480"/>
                <a:gridCol w="2194560"/>
                <a:gridCol w="2194560"/>
                <a:gridCol w="2194560"/>
              </a:tblGrid>
              <a:tr h="287020">
                <a:tc>
                  <a:txBody>
                    <a:bodyPr/>
                    <a:lstStyle/>
                    <a:p>
                      <a:pPr>
                        <a:defRPr sz="1300" b="1">
                          <a:solidFill>
                            <a:srgbClr val="000000"/>
                          </a:solidFill>
                          <a:latin typeface="Calibri"/>
                        </a:defRPr>
                      </a:pPr>
                      <a:r>
                        <a:t>Metrik (rata-rata 300 skenario)</a:t>
                      </a:r>
                    </a:p>
                  </a:txBody>
                  <a:tcPr marL="54864" marR="54864" marT="18288" marB="18288">
                    <a:solidFill>
                      <a:srgbClr val="E5E7EB"/>
                    </a:solidFill>
                  </a:tcPr>
                </a:tc>
                <a:tc>
                  <a:txBody>
                    <a:bodyPr/>
                    <a:lstStyle/>
                    <a:p>
                      <a:pPr>
                        <a:defRPr sz="1300" b="1">
                          <a:solidFill>
                            <a:srgbClr val="000000"/>
                          </a:solidFill>
                          <a:latin typeface="Calibri"/>
                        </a:defRPr>
                      </a:pPr>
                      <a:r>
                        <a:t>Manual</a:t>
                      </a:r>
                    </a:p>
                  </a:txBody>
                  <a:tcPr marL="54864" marR="54864" marT="18288" marB="18288">
                    <a:solidFill>
                      <a:srgbClr val="E5E7EB"/>
                    </a:solidFill>
                  </a:tcPr>
                </a:tc>
                <a:tc>
                  <a:txBody>
                    <a:bodyPr/>
                    <a:lstStyle/>
                    <a:p>
                      <a:pPr>
                        <a:defRPr sz="1300" b="1">
                          <a:solidFill>
                            <a:srgbClr val="000000"/>
                          </a:solidFill>
                          <a:latin typeface="Calibri"/>
                        </a:defRPr>
                      </a:pPr>
                      <a:r>
                        <a:t>Agen tunggal</a:t>
                      </a:r>
                    </a:p>
                  </a:txBody>
                  <a:tcPr marL="54864" marR="54864" marT="18288" marB="18288">
                    <a:solidFill>
                      <a:srgbClr val="E5E7EB"/>
                    </a:solidFill>
                  </a:tcPr>
                </a:tc>
                <a:tc>
                  <a:txBody>
                    <a:bodyPr/>
                    <a:lstStyle/>
                    <a:p>
                      <a:pPr>
                        <a:defRPr sz="1300" b="1">
                          <a:solidFill>
                            <a:srgbClr val="000000"/>
                          </a:solidFill>
                          <a:latin typeface="Calibri"/>
                        </a:defRPr>
                      </a:pPr>
                      <a:r>
                        <a:t>Multi-agen</a:t>
                      </a:r>
                    </a:p>
                  </a:txBody>
                  <a:tcPr marL="54864" marR="54864" marT="18288" marB="18288">
                    <a:solidFill>
                      <a:srgbClr val="E5E7EB"/>
                    </a:solidFill>
                  </a:tcPr>
                </a:tc>
              </a:tr>
              <a:tr h="287020">
                <a:tc>
                  <a:txBody>
                    <a:bodyPr/>
                    <a:lstStyle/>
                    <a:p>
                      <a:pPr>
                        <a:defRPr sz="1300" b="0">
                          <a:solidFill>
                            <a:srgbClr val="000000"/>
                          </a:solidFill>
                          <a:latin typeface="Calibri"/>
                        </a:defRPr>
                      </a:pPr>
                      <a:r>
                        <a:t>OTIF</a:t>
                      </a:r>
                    </a:p>
                  </a:txBody>
                  <a:tcPr marL="54864" marR="54864" marT="18288" marB="18288">
                    <a:solidFill>
                      <a:srgbClr val="FFFFFF"/>
                    </a:solidFill>
                  </a:tcPr>
                </a:tc>
                <a:tc>
                  <a:txBody>
                    <a:bodyPr/>
                    <a:lstStyle/>
                    <a:p>
                      <a:pPr>
                        <a:defRPr sz="1300" b="0">
                          <a:solidFill>
                            <a:srgbClr val="000000"/>
                          </a:solidFill>
                          <a:latin typeface="Calibri"/>
                        </a:defRPr>
                      </a:pPr>
                      <a:r>
                        <a:t>2,8%</a:t>
                      </a:r>
                    </a:p>
                  </a:txBody>
                  <a:tcPr marL="54864" marR="54864" marT="18288" marB="18288">
                    <a:solidFill>
                      <a:srgbClr val="FFFFFF"/>
                    </a:solidFill>
                  </a:tcPr>
                </a:tc>
                <a:tc>
                  <a:txBody>
                    <a:bodyPr/>
                    <a:lstStyle/>
                    <a:p>
                      <a:pPr>
                        <a:defRPr sz="1300" b="0">
                          <a:solidFill>
                            <a:srgbClr val="000000"/>
                          </a:solidFill>
                          <a:latin typeface="Calibri"/>
                        </a:defRPr>
                      </a:pPr>
                      <a:r>
                        <a:t>45,2%</a:t>
                      </a:r>
                    </a:p>
                  </a:txBody>
                  <a:tcPr marL="54864" marR="54864" marT="18288" marB="18288">
                    <a:solidFill>
                      <a:srgbClr val="FFFFFF"/>
                    </a:solidFill>
                  </a:tcPr>
                </a:tc>
                <a:tc>
                  <a:txBody>
                    <a:bodyPr/>
                    <a:lstStyle/>
                    <a:p>
                      <a:pPr>
                        <a:defRPr sz="1300" b="0">
                          <a:solidFill>
                            <a:srgbClr val="000000"/>
                          </a:solidFill>
                          <a:latin typeface="Calibri"/>
                        </a:defRPr>
                      </a:pPr>
                      <a:r>
                        <a:t>51,7%</a:t>
                      </a:r>
                    </a:p>
                  </a:txBody>
                  <a:tcPr marL="54864" marR="54864" marT="18288" marB="18288">
                    <a:solidFill>
                      <a:srgbClr val="FFFFFF"/>
                    </a:solidFill>
                  </a:tcPr>
                </a:tc>
              </a:tr>
              <a:tr h="287020">
                <a:tc>
                  <a:txBody>
                    <a:bodyPr/>
                    <a:lstStyle/>
                    <a:p>
                      <a:pPr>
                        <a:defRPr sz="1300" b="0">
                          <a:solidFill>
                            <a:srgbClr val="000000"/>
                          </a:solidFill>
                          <a:latin typeface="Calibri"/>
                        </a:defRPr>
                      </a:pPr>
                      <a:r>
                        <a:t>Fill rate</a:t>
                      </a:r>
                    </a:p>
                  </a:txBody>
                  <a:tcPr marL="54864" marR="54864" marT="18288" marB="18288">
                    <a:solidFill>
                      <a:srgbClr val="FFFFFF"/>
                    </a:solidFill>
                  </a:tcPr>
                </a:tc>
                <a:tc>
                  <a:txBody>
                    <a:bodyPr/>
                    <a:lstStyle/>
                    <a:p>
                      <a:pPr>
                        <a:defRPr sz="1300" b="0">
                          <a:solidFill>
                            <a:srgbClr val="000000"/>
                          </a:solidFill>
                          <a:latin typeface="Calibri"/>
                        </a:defRPr>
                      </a:pPr>
                      <a:r>
                        <a:t>78,6%</a:t>
                      </a:r>
                    </a:p>
                  </a:txBody>
                  <a:tcPr marL="54864" marR="54864" marT="18288" marB="18288">
                    <a:solidFill>
                      <a:srgbClr val="FFFFFF"/>
                    </a:solidFill>
                  </a:tcPr>
                </a:tc>
                <a:tc>
                  <a:txBody>
                    <a:bodyPr/>
                    <a:lstStyle/>
                    <a:p>
                      <a:pPr>
                        <a:defRPr sz="1300" b="0">
                          <a:solidFill>
                            <a:srgbClr val="000000"/>
                          </a:solidFill>
                          <a:latin typeface="Calibri"/>
                        </a:defRPr>
                      </a:pPr>
                      <a:r>
                        <a:t>94,4%</a:t>
                      </a:r>
                    </a:p>
                  </a:txBody>
                  <a:tcPr marL="54864" marR="54864" marT="18288" marB="18288">
                    <a:solidFill>
                      <a:srgbClr val="FFFFFF"/>
                    </a:solidFill>
                  </a:tcPr>
                </a:tc>
                <a:tc>
                  <a:txBody>
                    <a:bodyPr/>
                    <a:lstStyle/>
                    <a:p>
                      <a:pPr>
                        <a:defRPr sz="1300" b="0">
                          <a:solidFill>
                            <a:srgbClr val="000000"/>
                          </a:solidFill>
                          <a:latin typeface="Calibri"/>
                        </a:defRPr>
                      </a:pPr>
                      <a:r>
                        <a:t>95,4%</a:t>
                      </a:r>
                    </a:p>
                  </a:txBody>
                  <a:tcPr marL="54864" marR="54864" marT="18288" marB="18288">
                    <a:solidFill>
                      <a:srgbClr val="FFFFFF"/>
                    </a:solidFill>
                  </a:tcPr>
                </a:tc>
              </a:tr>
              <a:tr h="287020">
                <a:tc>
                  <a:txBody>
                    <a:bodyPr/>
                    <a:lstStyle/>
                    <a:p>
                      <a:pPr>
                        <a:defRPr sz="1300" b="0">
                          <a:solidFill>
                            <a:srgbClr val="000000"/>
                          </a:solidFill>
                          <a:latin typeface="Calibri"/>
                        </a:defRPr>
                      </a:pPr>
                      <a:r>
                        <a:t>Margin per order</a:t>
                      </a:r>
                    </a:p>
                  </a:txBody>
                  <a:tcPr marL="54864" marR="54864" marT="18288" marB="18288">
                    <a:solidFill>
                      <a:srgbClr val="FFFFFF"/>
                    </a:solidFill>
                  </a:tcPr>
                </a:tc>
                <a:tc>
                  <a:txBody>
                    <a:bodyPr/>
                    <a:lstStyle/>
                    <a:p>
                      <a:pPr>
                        <a:defRPr sz="1300" b="0">
                          <a:solidFill>
                            <a:srgbClr val="000000"/>
                          </a:solidFill>
                          <a:latin typeface="Calibri"/>
                        </a:defRPr>
                      </a:pPr>
                      <a:r>
                        <a:t>$4.199</a:t>
                      </a:r>
                    </a:p>
                  </a:txBody>
                  <a:tcPr marL="54864" marR="54864" marT="18288" marB="18288">
                    <a:solidFill>
                      <a:srgbClr val="FFFFFF"/>
                    </a:solidFill>
                  </a:tcPr>
                </a:tc>
                <a:tc>
                  <a:txBody>
                    <a:bodyPr/>
                    <a:lstStyle/>
                    <a:p>
                      <a:pPr>
                        <a:defRPr sz="1300" b="0">
                          <a:solidFill>
                            <a:srgbClr val="000000"/>
                          </a:solidFill>
                          <a:latin typeface="Calibri"/>
                        </a:defRPr>
                      </a:pPr>
                      <a:r>
                        <a:t>$6.925</a:t>
                      </a:r>
                    </a:p>
                  </a:txBody>
                  <a:tcPr marL="54864" marR="54864" marT="18288" marB="18288">
                    <a:solidFill>
                      <a:srgbClr val="FFFFFF"/>
                    </a:solidFill>
                  </a:tcPr>
                </a:tc>
                <a:tc>
                  <a:txBody>
                    <a:bodyPr/>
                    <a:lstStyle/>
                    <a:p>
                      <a:pPr>
                        <a:defRPr sz="1300" b="0">
                          <a:solidFill>
                            <a:srgbClr val="000000"/>
                          </a:solidFill>
                          <a:latin typeface="Calibri"/>
                        </a:defRPr>
                      </a:pPr>
                      <a:r>
                        <a:t>$7.050</a:t>
                      </a:r>
                    </a:p>
                  </a:txBody>
                  <a:tcPr marL="54864" marR="54864" marT="18288" marB="18288">
                    <a:solidFill>
                      <a:srgbClr val="FFFFFF"/>
                    </a:solidFill>
                  </a:tcPr>
                </a:tc>
              </a:tr>
              <a:tr h="287020">
                <a:tc>
                  <a:txBody>
                    <a:bodyPr/>
                    <a:lstStyle/>
                    <a:p>
                      <a:pPr>
                        <a:defRPr sz="1300" b="0">
                          <a:solidFill>
                            <a:srgbClr val="000000"/>
                          </a:solidFill>
                          <a:latin typeface="Calibri"/>
                        </a:defRPr>
                      </a:pPr>
                      <a:r>
                        <a:t>Sentuhan manusia per order</a:t>
                      </a:r>
                    </a:p>
                  </a:txBody>
                  <a:tcPr marL="54864" marR="54864" marT="18288" marB="18288">
                    <a:solidFill>
                      <a:srgbClr val="FFFFFF"/>
                    </a:solidFill>
                  </a:tcPr>
                </a:tc>
                <a:tc>
                  <a:txBody>
                    <a:bodyPr/>
                    <a:lstStyle/>
                    <a:p>
                      <a:pPr>
                        <a:defRPr sz="1300" b="0">
                          <a:solidFill>
                            <a:srgbClr val="000000"/>
                          </a:solidFill>
                          <a:latin typeface="Calibri"/>
                        </a:defRPr>
                      </a:pPr>
                      <a:r>
                        <a:t>78,4</a:t>
                      </a:r>
                    </a:p>
                  </a:txBody>
                  <a:tcPr marL="54864" marR="54864" marT="18288" marB="18288">
                    <a:solidFill>
                      <a:srgbClr val="FFFFFF"/>
                    </a:solidFill>
                  </a:tcPr>
                </a:tc>
                <a:tc>
                  <a:txBody>
                    <a:bodyPr/>
                    <a:lstStyle/>
                    <a:p>
                      <a:pPr>
                        <a:defRPr sz="1300" b="0">
                          <a:solidFill>
                            <a:srgbClr val="000000"/>
                          </a:solidFill>
                          <a:latin typeface="Calibri"/>
                        </a:defRPr>
                      </a:pPr>
                      <a:r>
                        <a:t>1,3</a:t>
                      </a:r>
                    </a:p>
                  </a:txBody>
                  <a:tcPr marL="54864" marR="54864" marT="18288" marB="18288">
                    <a:solidFill>
                      <a:srgbClr val="FFFFFF"/>
                    </a:solidFill>
                  </a:tcPr>
                </a:tc>
                <a:tc>
                  <a:txBody>
                    <a:bodyPr/>
                    <a:lstStyle/>
                    <a:p>
                      <a:pPr>
                        <a:defRPr sz="1300" b="0">
                          <a:solidFill>
                            <a:srgbClr val="000000"/>
                          </a:solidFill>
                          <a:latin typeface="Calibri"/>
                        </a:defRPr>
                      </a:pPr>
                      <a:r>
                        <a:t>1,3</a:t>
                      </a:r>
                    </a:p>
                  </a:txBody>
                  <a:tcPr marL="54864" marR="54864" marT="18288" marB="18288">
                    <a:solidFill>
                      <a:srgbClr val="FFFFFF"/>
                    </a:solidFill>
                  </a:tcPr>
                </a:tc>
              </a:tr>
            </a:tbl>
          </a:graphicData>
        </a:graphic>
      </p:graphicFrame>
      <p:graphicFrame>
        <p:nvGraphicFramePr>
          <p:cNvPr id="7" name="Table 6"/>
          <p:cNvGraphicFramePr>
            <a:graphicFrameLocks noGrp="1"/>
          </p:cNvGraphicFramePr>
          <p:nvPr/>
        </p:nvGraphicFramePr>
        <p:xfrm>
          <a:off x="411480" y="3246120"/>
          <a:ext cx="11338560" cy="2131058"/>
        </p:xfrm>
        <a:graphic>
          <a:graphicData uri="http://schemas.openxmlformats.org/drawingml/2006/table">
            <a:tbl>
              <a:tblPr firstRow="1" bandRow="1">
                <a:tableStyleId>{5C22544A-7EE6-4342-B048-85BDC9FD1C3A}</a:tableStyleId>
              </a:tblPr>
              <a:tblGrid>
                <a:gridCol w="2743200"/>
                <a:gridCol w="8595360"/>
              </a:tblGrid>
              <a:tr h="256540">
                <a:tc>
                  <a:txBody>
                    <a:bodyPr/>
                    <a:lstStyle/>
                    <a:p>
                      <a:pPr>
                        <a:defRPr sz="1100" b="1">
                          <a:solidFill>
                            <a:srgbClr val="000000"/>
                          </a:solidFill>
                          <a:latin typeface="Calibri"/>
                        </a:defRPr>
                      </a:pPr>
                      <a:r>
                        <a:t>Istilah pada tabel</a:t>
                      </a:r>
                    </a:p>
                  </a:txBody>
                  <a:tcPr marL="54864" marR="54864" marT="18288" marB="18288">
                    <a:solidFill>
                      <a:srgbClr val="E5E7EB"/>
                    </a:solidFill>
                  </a:tcPr>
                </a:tc>
                <a:tc>
                  <a:txBody>
                    <a:bodyPr/>
                    <a:lstStyle/>
                    <a:p>
                      <a:pPr>
                        <a:defRPr sz="1100" b="1">
                          <a:solidFill>
                            <a:srgbClr val="000000"/>
                          </a:solidFill>
                          <a:latin typeface="Calibri"/>
                        </a:defRPr>
                      </a:pPr>
                      <a:r>
                        <a:t>Artinya</a:t>
                      </a:r>
                    </a:p>
                  </a:txBody>
                  <a:tcPr marL="54864" marR="54864" marT="18288" marB="18288">
                    <a:solidFill>
                      <a:srgbClr val="E5E7EB"/>
                    </a:solidFill>
                  </a:tcPr>
                </a:tc>
              </a:tr>
              <a:tr h="424179">
                <a:tc>
                  <a:txBody>
                    <a:bodyPr/>
                    <a:lstStyle/>
                    <a:p>
                      <a:pPr>
                        <a:defRPr sz="1100" b="0">
                          <a:solidFill>
                            <a:srgbClr val="000000"/>
                          </a:solidFill>
                          <a:latin typeface="Calibri"/>
                        </a:defRPr>
                      </a:pPr>
                      <a:r>
                        <a:t>OTIF (On Time In Full)</a:t>
                      </a:r>
                    </a:p>
                  </a:txBody>
                  <a:tcPr marL="54864" marR="54864" marT="18288" marB="18288">
                    <a:solidFill>
                      <a:srgbClr val="FFFFFF"/>
                    </a:solidFill>
                  </a:tcPr>
                </a:tc>
                <a:tc>
                  <a:txBody>
                    <a:bodyPr/>
                    <a:lstStyle/>
                    <a:p>
                      <a:pPr>
                        <a:defRPr sz="1100" b="0">
                          <a:solidFill>
                            <a:srgbClr val="000000"/>
                          </a:solidFill>
                          <a:latin typeface="Calibri"/>
                        </a:defRPr>
                      </a:pPr>
                      <a:r>
                        <a:t>Persentase order yang berangkat paling lambat pada tanggal batas kirim (LSD) DAN jumlah kg yang lolos uji mutu minimal 98% dari yang dipesan. Ini ukuran utama.</a:t>
                      </a:r>
                    </a:p>
                  </a:txBody>
                  <a:tcPr marL="54864" marR="54864" marT="18288" marB="18288">
                    <a:solidFill>
                      <a:srgbClr val="FFFFFF"/>
                    </a:solidFill>
                  </a:tcPr>
                </a:tc>
              </a:tr>
              <a:tr h="256540">
                <a:tc>
                  <a:txBody>
                    <a:bodyPr/>
                    <a:lstStyle/>
                    <a:p>
                      <a:pPr>
                        <a:defRPr sz="1100" b="0">
                          <a:solidFill>
                            <a:srgbClr val="000000"/>
                          </a:solidFill>
                          <a:latin typeface="Calibri"/>
                        </a:defRPr>
                      </a:pPr>
                      <a:r>
                        <a:t>Tepat waktu</a:t>
                      </a:r>
                    </a:p>
                  </a:txBody>
                  <a:tcPr marL="54864" marR="54864" marT="18288" marB="18288">
                    <a:solidFill>
                      <a:srgbClr val="FFFFFF"/>
                    </a:solidFill>
                  </a:tcPr>
                </a:tc>
                <a:tc>
                  <a:txBody>
                    <a:bodyPr/>
                    <a:lstStyle/>
                    <a:p>
                      <a:pPr>
                        <a:defRPr sz="1100" b="0">
                          <a:solidFill>
                            <a:srgbClr val="000000"/>
                          </a:solidFill>
                          <a:latin typeface="Calibri"/>
                        </a:defRPr>
                      </a:pPr>
                      <a:r>
                        <a:t>Persentase order yang berangkat sebelum LSD, tanpa memperhitungkan kelengkapan.</a:t>
                      </a:r>
                    </a:p>
                  </a:txBody>
                  <a:tcPr marL="54864" marR="54864" marT="18288" marB="18288">
                    <a:solidFill>
                      <a:srgbClr val="FFFFFF"/>
                    </a:solidFill>
                  </a:tcPr>
                </a:tc>
              </a:tr>
              <a:tr h="256540">
                <a:tc>
                  <a:txBody>
                    <a:bodyPr/>
                    <a:lstStyle/>
                    <a:p>
                      <a:pPr>
                        <a:defRPr sz="1100" b="0">
                          <a:solidFill>
                            <a:srgbClr val="000000"/>
                          </a:solidFill>
                          <a:latin typeface="Calibri"/>
                        </a:defRPr>
                      </a:pPr>
                      <a:r>
                        <a:t>Fill rate</a:t>
                      </a:r>
                    </a:p>
                  </a:txBody>
                  <a:tcPr marL="54864" marR="54864" marT="18288" marB="18288">
                    <a:solidFill>
                      <a:srgbClr val="FFFFFF"/>
                    </a:solidFill>
                  </a:tcPr>
                </a:tc>
                <a:tc>
                  <a:txBody>
                    <a:bodyPr/>
                    <a:lstStyle/>
                    <a:p>
                      <a:pPr>
                        <a:defRPr sz="1100" b="0">
                          <a:solidFill>
                            <a:srgbClr val="000000"/>
                          </a:solidFill>
                          <a:latin typeface="Calibri"/>
                        </a:defRPr>
                      </a:pPr>
                      <a:r>
                        <a:t>Rata-rata (kg yang lolos uji mutu dibagi kg yang dipesan) per order.</a:t>
                      </a:r>
                    </a:p>
                  </a:txBody>
                  <a:tcPr marL="54864" marR="54864" marT="18288" marB="18288">
                    <a:solidFill>
                      <a:srgbClr val="FFFFFF"/>
                    </a:solidFill>
                  </a:tcPr>
                </a:tc>
              </a:tr>
              <a:tr h="424179">
                <a:tc>
                  <a:txBody>
                    <a:bodyPr/>
                    <a:lstStyle/>
                    <a:p>
                      <a:pPr>
                        <a:defRPr sz="1100" b="0">
                          <a:solidFill>
                            <a:srgbClr val="000000"/>
                          </a:solidFill>
                          <a:latin typeface="Calibri"/>
                        </a:defRPr>
                      </a:pPr>
                      <a:r>
                        <a:t>Margin per order</a:t>
                      </a:r>
                    </a:p>
                  </a:txBody>
                  <a:tcPr marL="54864" marR="54864" marT="18288" marB="18288">
                    <a:solidFill>
                      <a:srgbClr val="FFFFFF"/>
                    </a:solidFill>
                  </a:tcPr>
                </a:tc>
                <a:tc>
                  <a:txBody>
                    <a:bodyPr/>
                    <a:lstStyle/>
                    <a:p>
                      <a:pPr>
                        <a:defRPr sz="1100" b="0">
                          <a:solidFill>
                            <a:srgbClr val="000000"/>
                          </a:solidFill>
                          <a:latin typeface="Calibri"/>
                        </a:defRPr>
                      </a:pPr>
                      <a:r>
                        <a:t>Pendapatan dikurangi semua biaya (bahan dari produsen, freight, denda keterlambatan, penyimpanan, lembur, biaya waktu manusia, limbah surplus), rata-rata per order, dalam USD.</a:t>
                      </a:r>
                    </a:p>
                  </a:txBody>
                  <a:tcPr marL="54864" marR="54864" marT="18288" marB="18288">
                    <a:solidFill>
                      <a:srgbClr val="FFFFFF"/>
                    </a:solidFill>
                  </a:tcPr>
                </a:tc>
              </a:tr>
              <a:tr h="256540">
                <a:tc>
                  <a:txBody>
                    <a:bodyPr/>
                    <a:lstStyle/>
                    <a:p>
                      <a:pPr>
                        <a:defRPr sz="1100" b="0">
                          <a:solidFill>
                            <a:srgbClr val="000000"/>
                          </a:solidFill>
                          <a:latin typeface="Calibri"/>
                        </a:defRPr>
                      </a:pPr>
                      <a:r>
                        <a:t>Sentuhan manusia</a:t>
                      </a:r>
                    </a:p>
                  </a:txBody>
                  <a:tcPr marL="54864" marR="54864" marT="18288" marB="18288">
                    <a:solidFill>
                      <a:srgbClr val="FFFFFF"/>
                    </a:solidFill>
                  </a:tcPr>
                </a:tc>
                <a:tc>
                  <a:txBody>
                    <a:bodyPr/>
                    <a:lstStyle/>
                    <a:p>
                      <a:pPr>
                        <a:defRPr sz="1100" b="0">
                          <a:solidFill>
                            <a:srgbClr val="000000"/>
                          </a:solidFill>
                          <a:latin typeface="Calibri"/>
                        </a:defRPr>
                      </a:pPr>
                      <a:r>
                        <a:t>Berapa kali seseorang harus turun tangan per order (mengirim pesan, memverifikasi, memeriksa).</a:t>
                      </a:r>
                    </a:p>
                  </a:txBody>
                  <a:tcPr marL="54864" marR="54864" marT="18288" marB="18288">
                    <a:solidFill>
                      <a:srgbClr val="FFFFFF"/>
                    </a:solidFill>
                  </a:tcPr>
                </a:tc>
              </a:tr>
              <a:tr h="256540">
                <a:tc>
                  <a:txBody>
                    <a:bodyPr/>
                    <a:lstStyle/>
                    <a:p>
                      <a:pPr>
                        <a:defRPr sz="1100" b="0">
                          <a:solidFill>
                            <a:srgbClr val="000000"/>
                          </a:solidFill>
                          <a:latin typeface="Calibri"/>
                        </a:defRPr>
                      </a:pPr>
                      <a:r>
                        <a:t>Angka dalam tabel</a:t>
                      </a:r>
                    </a:p>
                  </a:txBody>
                  <a:tcPr marL="54864" marR="54864" marT="18288" marB="18288">
                    <a:solidFill>
                      <a:srgbClr val="FFFFFF"/>
                    </a:solidFill>
                  </a:tcPr>
                </a:tc>
                <a:tc>
                  <a:txBody>
                    <a:bodyPr/>
                    <a:lstStyle/>
                    <a:p>
                      <a:pPr>
                        <a:defRPr sz="1100" b="0">
                          <a:solidFill>
                            <a:srgbClr val="000000"/>
                          </a:solidFill>
                          <a:latin typeface="Calibri"/>
                        </a:defRPr>
                      </a:pPr>
                      <a:r>
                        <a:t>Rata-rata dari 300 skenario simulasi yang sama untuk ketiga sistem; [a; b] adalah rentang kepercayaan 95%.</a:t>
                      </a:r>
                    </a:p>
                  </a:txBody>
                  <a:tcPr marL="54864" marR="54864" marT="18288" marB="1828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Peta jawaban Tugas 1</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a:t>
            </a:r>
          </a:p>
        </p:txBody>
      </p:sp>
      <p:graphicFrame>
        <p:nvGraphicFramePr>
          <p:cNvPr id="6" name="Table 5"/>
          <p:cNvGraphicFramePr>
            <a:graphicFrameLocks noGrp="1"/>
          </p:cNvGraphicFramePr>
          <p:nvPr/>
        </p:nvGraphicFramePr>
        <p:xfrm>
          <a:off x="411480" y="1051560"/>
          <a:ext cx="11338560" cy="4541515"/>
        </p:xfrm>
        <a:graphic>
          <a:graphicData uri="http://schemas.openxmlformats.org/drawingml/2006/table">
            <a:tbl>
              <a:tblPr firstRow="1" bandRow="1">
                <a:tableStyleId>{5C22544A-7EE6-4342-B048-85BDC9FD1C3A}</a:tableStyleId>
              </a:tblPr>
              <a:tblGrid>
                <a:gridCol w="2926080"/>
                <a:gridCol w="7315200"/>
                <a:gridCol w="1097280"/>
              </a:tblGrid>
              <a:tr h="271780">
                <a:tc>
                  <a:txBody>
                    <a:bodyPr/>
                    <a:lstStyle/>
                    <a:p>
                      <a:pPr>
                        <a:defRPr sz="1200" b="1">
                          <a:solidFill>
                            <a:srgbClr val="000000"/>
                          </a:solidFill>
                          <a:latin typeface="Calibri"/>
                        </a:defRPr>
                      </a:pPr>
                      <a:r>
                        <a:t>Instruksi</a:t>
                      </a:r>
                    </a:p>
                  </a:txBody>
                  <a:tcPr marL="54864" marR="54864" marT="18288" marB="18288">
                    <a:solidFill>
                      <a:srgbClr val="E5E7EB"/>
                    </a:solidFill>
                  </a:tcPr>
                </a:tc>
                <a:tc>
                  <a:txBody>
                    <a:bodyPr/>
                    <a:lstStyle/>
                    <a:p>
                      <a:pPr>
                        <a:defRPr sz="1200" b="1">
                          <a:solidFill>
                            <a:srgbClr val="000000"/>
                          </a:solidFill>
                          <a:latin typeface="Calibri"/>
                        </a:defRPr>
                      </a:pPr>
                      <a:r>
                        <a:t>Jawaban</a:t>
                      </a:r>
                    </a:p>
                  </a:txBody>
                  <a:tcPr marL="54864" marR="54864" marT="18288" marB="18288">
                    <a:solidFill>
                      <a:srgbClr val="E5E7EB"/>
                    </a:solidFill>
                  </a:tcPr>
                </a:tc>
                <a:tc>
                  <a:txBody>
                    <a:bodyPr/>
                    <a:lstStyle/>
                    <a:p>
                      <a:pPr>
                        <a:defRPr sz="1200" b="1">
                          <a:solidFill>
                            <a:srgbClr val="000000"/>
                          </a:solidFill>
                          <a:latin typeface="Calibri"/>
                        </a:defRPr>
                      </a:pPr>
                      <a:r>
                        <a:t>Lokasi</a:t>
                      </a:r>
                    </a:p>
                  </a:txBody>
                  <a:tcPr marL="54864" marR="54864" marT="18288" marB="18288">
                    <a:solidFill>
                      <a:srgbClr val="E5E7EB"/>
                    </a:solidFill>
                  </a:tcPr>
                </a:tc>
              </a:tr>
              <a:tr h="454659">
                <a:tc>
                  <a:txBody>
                    <a:bodyPr/>
                    <a:lstStyle/>
                    <a:p>
                      <a:pPr>
                        <a:defRPr sz="1200" b="0">
                          <a:solidFill>
                            <a:srgbClr val="000000"/>
                          </a:solidFill>
                          <a:latin typeface="Calibri"/>
                        </a:defRPr>
                      </a:pPr>
                      <a:r>
                        <a:t>Gunakan topik yang dipilih</a:t>
                      </a:r>
                    </a:p>
                  </a:txBody>
                  <a:tcPr marL="54864" marR="54864" marT="18288" marB="18288">
                    <a:solidFill>
                      <a:srgbClr val="FFFFFF"/>
                    </a:solidFill>
                  </a:tcPr>
                </a:tc>
                <a:tc>
                  <a:txBody>
                    <a:bodyPr/>
                    <a:lstStyle/>
                    <a:p>
                      <a:pPr>
                        <a:defRPr sz="1200" b="0">
                          <a:solidFill>
                            <a:srgbClr val="000000"/>
                          </a:solidFill>
                          <a:latin typeface="Calibri"/>
                        </a:defRPr>
                      </a:pPr>
                      <a:r>
                        <a:t>Topik: KCMAS, sistem multi-agen untuk konsolidasi dan ekspor arang (KrakaCoal). Tidak diambil kelompok 1-6.</a:t>
                      </a:r>
                    </a:p>
                  </a:txBody>
                  <a:tcPr marL="54864" marR="54864" marT="18288" marB="18288">
                    <a:solidFill>
                      <a:srgbClr val="FFFFFF"/>
                    </a:solidFill>
                  </a:tcPr>
                </a:tc>
                <a:tc>
                  <a:txBody>
                    <a:bodyPr/>
                    <a:lstStyle/>
                    <a:p>
                      <a:pPr>
                        <a:defRPr sz="1200" b="0">
                          <a:solidFill>
                            <a:srgbClr val="000000"/>
                          </a:solidFill>
                          <a:latin typeface="Calibri"/>
                        </a:defRPr>
                      </a:pPr>
                      <a:r>
                        <a:t>Bagian 1, 2</a:t>
                      </a:r>
                    </a:p>
                  </a:txBody>
                  <a:tcPr marL="54864" marR="54864" marT="18288" marB="18288">
                    <a:solidFill>
                      <a:srgbClr val="FFFFFF"/>
                    </a:solidFill>
                  </a:tcPr>
                </a:tc>
              </a:tr>
              <a:tr h="271780">
                <a:tc>
                  <a:txBody>
                    <a:bodyPr/>
                    <a:lstStyle/>
                    <a:p>
                      <a:pPr>
                        <a:defRPr sz="1200" b="0">
                          <a:solidFill>
                            <a:srgbClr val="000000"/>
                          </a:solidFill>
                          <a:latin typeface="Calibri"/>
                        </a:defRPr>
                      </a:pPr>
                      <a:r>
                        <a:t>Upload laporan progres</a:t>
                      </a:r>
                    </a:p>
                  </a:txBody>
                  <a:tcPr marL="54864" marR="54864" marT="18288" marB="18288">
                    <a:solidFill>
                      <a:srgbClr val="FFFFFF"/>
                    </a:solidFill>
                  </a:tcPr>
                </a:tc>
                <a:tc>
                  <a:txBody>
                    <a:bodyPr/>
                    <a:lstStyle/>
                    <a:p>
                      <a:pPr>
                        <a:defRPr sz="1200" b="0">
                          <a:solidFill>
                            <a:srgbClr val="000000"/>
                          </a:solidFill>
                          <a:latin typeface="Calibri"/>
                        </a:defRPr>
                      </a:pPr>
                      <a:r>
                        <a:t>Dokumen ini (PDF) + slide (PPTX) + kode GitHub</a:t>
                      </a:r>
                    </a:p>
                  </a:txBody>
                  <a:tcPr marL="54864" marR="54864" marT="18288" marB="18288">
                    <a:solidFill>
                      <a:srgbClr val="FFFFFF"/>
                    </a:solidFill>
                  </a:tcPr>
                </a:tc>
                <a:tc>
                  <a:txBody>
                    <a:bodyPr/>
                    <a:lstStyle/>
                    <a:p>
                      <a:pPr>
                        <a:defRPr sz="1200" b="0">
                          <a:solidFill>
                            <a:srgbClr val="000000"/>
                          </a:solidFill>
                          <a:latin typeface="Calibri"/>
                        </a:defRPr>
                      </a:pPr>
                      <a:r>
                        <a:t>-</a:t>
                      </a:r>
                    </a:p>
                  </a:txBody>
                  <a:tcPr marL="54864" marR="54864" marT="18288" marB="18288">
                    <a:solidFill>
                      <a:srgbClr val="FFFFFF"/>
                    </a:solidFill>
                  </a:tcPr>
                </a:tc>
              </a:tr>
              <a:tr h="271780">
                <a:tc>
                  <a:txBody>
                    <a:bodyPr/>
                    <a:lstStyle/>
                    <a:p>
                      <a:pPr>
                        <a:defRPr sz="1200" b="0">
                          <a:solidFill>
                            <a:srgbClr val="000000"/>
                          </a:solidFill>
                          <a:latin typeface="Calibri"/>
                        </a:defRPr>
                      </a:pPr>
                      <a:r>
                        <a:t>Peran anggota tim</a:t>
                      </a:r>
                    </a:p>
                  </a:txBody>
                  <a:tcPr marL="54864" marR="54864" marT="18288" marB="18288">
                    <a:solidFill>
                      <a:srgbClr val="FFFFFF"/>
                    </a:solidFill>
                  </a:tcPr>
                </a:tc>
                <a:tc>
                  <a:txBody>
                    <a:bodyPr/>
                    <a:lstStyle/>
                    <a:p>
                      <a:pPr>
                        <a:defRPr sz="1200" b="0">
                          <a:solidFill>
                            <a:srgbClr val="000000"/>
                          </a:solidFill>
                          <a:latin typeface="Calibri"/>
                        </a:defRPr>
                      </a:pPr>
                      <a:r>
                        <a:t>Pengerjaan individu (tidak ada tim)</a:t>
                      </a:r>
                    </a:p>
                  </a:txBody>
                  <a:tcPr marL="54864" marR="54864" marT="18288" marB="18288">
                    <a:solidFill>
                      <a:srgbClr val="FFFFFF"/>
                    </a:solidFill>
                  </a:tcPr>
                </a:tc>
                <a:tc>
                  <a:txBody>
                    <a:bodyPr/>
                    <a:lstStyle/>
                    <a:p>
                      <a:pPr>
                        <a:defRPr sz="1200" b="0">
                          <a:solidFill>
                            <a:srgbClr val="000000"/>
                          </a:solidFill>
                          <a:latin typeface="Calibri"/>
                        </a:defRPr>
                      </a:pPr>
                      <a:r>
                        <a:t>Bagian 1</a:t>
                      </a:r>
                    </a:p>
                  </a:txBody>
                  <a:tcPr marL="54864" marR="54864" marT="18288" marB="18288">
                    <a:solidFill>
                      <a:srgbClr val="FFFFFF"/>
                    </a:solidFill>
                  </a:tcPr>
                </a:tc>
              </a:tr>
              <a:tr h="271780">
                <a:tc>
                  <a:txBody>
                    <a:bodyPr/>
                    <a:lstStyle/>
                    <a:p>
                      <a:pPr>
                        <a:defRPr sz="1200" b="0">
                          <a:solidFill>
                            <a:srgbClr val="000000"/>
                          </a:solidFill>
                          <a:latin typeface="Calibri"/>
                        </a:defRPr>
                      </a:pPr>
                      <a:r>
                        <a:t>Deskripsi problem</a:t>
                      </a:r>
                    </a:p>
                  </a:txBody>
                  <a:tcPr marL="54864" marR="54864" marT="18288" marB="18288">
                    <a:solidFill>
                      <a:srgbClr val="FFFFFF"/>
                    </a:solidFill>
                  </a:tcPr>
                </a:tc>
                <a:tc>
                  <a:txBody>
                    <a:bodyPr/>
                    <a:lstStyle/>
                    <a:p>
                      <a:pPr>
                        <a:defRPr sz="1200" b="0">
                          <a:solidFill>
                            <a:srgbClr val="000000"/>
                          </a:solidFill>
                          <a:latin typeface="Calibri"/>
                        </a:defRPr>
                      </a:pPr>
                      <a:r>
                        <a:t>MOQ, mutu, kuota produsen, pemasaran dan penjualan; KPI, klasifikasi lingkungan, PEAS</a:t>
                      </a:r>
                    </a:p>
                  </a:txBody>
                  <a:tcPr marL="54864" marR="54864" marT="18288" marB="18288">
                    <a:solidFill>
                      <a:srgbClr val="FFFFFF"/>
                    </a:solidFill>
                  </a:tcPr>
                </a:tc>
                <a:tc>
                  <a:txBody>
                    <a:bodyPr/>
                    <a:lstStyle/>
                    <a:p>
                      <a:pPr>
                        <a:defRPr sz="1200" b="0">
                          <a:solidFill>
                            <a:srgbClr val="000000"/>
                          </a:solidFill>
                          <a:latin typeface="Calibri"/>
                        </a:defRPr>
                      </a:pPr>
                      <a:r>
                        <a:t>Bagian 2</a:t>
                      </a:r>
                    </a:p>
                  </a:txBody>
                  <a:tcPr marL="54864" marR="54864" marT="18288" marB="18288">
                    <a:solidFill>
                      <a:srgbClr val="FFFFFF"/>
                    </a:solidFill>
                  </a:tcPr>
                </a:tc>
              </a:tr>
              <a:tr h="454659">
                <a:tc>
                  <a:txBody>
                    <a:bodyPr/>
                    <a:lstStyle/>
                    <a:p>
                      <a:pPr>
                        <a:defRPr sz="1200" b="0">
                          <a:solidFill>
                            <a:srgbClr val="000000"/>
                          </a:solidFill>
                          <a:latin typeface="Calibri"/>
                        </a:defRPr>
                      </a:pPr>
                      <a:r>
                        <a:t>Tiga penelitian topik serupa dan SOTA</a:t>
                      </a:r>
                    </a:p>
                  </a:txBody>
                  <a:tcPr marL="54864" marR="54864" marT="18288" marB="18288">
                    <a:solidFill>
                      <a:srgbClr val="FFFFFF"/>
                    </a:solidFill>
                  </a:tcPr>
                </a:tc>
                <a:tc>
                  <a:txBody>
                    <a:bodyPr/>
                    <a:lstStyle/>
                    <a:p>
                      <a:pPr>
                        <a:defRPr sz="1200" b="0">
                          <a:solidFill>
                            <a:srgbClr val="000000"/>
                          </a:solidFill>
                          <a:latin typeface="Calibri"/>
                        </a:defRPr>
                      </a:pPr>
                      <a:r>
                        <a:t>Hathikal 2020; Lee 2024; Ivanov &amp; Dolgui 2021 (+11 referensi, semua ber-DOI, jurnal Q1-Q3)</a:t>
                      </a:r>
                    </a:p>
                  </a:txBody>
                  <a:tcPr marL="54864" marR="54864" marT="18288" marB="18288">
                    <a:solidFill>
                      <a:srgbClr val="FFFFFF"/>
                    </a:solidFill>
                  </a:tcPr>
                </a:tc>
                <a:tc>
                  <a:txBody>
                    <a:bodyPr/>
                    <a:lstStyle/>
                    <a:p>
                      <a:pPr>
                        <a:defRPr sz="1200" b="0">
                          <a:solidFill>
                            <a:srgbClr val="000000"/>
                          </a:solidFill>
                          <a:latin typeface="Calibri"/>
                        </a:defRPr>
                      </a:pPr>
                      <a:r>
                        <a:t>Bagian 3</a:t>
                      </a:r>
                    </a:p>
                  </a:txBody>
                  <a:tcPr marL="54864" marR="54864" marT="18288" marB="18288">
                    <a:solidFill>
                      <a:srgbClr val="FFFFFF"/>
                    </a:solidFill>
                  </a:tcPr>
                </a:tc>
              </a:tr>
              <a:tr h="271780">
                <a:tc>
                  <a:txBody>
                    <a:bodyPr/>
                    <a:lstStyle/>
                    <a:p>
                      <a:pPr>
                        <a:defRPr sz="1200" b="0">
                          <a:solidFill>
                            <a:srgbClr val="000000"/>
                          </a:solidFill>
                          <a:latin typeface="Calibri"/>
                        </a:defRPr>
                      </a:pPr>
                      <a:r>
                        <a:t>Tujuan proyek</a:t>
                      </a:r>
                    </a:p>
                  </a:txBody>
                  <a:tcPr marL="54864" marR="54864" marT="18288" marB="18288">
                    <a:solidFill>
                      <a:srgbClr val="FFFFFF"/>
                    </a:solidFill>
                  </a:tcPr>
                </a:tc>
                <a:tc>
                  <a:txBody>
                    <a:bodyPr/>
                    <a:lstStyle/>
                    <a:p>
                      <a:pPr>
                        <a:defRPr sz="1200" b="0">
                          <a:solidFill>
                            <a:srgbClr val="000000"/>
                          </a:solidFill>
                          <a:latin typeface="Calibri"/>
                        </a:defRPr>
                      </a:pPr>
                      <a:r>
                        <a:t>Tujuan umum, enam tujuan khusus terukur, empat hipotesis</a:t>
                      </a:r>
                    </a:p>
                  </a:txBody>
                  <a:tcPr marL="54864" marR="54864" marT="18288" marB="18288">
                    <a:solidFill>
                      <a:srgbClr val="FFFFFF"/>
                    </a:solidFill>
                  </a:tcPr>
                </a:tc>
                <a:tc>
                  <a:txBody>
                    <a:bodyPr/>
                    <a:lstStyle/>
                    <a:p>
                      <a:pPr>
                        <a:defRPr sz="1200" b="0">
                          <a:solidFill>
                            <a:srgbClr val="000000"/>
                          </a:solidFill>
                          <a:latin typeface="Calibri"/>
                        </a:defRPr>
                      </a:pPr>
                      <a:r>
                        <a:t>Bagian 4</a:t>
                      </a:r>
                    </a:p>
                  </a:txBody>
                  <a:tcPr marL="54864" marR="54864" marT="18288" marB="18288">
                    <a:solidFill>
                      <a:srgbClr val="FFFFFF"/>
                    </a:solidFill>
                  </a:tcPr>
                </a:tc>
              </a:tr>
              <a:tr h="271780">
                <a:tc>
                  <a:txBody>
                    <a:bodyPr/>
                    <a:lstStyle/>
                    <a:p>
                      <a:pPr>
                        <a:defRPr sz="1200" b="0">
                          <a:solidFill>
                            <a:srgbClr val="000000"/>
                          </a:solidFill>
                          <a:latin typeface="Calibri"/>
                        </a:defRPr>
                      </a:pPr>
                      <a:r>
                        <a:t>Diagram rencana sistem dan alur</a:t>
                      </a:r>
                    </a:p>
                  </a:txBody>
                  <a:tcPr marL="54864" marR="54864" marT="18288" marB="18288">
                    <a:solidFill>
                      <a:srgbClr val="FFFFFF"/>
                    </a:solidFill>
                  </a:tcPr>
                </a:tc>
                <a:tc>
                  <a:txBody>
                    <a:bodyPr/>
                    <a:lstStyle/>
                    <a:p>
                      <a:pPr>
                        <a:defRPr sz="1200" b="0">
                          <a:solidFill>
                            <a:srgbClr val="000000"/>
                          </a:solidFill>
                          <a:latin typeface="Calibri"/>
                        </a:defRPr>
                      </a:pPr>
                      <a:r>
                        <a:t>Arsitektur, alur end-to-end, Contract Net, siklus kerja agen, cuplikan simulasi</a:t>
                      </a:r>
                    </a:p>
                  </a:txBody>
                  <a:tcPr marL="54864" marR="54864" marT="18288" marB="18288">
                    <a:solidFill>
                      <a:srgbClr val="FFFFFF"/>
                    </a:solidFill>
                  </a:tcPr>
                </a:tc>
                <a:tc>
                  <a:txBody>
                    <a:bodyPr/>
                    <a:lstStyle/>
                    <a:p>
                      <a:pPr>
                        <a:defRPr sz="1200" b="0">
                          <a:solidFill>
                            <a:srgbClr val="000000"/>
                          </a:solidFill>
                          <a:latin typeface="Calibri"/>
                        </a:defRPr>
                      </a:pPr>
                      <a:r>
                        <a:t>Bagian 5.1</a:t>
                      </a:r>
                    </a:p>
                  </a:txBody>
                  <a:tcPr marL="54864" marR="54864" marT="18288" marB="18288">
                    <a:solidFill>
                      <a:srgbClr val="FFFFFF"/>
                    </a:solidFill>
                  </a:tcPr>
                </a:tc>
              </a:tr>
              <a:tr h="637540">
                <a:tc>
                  <a:txBody>
                    <a:bodyPr/>
                    <a:lstStyle/>
                    <a:p>
                      <a:pPr>
                        <a:defRPr sz="1200" b="0">
                          <a:solidFill>
                            <a:srgbClr val="000000"/>
                          </a:solidFill>
                          <a:latin typeface="Calibri"/>
                        </a:defRPr>
                      </a:pPr>
                      <a:r>
                        <a:t>Komponen internal tiap agen; AI/ML/DL dan alasannya; peta agen ke kode</a:t>
                      </a:r>
                    </a:p>
                  </a:txBody>
                  <a:tcPr marL="54864" marR="54864" marT="18288" marB="18288">
                    <a:solidFill>
                      <a:srgbClr val="FFFFFF"/>
                    </a:solidFill>
                  </a:tcPr>
                </a:tc>
                <a:tc>
                  <a:txBody>
                    <a:bodyPr/>
                    <a:lstStyle/>
                    <a:p>
                      <a:pPr>
                        <a:defRPr sz="1200" b="0">
                          <a:solidFill>
                            <a:srgbClr val="000000"/>
                          </a:solidFill>
                          <a:latin typeface="Calibri"/>
                        </a:defRPr>
                      </a:pPr>
                      <a:r>
                        <a:t>Tabel 12 agen; portofolio metode dan alasan; berkas kode tiap agen</a:t>
                      </a:r>
                    </a:p>
                  </a:txBody>
                  <a:tcPr marL="54864" marR="54864" marT="18288" marB="18288">
                    <a:solidFill>
                      <a:srgbClr val="FFFFFF"/>
                    </a:solidFill>
                  </a:tcPr>
                </a:tc>
                <a:tc>
                  <a:txBody>
                    <a:bodyPr/>
                    <a:lstStyle/>
                    <a:p>
                      <a:pPr>
                        <a:defRPr sz="1200" b="0">
                          <a:solidFill>
                            <a:srgbClr val="000000"/>
                          </a:solidFill>
                          <a:latin typeface="Calibri"/>
                        </a:defRPr>
                      </a:pPr>
                      <a:r>
                        <a:t>Bagian 5.2</a:t>
                      </a:r>
                    </a:p>
                  </a:txBody>
                  <a:tcPr marL="54864" marR="54864" marT="18288" marB="18288">
                    <a:solidFill>
                      <a:srgbClr val="FFFFFF"/>
                    </a:solidFill>
                  </a:tcPr>
                </a:tc>
              </a:tr>
              <a:tr h="454659">
                <a:tc>
                  <a:txBody>
                    <a:bodyPr/>
                    <a:lstStyle/>
                    <a:p>
                      <a:pPr>
                        <a:defRPr sz="1200" b="0">
                          <a:solidFill>
                            <a:srgbClr val="000000"/>
                          </a:solidFill>
                          <a:latin typeface="Calibri"/>
                        </a:defRPr>
                      </a:pPr>
                      <a:r>
                        <a:t>Kontrak input, cognitive overload, jadwal dan approval, negosiasi</a:t>
                      </a:r>
                    </a:p>
                  </a:txBody>
                  <a:tcPr marL="54864" marR="54864" marT="18288" marB="18288">
                    <a:solidFill>
                      <a:srgbClr val="FFFFFF"/>
                    </a:solidFill>
                  </a:tcPr>
                </a:tc>
                <a:tc>
                  <a:txBody>
                    <a:bodyPr/>
                    <a:lstStyle/>
                    <a:p>
                      <a:pPr>
                        <a:defRPr sz="1200" b="0">
                          <a:solidFill>
                            <a:srgbClr val="000000"/>
                          </a:solidFill>
                          <a:latin typeface="Calibri"/>
                        </a:defRPr>
                      </a:pPr>
                      <a:r>
                        <a:t>Kontrak I/O pengguna, desain beban kognitif, SLA dan eskalasi, CNP, keamanan</a:t>
                      </a:r>
                    </a:p>
                  </a:txBody>
                  <a:tcPr marL="54864" marR="54864" marT="18288" marB="18288">
                    <a:solidFill>
                      <a:srgbClr val="FFFFFF"/>
                    </a:solidFill>
                  </a:tcPr>
                </a:tc>
                <a:tc>
                  <a:txBody>
                    <a:bodyPr/>
                    <a:lstStyle/>
                    <a:p>
                      <a:pPr>
                        <a:defRPr sz="1200" b="0">
                          <a:solidFill>
                            <a:srgbClr val="000000"/>
                          </a:solidFill>
                          <a:latin typeface="Calibri"/>
                        </a:defRPr>
                      </a:pPr>
                      <a:r>
                        <a:t>Bagian 5.3-5.6</a:t>
                      </a:r>
                    </a:p>
                  </a:txBody>
                  <a:tcPr marL="54864" marR="54864" marT="18288" marB="18288">
                    <a:solidFill>
                      <a:srgbClr val="FFFFFF"/>
                    </a:solidFill>
                  </a:tcPr>
                </a:tc>
              </a:tr>
              <a:tr h="454659">
                <a:tc>
                  <a:txBody>
                    <a:bodyPr/>
                    <a:lstStyle/>
                    <a:p>
                      <a:pPr>
                        <a:defRPr sz="1200" b="0">
                          <a:solidFill>
                            <a:srgbClr val="000000"/>
                          </a:solidFill>
                          <a:latin typeface="Calibri"/>
                        </a:defRPr>
                      </a:pPr>
                      <a:r>
                        <a:t>Mengapa single vs multi-agent; tiga penelitian agen cerdas</a:t>
                      </a:r>
                    </a:p>
                  </a:txBody>
                  <a:tcPr marL="54864" marR="54864" marT="18288" marB="18288">
                    <a:solidFill>
                      <a:srgbClr val="FFFFFF"/>
                    </a:solidFill>
                  </a:tcPr>
                </a:tc>
                <a:tc>
                  <a:txBody>
                    <a:bodyPr/>
                    <a:lstStyle/>
                    <a:p>
                      <a:pPr>
                        <a:defRPr sz="1200" b="0">
                          <a:solidFill>
                            <a:srgbClr val="000000"/>
                          </a:solidFill>
                          <a:latin typeface="Calibri"/>
                        </a:defRPr>
                      </a:pPr>
                      <a:r>
                        <a:t>Kriteria Bab 4 + bukti eksperimen; Smith 1980, Leitao 2009, Wang 2024</a:t>
                      </a:r>
                    </a:p>
                  </a:txBody>
                  <a:tcPr marL="54864" marR="54864" marT="18288" marB="18288">
                    <a:solidFill>
                      <a:srgbClr val="FFFFFF"/>
                    </a:solidFill>
                  </a:tcPr>
                </a:tc>
                <a:tc>
                  <a:txBody>
                    <a:bodyPr/>
                    <a:lstStyle/>
                    <a:p>
                      <a:pPr>
                        <a:defRPr sz="1200" b="0">
                          <a:solidFill>
                            <a:srgbClr val="000000"/>
                          </a:solidFill>
                          <a:latin typeface="Calibri"/>
                        </a:defRPr>
                      </a:pPr>
                      <a:r>
                        <a:t>Bagian 5.7, 3.2</a:t>
                      </a:r>
                    </a:p>
                  </a:txBody>
                  <a:tcPr marL="54864" marR="54864" marT="18288" marB="18288">
                    <a:solidFill>
                      <a:srgbClr val="FFFFFF"/>
                    </a:solidFill>
                  </a:tcPr>
                </a:tc>
              </a:tr>
              <a:tr h="454659">
                <a:tc>
                  <a:txBody>
                    <a:bodyPr/>
                    <a:lstStyle/>
                    <a:p>
                      <a:pPr>
                        <a:defRPr sz="1200" b="0">
                          <a:solidFill>
                            <a:srgbClr val="000000"/>
                          </a:solidFill>
                          <a:latin typeface="Calibri"/>
                        </a:defRPr>
                      </a:pPr>
                      <a:r>
                        <a:t>Ilustrasi data dan perhitungan komputasi</a:t>
                      </a:r>
                    </a:p>
                  </a:txBody>
                  <a:tcPr marL="54864" marR="54864" marT="18288" marB="18288">
                    <a:solidFill>
                      <a:srgbClr val="FFFFFF"/>
                    </a:solidFill>
                  </a:tcPr>
                </a:tc>
                <a:tc>
                  <a:txBody>
                    <a:bodyPr/>
                    <a:lstStyle/>
                    <a:p>
                      <a:pPr>
                        <a:defRPr sz="1200" b="0">
                          <a:solidFill>
                            <a:srgbClr val="000000"/>
                          </a:solidFill>
                          <a:latin typeface="Calibri"/>
                        </a:defRPr>
                      </a:pPr>
                      <a:r>
                        <a:t>Sumber data (situs KrakaCoal/asumsi), contoh hitung dengan angka, cuplikan simulasi</a:t>
                      </a:r>
                    </a:p>
                  </a:txBody>
                  <a:tcPr marL="54864" marR="54864" marT="18288" marB="18288">
                    <a:solidFill>
                      <a:srgbClr val="FFFFFF"/>
                    </a:solidFill>
                  </a:tcPr>
                </a:tc>
                <a:tc>
                  <a:txBody>
                    <a:bodyPr/>
                    <a:lstStyle/>
                    <a:p>
                      <a:pPr>
                        <a:defRPr sz="1200" b="0">
                          <a:solidFill>
                            <a:srgbClr val="000000"/>
                          </a:solidFill>
                          <a:latin typeface="Calibri"/>
                        </a:defRPr>
                      </a:pPr>
                      <a:r>
                        <a:t>Bagian 6</a:t>
                      </a:r>
                    </a:p>
                  </a:txBody>
                  <a:tcPr marL="54864" marR="54864"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1. Identitas</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a:t>
            </a:r>
          </a:p>
        </p:txBody>
      </p:sp>
      <p:graphicFrame>
        <p:nvGraphicFramePr>
          <p:cNvPr id="6" name="Table 5"/>
          <p:cNvGraphicFramePr>
            <a:graphicFrameLocks noGrp="1"/>
          </p:cNvGraphicFramePr>
          <p:nvPr/>
        </p:nvGraphicFramePr>
        <p:xfrm>
          <a:off x="411480" y="1097280"/>
          <a:ext cx="11338560" cy="3177540"/>
        </p:xfrm>
        <a:graphic>
          <a:graphicData uri="http://schemas.openxmlformats.org/drawingml/2006/table">
            <a:tbl>
              <a:tblPr firstRow="1" bandRow="1">
                <a:tableStyleId>{5C22544A-7EE6-4342-B048-85BDC9FD1C3A}</a:tableStyleId>
              </a:tblPr>
              <a:tblGrid>
                <a:gridCol w="2926080"/>
                <a:gridCol w="8412480"/>
              </a:tblGrid>
              <a:tr h="287020">
                <a:tc>
                  <a:txBody>
                    <a:bodyPr/>
                    <a:lstStyle/>
                    <a:p>
                      <a:pPr>
                        <a:defRPr sz="1300" b="1">
                          <a:solidFill>
                            <a:srgbClr val="000000"/>
                          </a:solidFill>
                          <a:latin typeface="Calibri"/>
                        </a:defRPr>
                      </a:pPr>
                      <a:r>
                        <a:t>Butir</a:t>
                      </a:r>
                    </a:p>
                  </a:txBody>
                  <a:tcPr marL="54864" marR="54864" marT="18288" marB="18288">
                    <a:solidFill>
                      <a:srgbClr val="E5E7EB"/>
                    </a:solidFill>
                  </a:tcPr>
                </a:tc>
                <a:tc>
                  <a:txBody>
                    <a:bodyPr/>
                    <a:lstStyle/>
                    <a:p>
                      <a:pPr>
                        <a:defRPr sz="1300" b="1">
                          <a:solidFill>
                            <a:srgbClr val="000000"/>
                          </a:solidFill>
                          <a:latin typeface="Calibri"/>
                        </a:defRPr>
                      </a:pPr>
                      <a:r>
                        <a:t>Isi</a:t>
                      </a:r>
                    </a:p>
                  </a:txBody>
                  <a:tcPr marL="54864" marR="54864" marT="18288" marB="18288">
                    <a:solidFill>
                      <a:srgbClr val="E5E7EB"/>
                    </a:solidFill>
                  </a:tcPr>
                </a:tc>
              </a:tr>
              <a:tr h="287020">
                <a:tc>
                  <a:txBody>
                    <a:bodyPr/>
                    <a:lstStyle/>
                    <a:p>
                      <a:pPr>
                        <a:defRPr sz="1300" b="0">
                          <a:solidFill>
                            <a:srgbClr val="000000"/>
                          </a:solidFill>
                          <a:latin typeface="Calibri"/>
                        </a:defRPr>
                      </a:pPr>
                      <a:r>
                        <a:t>Nama / NIM</a:t>
                      </a:r>
                    </a:p>
                  </a:txBody>
                  <a:tcPr marL="54864" marR="54864" marT="18288" marB="18288">
                    <a:solidFill>
                      <a:srgbClr val="FFFFFF"/>
                    </a:solidFill>
                  </a:tcPr>
                </a:tc>
                <a:tc>
                  <a:txBody>
                    <a:bodyPr/>
                    <a:lstStyle/>
                    <a:p>
                      <a:pPr>
                        <a:defRPr sz="1300" b="0">
                          <a:solidFill>
                            <a:srgbClr val="000000"/>
                          </a:solidFill>
                          <a:latin typeface="Calibri"/>
                        </a:defRPr>
                      </a:pPr>
                      <a:r>
                        <a:t>Aditya Wahyu Wijanarko / 25/574566/PPA/07251</a:t>
                      </a:r>
                    </a:p>
                  </a:txBody>
                  <a:tcPr marL="54864" marR="54864" marT="18288" marB="18288">
                    <a:solidFill>
                      <a:srgbClr val="FFFFFF"/>
                    </a:solidFill>
                  </a:tcPr>
                </a:tc>
              </a:tr>
              <a:tr h="287020">
                <a:tc>
                  <a:txBody>
                    <a:bodyPr/>
                    <a:lstStyle/>
                    <a:p>
                      <a:pPr>
                        <a:defRPr sz="1300" b="0">
                          <a:solidFill>
                            <a:srgbClr val="000000"/>
                          </a:solidFill>
                          <a:latin typeface="Calibri"/>
                        </a:defRPr>
                      </a:pPr>
                      <a:r>
                        <a:t>Program studi dan institusi</a:t>
                      </a:r>
                    </a:p>
                  </a:txBody>
                  <a:tcPr marL="54864" marR="54864" marT="18288" marB="18288">
                    <a:solidFill>
                      <a:srgbClr val="FFFFFF"/>
                    </a:solidFill>
                  </a:tcPr>
                </a:tc>
                <a:tc>
                  <a:txBody>
                    <a:bodyPr/>
                    <a:lstStyle/>
                    <a:p>
                      <a:pPr>
                        <a:defRPr sz="1300" b="0">
                          <a:solidFill>
                            <a:srgbClr val="000000"/>
                          </a:solidFill>
                          <a:latin typeface="Calibri"/>
                        </a:defRPr>
                      </a:pPr>
                      <a:r>
                        <a:t>Magister Kecerdasan Artifisial (S2), Universitas Gadjah Mada</a:t>
                      </a:r>
                    </a:p>
                  </a:txBody>
                  <a:tcPr marL="54864" marR="54864" marT="18288" marB="18288">
                    <a:solidFill>
                      <a:srgbClr val="FFFFFF"/>
                    </a:solidFill>
                  </a:tcPr>
                </a:tc>
              </a:tr>
              <a:tr h="485140">
                <a:tc>
                  <a:txBody>
                    <a:bodyPr/>
                    <a:lstStyle/>
                    <a:p>
                      <a:pPr>
                        <a:defRPr sz="1300" b="0">
                          <a:solidFill>
                            <a:srgbClr val="000000"/>
                          </a:solidFill>
                          <a:latin typeface="Calibri"/>
                        </a:defRPr>
                      </a:pPr>
                      <a:r>
                        <a:t>Mata kuliah / dosen</a:t>
                      </a:r>
                    </a:p>
                  </a:txBody>
                  <a:tcPr marL="54864" marR="54864" marT="18288" marB="18288">
                    <a:solidFill>
                      <a:srgbClr val="FFFFFF"/>
                    </a:solidFill>
                  </a:tcPr>
                </a:tc>
                <a:tc>
                  <a:txBody>
                    <a:bodyPr/>
                    <a:lstStyle/>
                    <a:p>
                      <a:pPr>
                        <a:defRPr sz="1300" b="0">
                          <a:solidFill>
                            <a:srgbClr val="000000"/>
                          </a:solidFill>
                          <a:latin typeface="Calibri"/>
                        </a:defRPr>
                      </a:pPr>
                      <a:r>
                        <a:t>Agentic Enterprise: AI Agentic Technology Systems for Digital Enterprise Ecosystem / Prof. Dr. Azhari MT</a:t>
                      </a:r>
                    </a:p>
                  </a:txBody>
                  <a:tcPr marL="54864" marR="54864" marT="18288" marB="18288">
                    <a:solidFill>
                      <a:srgbClr val="FFFFFF"/>
                    </a:solidFill>
                  </a:tcPr>
                </a:tc>
              </a:tr>
              <a:tr h="485140">
                <a:tc>
                  <a:txBody>
                    <a:bodyPr/>
                    <a:lstStyle/>
                    <a:p>
                      <a:pPr>
                        <a:defRPr sz="1300" b="0">
                          <a:solidFill>
                            <a:srgbClr val="000000"/>
                          </a:solidFill>
                          <a:latin typeface="Calibri"/>
                        </a:defRPr>
                      </a:pPr>
                      <a:r>
                        <a:t>Bentuk pengerjaan</a:t>
                      </a:r>
                    </a:p>
                  </a:txBody>
                  <a:tcPr marL="54864" marR="54864" marT="18288" marB="18288">
                    <a:solidFill>
                      <a:srgbClr val="FFFFFF"/>
                    </a:solidFill>
                  </a:tcPr>
                </a:tc>
                <a:tc>
                  <a:txBody>
                    <a:bodyPr/>
                    <a:lstStyle/>
                    <a:p>
                      <a:pPr>
                        <a:defRPr sz="1300" b="0">
                          <a:solidFill>
                            <a:srgbClr val="000000"/>
                          </a:solidFill>
                          <a:latin typeface="Calibri"/>
                        </a:defRPr>
                      </a:pPr>
                      <a:r>
                        <a:t>Individu (tidak ada tim). Topik tidak diambil kelompok lain (bukan Customer Complaint, Procurement, Outsourcing, Bitcoin Trading, Customer Service, Software Developer Team).</a:t>
                      </a:r>
                    </a:p>
                  </a:txBody>
                  <a:tcPr marL="54864" marR="54864" marT="18288" marB="18288">
                    <a:solidFill>
                      <a:srgbClr val="FFFFFF"/>
                    </a:solidFill>
                  </a:tcPr>
                </a:tc>
              </a:tr>
              <a:tr h="287020">
                <a:tc>
                  <a:txBody>
                    <a:bodyPr/>
                    <a:lstStyle/>
                    <a:p>
                      <a:pPr>
                        <a:defRPr sz="1300" b="0">
                          <a:solidFill>
                            <a:srgbClr val="000000"/>
                          </a:solidFill>
                          <a:latin typeface="Calibri"/>
                        </a:defRPr>
                      </a:pPr>
                      <a:r>
                        <a:t>Judul proyek</a:t>
                      </a:r>
                    </a:p>
                  </a:txBody>
                  <a:tcPr marL="54864" marR="54864" marT="18288" marB="18288">
                    <a:solidFill>
                      <a:srgbClr val="FFFFFF"/>
                    </a:solidFill>
                  </a:tcPr>
                </a:tc>
                <a:tc>
                  <a:txBody>
                    <a:bodyPr/>
                    <a:lstStyle/>
                    <a:p>
                      <a:pPr>
                        <a:defRPr sz="1300" b="0">
                          <a:solidFill>
                            <a:srgbClr val="000000"/>
                          </a:solidFill>
                          <a:latin typeface="Calibri"/>
                        </a:defRPr>
                      </a:pPr>
                      <a:r>
                        <a:t>KCMAS: Sistem Multi-Agen untuk Konsolidasi dan Ekspor Arang (KrakaCoal)</a:t>
                      </a:r>
                    </a:p>
                  </a:txBody>
                  <a:tcPr marL="54864" marR="54864" marT="18288" marB="18288">
                    <a:solidFill>
                      <a:srgbClr val="FFFFFF"/>
                    </a:solidFill>
                  </a:tcPr>
                </a:tc>
              </a:tr>
              <a:tr h="485140">
                <a:tc>
                  <a:txBody>
                    <a:bodyPr/>
                    <a:lstStyle/>
                    <a:p>
                      <a:pPr>
                        <a:defRPr sz="1300" b="0">
                          <a:solidFill>
                            <a:srgbClr val="000000"/>
                          </a:solidFill>
                          <a:latin typeface="Calibri"/>
                        </a:defRPr>
                      </a:pPr>
                      <a:r>
                        <a:t>Kasus nyata</a:t>
                      </a:r>
                    </a:p>
                  </a:txBody>
                  <a:tcPr marL="54864" marR="54864" marT="18288" marB="18288">
                    <a:solidFill>
                      <a:srgbClr val="FFFFFF"/>
                    </a:solidFill>
                  </a:tcPr>
                </a:tc>
                <a:tc>
                  <a:txBody>
                    <a:bodyPr/>
                    <a:lstStyle/>
                    <a:p>
                      <a:pPr>
                        <a:defRPr sz="1300" b="0">
                          <a:solidFill>
                            <a:srgbClr val="000000"/>
                          </a:solidFill>
                          <a:latin typeface="Calibri"/>
                        </a:defRPr>
                      </a:pPr>
                      <a:r>
                        <a:t>KrakaCoal (krakacoal.com): bisnis ekspor arang yang sedang berjalan; penulis bekerja sebagai trader</a:t>
                      </a:r>
                    </a:p>
                  </a:txBody>
                  <a:tcPr marL="54864" marR="54864" marT="18288" marB="18288">
                    <a:solidFill>
                      <a:srgbClr val="FFFFFF"/>
                    </a:solidFill>
                  </a:tcPr>
                </a:tc>
              </a:tr>
              <a:tr h="287020">
                <a:tc>
                  <a:txBody>
                    <a:bodyPr/>
                    <a:lstStyle/>
                    <a:p>
                      <a:pPr>
                        <a:defRPr sz="1300" b="0">
                          <a:solidFill>
                            <a:srgbClr val="000000"/>
                          </a:solidFill>
                          <a:latin typeface="Calibri"/>
                        </a:defRPr>
                      </a:pPr>
                      <a:r>
                        <a:t>Fokus materi (sebelum UTS)</a:t>
                      </a:r>
                    </a:p>
                  </a:txBody>
                  <a:tcPr marL="54864" marR="54864" marT="18288" marB="18288">
                    <a:solidFill>
                      <a:srgbClr val="FFFFFF"/>
                    </a:solidFill>
                  </a:tcPr>
                </a:tc>
                <a:tc>
                  <a:txBody>
                    <a:bodyPr/>
                    <a:lstStyle/>
                    <a:p>
                      <a:pPr>
                        <a:defRPr sz="1300" b="0">
                          <a:solidFill>
                            <a:srgbClr val="000000"/>
                          </a:solidFill>
                          <a:latin typeface="Calibri"/>
                        </a:defRPr>
                      </a:pPr>
                      <a:r>
                        <a:t>Single agent / multi-agent; Proyek 1 nanti mengikuti domain enterprise yang diberikan dosen</a:t>
                      </a:r>
                    </a:p>
                  </a:txBody>
                  <a:tcPr marL="54864" marR="54864" marT="18288" marB="18288">
                    <a:solidFill>
                      <a:srgbClr val="FFFFFF"/>
                    </a:solidFill>
                  </a:tcPr>
                </a:tc>
              </a:tr>
              <a:tr h="287020">
                <a:tc>
                  <a:txBody>
                    <a:bodyPr/>
                    <a:lstStyle/>
                    <a:p>
                      <a:pPr>
                        <a:defRPr sz="1300" b="0">
                          <a:solidFill>
                            <a:srgbClr val="000000"/>
                          </a:solidFill>
                          <a:latin typeface="Calibri"/>
                        </a:defRPr>
                      </a:pPr>
                      <a:r>
                        <a:t>Repositori kode</a:t>
                      </a:r>
                    </a:p>
                  </a:txBody>
                  <a:tcPr marL="54864" marR="54864" marT="18288" marB="18288">
                    <a:solidFill>
                      <a:srgbClr val="FFFFFF"/>
                    </a:solidFill>
                  </a:tcPr>
                </a:tc>
                <a:tc>
                  <a:txBody>
                    <a:bodyPr/>
                    <a:lstStyle/>
                    <a:p>
                      <a:pPr>
                        <a:defRPr sz="1300" b="0">
                          <a:solidFill>
                            <a:srgbClr val="000000"/>
                          </a:solidFill>
                          <a:latin typeface="Calibri"/>
                        </a:defRPr>
                      </a:pPr>
                      <a:r>
                        <a:t>https://github.com/AdityaIKO/Agentic-Enterprise</a:t>
                      </a:r>
                    </a:p>
                  </a:txBody>
                  <a:tcPr marL="54864" marR="54864"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2. Deskripsi problem</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5</a:t>
            </a:r>
          </a:p>
        </p:txBody>
      </p:sp>
      <p:sp>
        <p:nvSpPr>
          <p:cNvPr id="6" name="TextBox 5"/>
          <p:cNvSpPr txBox="1"/>
          <p:nvPr/>
        </p:nvSpPr>
        <p:spPr>
          <a:xfrm>
            <a:off x="411480" y="1005840"/>
            <a:ext cx="5577840" cy="5394960"/>
          </a:xfrm>
          <a:prstGeom prst="rect">
            <a:avLst/>
          </a:prstGeom>
          <a:noFill/>
        </p:spPr>
        <p:txBody>
          <a:bodyPr wrap="square">
            <a:spAutoFit/>
          </a:bodyPr>
          <a:lstStyle/>
          <a:p>
            <a:pPr>
              <a:spcAft>
                <a:spcPts val="400"/>
              </a:spcAft>
              <a:defRPr sz="1300" b="0">
                <a:solidFill>
                  <a:srgbClr val="000000"/>
                </a:solidFill>
                <a:latin typeface="Calibri"/>
              </a:defRPr>
            </a:pPr>
            <a:r>
              <a:t>• KrakaCoal (situs krakacoal.com, PT. Kraka Coal Indonesia) menjual arang (batok kelapa, kayu keras, serbuk gergaji) ke pembeli luar negeri. Situsnya menyebut 'a vetted export network, not a single factory': bahan dikumpulkan dari Sumatra, Jawa, dan Sulawesi, dikarbonisasi di Jawa, diuji lab tiap batch, lalu diekspor dari pelabuhan Jawa Timur (Surabaya). MOQ satu kontainer penuh (20 ft: 12-17 ton, 40 ft: 25-27 ton), produksi 10 hari (20 ft) atau 14 hari (40 ft), packing 3-6 hari, FOB sebagai default dan CIF atas permintaan.</a:t>
            </a:r>
          </a:p>
          <a:p>
            <a:pPr>
              <a:spcAft>
                <a:spcPts val="400"/>
              </a:spcAft>
              <a:defRPr sz="1300" b="0">
                <a:solidFill>
                  <a:srgbClr val="000000"/>
                </a:solidFill>
                <a:latin typeface="Calibri"/>
              </a:defRPr>
            </a:pPr>
            <a:r>
              <a:t>• Karena tidak ada satu pabrik yang menghasilkan 25 ton dalam dua minggu, satu order harus digabung dari belasan produsen kecil. Di sinilah masalahnya: (1) kapasitas nyata tiap produsen berubah-ubah (dipakai pembeli lokal, cuaca, bahan baku) dan data pendaftaran cepat usang; (2) sebagian produsen gagal kirim dan sebagian barang tidak lolos uji mutu (kadar air, abu, ukuran), sehingga kontainer tidak penuh; (3) dokumen ekspor dan klasifikasi HS sering baru diurus setelah barang siap sehingga kapal terlewat; (4) admin mengurus semuanya lewat WhatsApp satu per satu, sehingga lambat dan padat pekerjaan manusia.</a:t>
            </a:r>
          </a:p>
        </p:txBody>
      </p:sp>
      <p:sp>
        <p:nvSpPr>
          <p:cNvPr id="7" name="TextBox 6"/>
          <p:cNvSpPr txBox="1"/>
          <p:nvPr/>
        </p:nvSpPr>
        <p:spPr>
          <a:xfrm>
            <a:off x="6172200" y="1005840"/>
            <a:ext cx="5577840" cy="5394960"/>
          </a:xfrm>
          <a:prstGeom prst="rect">
            <a:avLst/>
          </a:prstGeom>
          <a:noFill/>
        </p:spPr>
        <p:txBody>
          <a:bodyPr wrap="square">
            <a:spAutoFit/>
          </a:bodyPr>
          <a:lstStyle/>
          <a:p>
            <a:pPr>
              <a:spcAft>
                <a:spcPts val="400"/>
              </a:spcAft>
              <a:defRPr sz="1300" b="0">
                <a:solidFill>
                  <a:srgbClr val="000000"/>
                </a:solidFill>
                <a:latin typeface="Calibri"/>
              </a:defRPr>
            </a:pPr>
            <a:r>
              <a:t>• Di sisi hulu, pembeli harus ditemukan dan dilayani: iklan digital, konten, dan listing marketplace menghasilkan calon pembeli; RFQ yang masuk harus dijawab cepat dan ditawar. Tanpa pemasaran yang terarah, kapasitas produsen menganggur; tanpa pengawasan kapasitas, iklan menjual barang yang tidak bisa dikirim tepat waktu.</a:t>
            </a:r>
          </a:p>
          <a:p>
            <a:pPr>
              <a:spcAft>
                <a:spcPts val="400"/>
              </a:spcAft>
              <a:defRPr sz="1300" b="0">
                <a:solidFill>
                  <a:srgbClr val="000000"/>
                </a:solidFill>
                <a:latin typeface="Calibri"/>
              </a:defRPr>
            </a:pPr>
            <a:r>
              <a:t>• Pernyataan masalah: untuk tiap order, tentukan produsen mana mengirim berapa (dengan cadangan dan re-kontrak bila gagal), jadwal lini gudang, dokumen dan kode HS, carrier, dan tindakan pemulihan, sehingga margin per order maksimum dengan batasan kapasitas, batas kirim (LSD), maksimum 30% dari satu order per produsen, kebijakan compliance, dan batas wewenang tiap agen.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2. Lingkungan dan PEAS</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6</a:t>
            </a:r>
          </a:p>
        </p:txBody>
      </p:sp>
      <p:graphicFrame>
        <p:nvGraphicFramePr>
          <p:cNvPr id="6" name="Table 5"/>
          <p:cNvGraphicFramePr>
            <a:graphicFrameLocks noGrp="1"/>
          </p:cNvGraphicFramePr>
          <p:nvPr/>
        </p:nvGraphicFramePr>
        <p:xfrm>
          <a:off x="411480" y="1005840"/>
          <a:ext cx="11338560" cy="1450339"/>
        </p:xfrm>
        <a:graphic>
          <a:graphicData uri="http://schemas.openxmlformats.org/drawingml/2006/table">
            <a:tbl>
              <a:tblPr firstRow="1" bandRow="1">
                <a:tableStyleId>{5C22544A-7EE6-4342-B048-85BDC9FD1C3A}</a:tableStyleId>
              </a:tblPr>
              <a:tblGrid>
                <a:gridCol w="1828800"/>
                <a:gridCol w="1828800"/>
                <a:gridCol w="7680960"/>
              </a:tblGrid>
              <a:tr h="256540">
                <a:tc>
                  <a:txBody>
                    <a:bodyPr/>
                    <a:lstStyle/>
                    <a:p>
                      <a:pPr>
                        <a:defRPr sz="1100" b="1">
                          <a:solidFill>
                            <a:srgbClr val="000000"/>
                          </a:solidFill>
                          <a:latin typeface="Calibri"/>
                        </a:defRPr>
                      </a:pPr>
                      <a:r>
                        <a:t>Karakteristik</a:t>
                      </a:r>
                    </a:p>
                  </a:txBody>
                  <a:tcPr marL="54864" marR="54864" marT="18288" marB="18288">
                    <a:solidFill>
                      <a:srgbClr val="E5E7EB"/>
                    </a:solidFill>
                  </a:tcPr>
                </a:tc>
                <a:tc>
                  <a:txBody>
                    <a:bodyPr/>
                    <a:lstStyle/>
                    <a:p>
                      <a:pPr>
                        <a:defRPr sz="1100" b="1">
                          <a:solidFill>
                            <a:srgbClr val="000000"/>
                          </a:solidFill>
                          <a:latin typeface="Calibri"/>
                        </a:defRPr>
                      </a:pPr>
                      <a:r>
                        <a:t>Klasifikasi</a:t>
                      </a:r>
                    </a:p>
                  </a:txBody>
                  <a:tcPr marL="54864" marR="54864" marT="18288" marB="18288">
                    <a:solidFill>
                      <a:srgbClr val="E5E7EB"/>
                    </a:solidFill>
                  </a:tcPr>
                </a:tc>
                <a:tc>
                  <a:txBody>
                    <a:bodyPr/>
                    <a:lstStyle/>
                    <a:p>
                      <a:pPr>
                        <a:defRPr sz="1100" b="1">
                          <a:solidFill>
                            <a:srgbClr val="000000"/>
                          </a:solidFill>
                          <a:latin typeface="Calibri"/>
                        </a:defRPr>
                      </a:pPr>
                      <a:r>
                        <a:t>Bukti pada kasus ini</a:t>
                      </a:r>
                    </a:p>
                  </a:txBody>
                  <a:tcPr marL="54864" marR="54864" marT="18288" marB="18288">
                    <a:solidFill>
                      <a:srgbClr val="E5E7EB"/>
                    </a:solidFill>
                  </a:tcPr>
                </a:tc>
              </a:tr>
              <a:tr h="424179">
                <a:tc>
                  <a:txBody>
                    <a:bodyPr/>
                    <a:lstStyle/>
                    <a:p>
                      <a:pPr>
                        <a:defRPr sz="1100" b="0">
                          <a:solidFill>
                            <a:srgbClr val="000000"/>
                          </a:solidFill>
                          <a:latin typeface="Calibri"/>
                        </a:defRPr>
                      </a:pPr>
                      <a:r>
                        <a:t>Observability</a:t>
                      </a:r>
                    </a:p>
                  </a:txBody>
                  <a:tcPr marL="54864" marR="54864" marT="18288" marB="18288">
                    <a:solidFill>
                      <a:srgbClr val="FFFFFF"/>
                    </a:solidFill>
                  </a:tcPr>
                </a:tc>
                <a:tc>
                  <a:txBody>
                    <a:bodyPr/>
                    <a:lstStyle/>
                    <a:p>
                      <a:pPr>
                        <a:defRPr sz="1100" b="0">
                          <a:solidFill>
                            <a:srgbClr val="000000"/>
                          </a:solidFill>
                          <a:latin typeface="Calibri"/>
                        </a:defRPr>
                      </a:pPr>
                      <a:r>
                        <a:t>Partially observable</a:t>
                      </a:r>
                    </a:p>
                  </a:txBody>
                  <a:tcPr marL="54864" marR="54864" marT="18288" marB="18288">
                    <a:solidFill>
                      <a:srgbClr val="FFFFFF"/>
                    </a:solidFill>
                  </a:tcPr>
                </a:tc>
                <a:tc>
                  <a:txBody>
                    <a:bodyPr/>
                    <a:lstStyle/>
                    <a:p>
                      <a:pPr>
                        <a:defRPr sz="1100" b="0">
                          <a:solidFill>
                            <a:srgbClr val="000000"/>
                          </a:solidFill>
                          <a:latin typeface="Calibri"/>
                        </a:defRPr>
                      </a:pPr>
                      <a:r>
                        <a:t>Kapasitas produsen hari ini (sisa setelah pasar lokal), keandalan, dan yield QC tidak diketahui pasti; registry hanya data onboarding</a:t>
                      </a:r>
                    </a:p>
                  </a:txBody>
                  <a:tcPr marL="54864" marR="54864" marT="18288" marB="18288">
                    <a:solidFill>
                      <a:srgbClr val="FFFFFF"/>
                    </a:solidFill>
                  </a:tcPr>
                </a:tc>
              </a:tr>
              <a:tr h="256540">
                <a:tc>
                  <a:txBody>
                    <a:bodyPr/>
                    <a:lstStyle/>
                    <a:p>
                      <a:pPr>
                        <a:defRPr sz="1100" b="0">
                          <a:solidFill>
                            <a:srgbClr val="000000"/>
                          </a:solidFill>
                          <a:latin typeface="Calibri"/>
                        </a:defRPr>
                      </a:pPr>
                      <a:r>
                        <a:t>Outcome</a:t>
                      </a:r>
                    </a:p>
                  </a:txBody>
                  <a:tcPr marL="54864" marR="54864" marT="18288" marB="18288">
                    <a:solidFill>
                      <a:srgbClr val="FFFFFF"/>
                    </a:solidFill>
                  </a:tcPr>
                </a:tc>
                <a:tc>
                  <a:txBody>
                    <a:bodyPr/>
                    <a:lstStyle/>
                    <a:p>
                      <a:pPr>
                        <a:defRPr sz="1100" b="0">
                          <a:solidFill>
                            <a:srgbClr val="000000"/>
                          </a:solidFill>
                          <a:latin typeface="Calibri"/>
                        </a:defRPr>
                      </a:pPr>
                      <a:r>
                        <a:t>Stochastic</a:t>
                      </a:r>
                    </a:p>
                  </a:txBody>
                  <a:tcPr marL="54864" marR="54864" marT="18288" marB="18288">
                    <a:solidFill>
                      <a:srgbClr val="FFFFFF"/>
                    </a:solidFill>
                  </a:tcPr>
                </a:tc>
                <a:tc>
                  <a:txBody>
                    <a:bodyPr/>
                    <a:lstStyle/>
                    <a:p>
                      <a:pPr>
                        <a:defRPr sz="1100" b="0">
                          <a:solidFill>
                            <a:srgbClr val="000000"/>
                          </a:solidFill>
                          <a:latin typeface="Calibri"/>
                        </a:defRPr>
                      </a:pPr>
                      <a:r>
                        <a:t>Gagal kirim produsen, reject QC, kerusakan lini gudang, roll-over kargo, dokumen kurang</a:t>
                      </a:r>
                    </a:p>
                  </a:txBody>
                  <a:tcPr marL="54864" marR="54864" marT="18288" marB="18288">
                    <a:solidFill>
                      <a:srgbClr val="FFFFFF"/>
                    </a:solidFill>
                  </a:tcPr>
                </a:tc>
              </a:tr>
              <a:tr h="256540">
                <a:tc>
                  <a:txBody>
                    <a:bodyPr/>
                    <a:lstStyle/>
                    <a:p>
                      <a:pPr>
                        <a:defRPr sz="1100" b="0">
                          <a:solidFill>
                            <a:srgbClr val="000000"/>
                          </a:solidFill>
                          <a:latin typeface="Calibri"/>
                        </a:defRPr>
                      </a:pPr>
                      <a:r>
                        <a:t>Change</a:t>
                      </a:r>
                    </a:p>
                  </a:txBody>
                  <a:tcPr marL="54864" marR="54864" marT="18288" marB="18288">
                    <a:solidFill>
                      <a:srgbClr val="FFFFFF"/>
                    </a:solidFill>
                  </a:tcPr>
                </a:tc>
                <a:tc>
                  <a:txBody>
                    <a:bodyPr/>
                    <a:lstStyle/>
                    <a:p>
                      <a:pPr>
                        <a:defRPr sz="1100" b="0">
                          <a:solidFill>
                            <a:srgbClr val="000000"/>
                          </a:solidFill>
                          <a:latin typeface="Calibri"/>
                        </a:defRPr>
                      </a:pPr>
                      <a:r>
                        <a:t>Dynamic</a:t>
                      </a:r>
                    </a:p>
                  </a:txBody>
                  <a:tcPr marL="54864" marR="54864" marT="18288" marB="18288">
                    <a:solidFill>
                      <a:srgbClr val="FFFFFF"/>
                    </a:solidFill>
                  </a:tcPr>
                </a:tc>
                <a:tc>
                  <a:txBody>
                    <a:bodyPr/>
                    <a:lstStyle/>
                    <a:p>
                      <a:pPr>
                        <a:defRPr sz="1100" b="0">
                          <a:solidFill>
                            <a:srgbClr val="000000"/>
                          </a:solidFill>
                          <a:latin typeface="Calibri"/>
                        </a:defRPr>
                      </a:pPr>
                      <a:r>
                        <a:t>Kapasitas berubah tiap order, jadwal kapal mingguan, kongesti pelabuhan, order baru masuk terus</a:t>
                      </a:r>
                    </a:p>
                  </a:txBody>
                  <a:tcPr marL="54864" marR="54864" marT="18288" marB="18288">
                    <a:solidFill>
                      <a:srgbClr val="FFFFFF"/>
                    </a:solidFill>
                  </a:tcPr>
                </a:tc>
              </a:tr>
              <a:tr h="256540">
                <a:tc>
                  <a:txBody>
                    <a:bodyPr/>
                    <a:lstStyle/>
                    <a:p>
                      <a:pPr>
                        <a:defRPr sz="1100" b="0">
                          <a:solidFill>
                            <a:srgbClr val="000000"/>
                          </a:solidFill>
                          <a:latin typeface="Calibri"/>
                        </a:defRPr>
                      </a:pPr>
                      <a:r>
                        <a:t>Actors</a:t>
                      </a:r>
                    </a:p>
                  </a:txBody>
                  <a:tcPr marL="54864" marR="54864" marT="18288" marB="18288">
                    <a:solidFill>
                      <a:srgbClr val="FFFFFF"/>
                    </a:solidFill>
                  </a:tcPr>
                </a:tc>
                <a:tc>
                  <a:txBody>
                    <a:bodyPr/>
                    <a:lstStyle/>
                    <a:p>
                      <a:pPr>
                        <a:defRPr sz="1100" b="0">
                          <a:solidFill>
                            <a:srgbClr val="000000"/>
                          </a:solidFill>
                          <a:latin typeface="Calibri"/>
                        </a:defRPr>
                      </a:pPr>
                      <a:r>
                        <a:t>Multi-agent</a:t>
                      </a:r>
                    </a:p>
                  </a:txBody>
                  <a:tcPr marL="54864" marR="54864" marT="18288" marB="18288">
                    <a:solidFill>
                      <a:srgbClr val="FFFFFF"/>
                    </a:solidFill>
                  </a:tcPr>
                </a:tc>
                <a:tc>
                  <a:txBody>
                    <a:bodyPr/>
                    <a:lstStyle/>
                    <a:p>
                      <a:pPr>
                        <a:defRPr sz="1100" b="0">
                          <a:solidFill>
                            <a:srgbClr val="000000"/>
                          </a:solidFill>
                          <a:latin typeface="Calibri"/>
                        </a:defRPr>
                      </a:pPr>
                      <a:r>
                        <a:t>Pembeli asing, puluhan produsen, carrier, bea cukai, admin: pemilik dan kepentingan berbeda</a:t>
                      </a:r>
                    </a:p>
                  </a:txBody>
                  <a:tcPr marL="54864" marR="54864" marT="18288" marB="18288">
                    <a:solidFill>
                      <a:srgbClr val="FFFFFF"/>
                    </a:solidFill>
                  </a:tcPr>
                </a:tc>
              </a:tr>
            </a:tbl>
          </a:graphicData>
        </a:graphic>
      </p:graphicFrame>
      <p:graphicFrame>
        <p:nvGraphicFramePr>
          <p:cNvPr id="7" name="Table 6"/>
          <p:cNvGraphicFramePr>
            <a:graphicFrameLocks noGrp="1"/>
          </p:cNvGraphicFramePr>
          <p:nvPr/>
        </p:nvGraphicFramePr>
        <p:xfrm>
          <a:off x="411480" y="3383280"/>
          <a:ext cx="11338560" cy="1953256"/>
        </p:xfrm>
        <a:graphic>
          <a:graphicData uri="http://schemas.openxmlformats.org/drawingml/2006/table">
            <a:tbl>
              <a:tblPr firstRow="1" bandRow="1">
                <a:tableStyleId>{5C22544A-7EE6-4342-B048-85BDC9FD1C3A}</a:tableStyleId>
              </a:tblPr>
              <a:tblGrid>
                <a:gridCol w="1828800"/>
                <a:gridCol w="9509760"/>
              </a:tblGrid>
              <a:tr h="256540">
                <a:tc>
                  <a:txBody>
                    <a:bodyPr/>
                    <a:lstStyle/>
                    <a:p>
                      <a:pPr>
                        <a:defRPr sz="1100" b="1">
                          <a:solidFill>
                            <a:srgbClr val="000000"/>
                          </a:solidFill>
                          <a:latin typeface="Calibri"/>
                        </a:defRPr>
                      </a:pPr>
                      <a:r>
                        <a:t>Komponen</a:t>
                      </a:r>
                    </a:p>
                  </a:txBody>
                  <a:tcPr marL="54864" marR="54864" marT="18288" marB="18288">
                    <a:solidFill>
                      <a:srgbClr val="E5E7EB"/>
                    </a:solidFill>
                  </a:tcPr>
                </a:tc>
                <a:tc>
                  <a:txBody>
                    <a:bodyPr/>
                    <a:lstStyle/>
                    <a:p>
                      <a:pPr>
                        <a:defRPr sz="1100" b="1">
                          <a:solidFill>
                            <a:srgbClr val="000000"/>
                          </a:solidFill>
                          <a:latin typeface="Calibri"/>
                        </a:defRPr>
                      </a:pPr>
                      <a:r>
                        <a:t>Deskripsi XCMAS</a:t>
                      </a:r>
                    </a:p>
                  </a:txBody>
                  <a:tcPr marL="54864" marR="54864" marT="18288" marB="18288">
                    <a:solidFill>
                      <a:srgbClr val="E5E7EB"/>
                    </a:solidFill>
                  </a:tcPr>
                </a:tc>
              </a:tr>
              <a:tr h="424179">
                <a:tc>
                  <a:txBody>
                    <a:bodyPr/>
                    <a:lstStyle/>
                    <a:p>
                      <a:pPr>
                        <a:defRPr sz="1100" b="0">
                          <a:solidFill>
                            <a:srgbClr val="000000"/>
                          </a:solidFill>
                          <a:latin typeface="Calibri"/>
                        </a:defRPr>
                      </a:pPr>
                      <a:r>
                        <a:t>Performance</a:t>
                      </a:r>
                    </a:p>
                  </a:txBody>
                  <a:tcPr marL="54864" marR="54864" marT="18288" marB="18288">
                    <a:solidFill>
                      <a:srgbClr val="FFFFFF"/>
                    </a:solidFill>
                  </a:tcPr>
                </a:tc>
                <a:tc>
                  <a:txBody>
                    <a:bodyPr/>
                    <a:lstStyle/>
                    <a:p>
                      <a:pPr>
                        <a:defRPr sz="1100" b="0">
                          <a:solidFill>
                            <a:srgbClr val="000000"/>
                          </a:solidFill>
                          <a:latin typeface="Calibri"/>
                        </a:defRPr>
                      </a:pPr>
                      <a:r>
                        <a:t>OTIF (tepat waktu dan terisi &gt;= 98%); margin kontribusi per order; fill rate; rata-rata hari terlambat; tingkat reject dan surplus; sentuhan manusia; keadilan kuota antar UMKM (Jain); ketahanan dan beban node</a:t>
                      </a:r>
                    </a:p>
                  </a:txBody>
                  <a:tcPr marL="54864" marR="54864" marT="18288" marB="18288">
                    <a:solidFill>
                      <a:srgbClr val="FFFFFF"/>
                    </a:solidFill>
                  </a:tcPr>
                </a:tc>
              </a:tr>
              <a:tr h="424179">
                <a:tc>
                  <a:txBody>
                    <a:bodyPr/>
                    <a:lstStyle/>
                    <a:p>
                      <a:pPr>
                        <a:defRPr sz="1100" b="0">
                          <a:solidFill>
                            <a:srgbClr val="000000"/>
                          </a:solidFill>
                          <a:latin typeface="Calibri"/>
                        </a:defRPr>
                      </a:pPr>
                      <a:r>
                        <a:t>Environment</a:t>
                      </a:r>
                    </a:p>
                  </a:txBody>
                  <a:tcPr marL="54864" marR="54864" marT="18288" marB="18288">
                    <a:solidFill>
                      <a:srgbClr val="FFFFFF"/>
                    </a:solidFill>
                  </a:tcPr>
                </a:tc>
                <a:tc>
                  <a:txBody>
                    <a:bodyPr/>
                    <a:lstStyle/>
                    <a:p>
                      <a:pPr>
                        <a:defRPr sz="1100" b="0">
                          <a:solidFill>
                            <a:srgbClr val="000000"/>
                          </a:solidFill>
                          <a:latin typeface="Calibri"/>
                        </a:defRPr>
                      </a:pPr>
                      <a:r>
                        <a:t>Pasar pembeli global dan kanal iklan; 30 produsen arang (WhatsApp); gudang konsolidasi 3 tahap x 2 mesin; dokumen ekspor dan bea cukai; 3 carrier dengan jadwal kapal mingguan; kongesti pelabuhan</a:t>
                      </a:r>
                    </a:p>
                  </a:txBody>
                  <a:tcPr marL="54864" marR="54864" marT="18288" marB="18288">
                    <a:solidFill>
                      <a:srgbClr val="FFFFFF"/>
                    </a:solidFill>
                  </a:tcPr>
                </a:tc>
              </a:tr>
              <a:tr h="424179">
                <a:tc>
                  <a:txBody>
                    <a:bodyPr/>
                    <a:lstStyle/>
                    <a:p>
                      <a:pPr>
                        <a:defRPr sz="1100" b="0">
                          <a:solidFill>
                            <a:srgbClr val="000000"/>
                          </a:solidFill>
                          <a:latin typeface="Calibri"/>
                        </a:defRPr>
                      </a:pPr>
                      <a:r>
                        <a:t>Actuators</a:t>
                      </a:r>
                    </a:p>
                  </a:txBody>
                  <a:tcPr marL="54864" marR="54864" marT="18288" marB="18288">
                    <a:solidFill>
                      <a:srgbClr val="FFFFFF"/>
                    </a:solidFill>
                  </a:tcPr>
                </a:tc>
                <a:tc>
                  <a:txBody>
                    <a:bodyPr/>
                    <a:lstStyle/>
                    <a:p>
                      <a:pPr>
                        <a:defRPr sz="1100" b="0">
                          <a:solidFill>
                            <a:srgbClr val="000000"/>
                          </a:solidFill>
                          <a:latin typeface="Calibri"/>
                        </a:defRPr>
                      </a:pPr>
                      <a:r>
                        <a:t>Membuat dan mengatur iklan dan konten; broadcast CFP dan pemberian kuota via WhatsApp/bus; penjadwalan lini; lembur; booking carrier; penerbitan dokumen; eskalasi ke manusia; pembaruan quality score dan trust</a:t>
                      </a:r>
                    </a:p>
                  </a:txBody>
                  <a:tcPr marL="54864" marR="54864" marT="18288" marB="18288">
                    <a:solidFill>
                      <a:srgbClr val="FFFFFF"/>
                    </a:solidFill>
                  </a:tcPr>
                </a:tc>
              </a:tr>
              <a:tr h="424179">
                <a:tc>
                  <a:txBody>
                    <a:bodyPr/>
                    <a:lstStyle/>
                    <a:p>
                      <a:pPr>
                        <a:defRPr sz="1100" b="0">
                          <a:solidFill>
                            <a:srgbClr val="000000"/>
                          </a:solidFill>
                          <a:latin typeface="Calibri"/>
                        </a:defRPr>
                      </a:pPr>
                      <a:r>
                        <a:t>Sensors</a:t>
                      </a:r>
                    </a:p>
                  </a:txBody>
                  <a:tcPr marL="54864" marR="54864" marT="18288" marB="18288">
                    <a:solidFill>
                      <a:srgbClr val="FFFFFF"/>
                    </a:solidFill>
                  </a:tcPr>
                </a:tc>
                <a:tc>
                  <a:txBody>
                    <a:bodyPr/>
                    <a:lstStyle/>
                    <a:p>
                      <a:pPr>
                        <a:defRPr sz="1100" b="0">
                          <a:solidFill>
                            <a:srgbClr val="000000"/>
                          </a:solidFill>
                          <a:latin typeface="Calibri"/>
                        </a:defRPr>
                      </a:pPr>
                      <a:r>
                        <a:t>Klik dan RFQ dari tiap kanal iklan; balasan/bid produsen; hasil QC (CV/lab); sensor kesehatan mesin; jadwal kapal via Scout Agent; status pelabuhan; hasil pengiriman; RFQ masuk</a:t>
                      </a:r>
                    </a:p>
                  </a:txBody>
                  <a:tcPr marL="54864" marR="54864" marT="18288" marB="1828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100" b="1">
                <a:solidFill>
                  <a:srgbClr val="000000"/>
                </a:solidFill>
                <a:latin typeface="Calibri"/>
              </a:defRPr>
            </a:pPr>
            <a:r>
              <a:t>3.1 SOTA: tiga penelitian serupa (logistik ekspor, kepatuhan, ketahanan)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7</a:t>
            </a:r>
          </a:p>
        </p:txBody>
      </p:sp>
      <p:graphicFrame>
        <p:nvGraphicFramePr>
          <p:cNvPr id="6" name="Table 5"/>
          <p:cNvGraphicFramePr>
            <a:graphicFrameLocks noGrp="1"/>
          </p:cNvGraphicFramePr>
          <p:nvPr/>
        </p:nvGraphicFramePr>
        <p:xfrm>
          <a:off x="320040" y="1005840"/>
          <a:ext cx="11612880" cy="2915920"/>
        </p:xfrm>
        <a:graphic>
          <a:graphicData uri="http://schemas.openxmlformats.org/drawingml/2006/table">
            <a:tbl>
              <a:tblPr firstRow="1" bandRow="1">
                <a:tableStyleId>{5C22544A-7EE6-4342-B048-85BDC9FD1C3A}</a:tableStyleId>
              </a:tblPr>
              <a:tblGrid>
                <a:gridCol w="3840480"/>
                <a:gridCol w="2743200"/>
                <a:gridCol w="3566160"/>
                <a:gridCol w="1463040"/>
              </a:tblGrid>
              <a:tr h="248920">
                <a:tc>
                  <a:txBody>
                    <a:bodyPr/>
                    <a:lstStyle/>
                    <a:p>
                      <a:pPr>
                        <a:defRPr sz="1050" b="1">
                          <a:solidFill>
                            <a:srgbClr val="000000"/>
                          </a:solidFill>
                          <a:latin typeface="Calibri"/>
                        </a:defRPr>
                      </a:pPr>
                      <a:r>
                        <a:t>Penelitian</a:t>
                      </a:r>
                    </a:p>
                  </a:txBody>
                  <a:tcPr marL="54864" marR="54864" marT="18288" marB="18288">
                    <a:solidFill>
                      <a:srgbClr val="E5E7EB"/>
                    </a:solidFill>
                  </a:tcPr>
                </a:tc>
                <a:tc>
                  <a:txBody>
                    <a:bodyPr/>
                    <a:lstStyle/>
                    <a:p>
                      <a:pPr>
                        <a:defRPr sz="1050" b="1">
                          <a:solidFill>
                            <a:srgbClr val="000000"/>
                          </a:solidFill>
                          <a:latin typeface="Calibri"/>
                        </a:defRPr>
                      </a:pPr>
                      <a:r>
                        <a:t>Temuan</a:t>
                      </a:r>
                    </a:p>
                  </a:txBody>
                  <a:tcPr marL="54864" marR="54864" marT="18288" marB="18288">
                    <a:solidFill>
                      <a:srgbClr val="E5E7EB"/>
                    </a:solidFill>
                  </a:tcPr>
                </a:tc>
                <a:tc>
                  <a:txBody>
                    <a:bodyPr/>
                    <a:lstStyle/>
                    <a:p>
                      <a:pPr>
                        <a:defRPr sz="1050" b="1">
                          <a:solidFill>
                            <a:srgbClr val="000000"/>
                          </a:solidFill>
                          <a:latin typeface="Calibri"/>
                        </a:defRPr>
                      </a:pPr>
                      <a:r>
                        <a:t>Relevansi dan celah</a:t>
                      </a:r>
                    </a:p>
                  </a:txBody>
                  <a:tcPr marL="54864" marR="54864" marT="18288" marB="18288">
                    <a:solidFill>
                      <a:srgbClr val="E5E7EB"/>
                    </a:solidFill>
                  </a:tcPr>
                </a:tc>
                <a:tc>
                  <a:txBody>
                    <a:bodyPr/>
                    <a:lstStyle/>
                    <a:p>
                      <a:pPr>
                        <a:defRPr sz="1050" b="1">
                          <a:solidFill>
                            <a:srgbClr val="000000"/>
                          </a:solidFill>
                          <a:latin typeface="Calibri"/>
                        </a:defRPr>
                      </a:pPr>
                      <a:r>
                        <a:t>DOI</a:t>
                      </a:r>
                    </a:p>
                  </a:txBody>
                  <a:tcPr marL="54864" marR="54864" marT="18288" marB="18288">
                    <a:solidFill>
                      <a:srgbClr val="E5E7EB"/>
                    </a:solidFill>
                  </a:tcPr>
                </a:tc>
              </a:tr>
              <a:tr h="889000">
                <a:tc>
                  <a:txBody>
                    <a:bodyPr/>
                    <a:lstStyle/>
                    <a:p>
                      <a:pPr>
                        <a:defRPr sz="1050" b="0">
                          <a:solidFill>
                            <a:srgbClr val="000000"/>
                          </a:solidFill>
                          <a:latin typeface="Calibri"/>
                        </a:defRPr>
                      </a:pPr>
                      <a:r>
                        <a:t>Hathikal, S., Chung, S. H., &amp; Karczewski, M. (2020). Prediction of ocean import shipment lead time using machine learning methods. SN Applied Sciences, 2, 1272.</a:t>
                      </a:r>
                    </a:p>
                  </a:txBody>
                  <a:tcPr marL="54864" marR="54864" marT="18288" marB="18288">
                    <a:solidFill>
                      <a:srgbClr val="FFFFFF"/>
                    </a:solidFill>
                  </a:tcPr>
                </a:tc>
                <a:tc>
                  <a:txBody>
                    <a:bodyPr/>
                    <a:lstStyle/>
                    <a:p>
                      <a:pPr>
                        <a:defRPr sz="1050" b="0">
                          <a:solidFill>
                            <a:srgbClr val="000000"/>
                          </a:solidFill>
                          <a:latin typeface="Calibri"/>
                        </a:defRPr>
                      </a:pPr>
                      <a:r>
                        <a:t>Memprediksi lead time pengiriman laut dengan regresi logistik, pohon keputusan, SVM, Naive Bayes, k-NN untuk shipper, carrier, forwarder, consignee.</a:t>
                      </a:r>
                    </a:p>
                  </a:txBody>
                  <a:tcPr marL="54864" marR="54864" marT="18288" marB="18288">
                    <a:solidFill>
                      <a:srgbClr val="FFFFFF"/>
                    </a:solidFill>
                  </a:tcPr>
                </a:tc>
                <a:tc>
                  <a:txBody>
                    <a:bodyPr/>
                    <a:lstStyle/>
                    <a:p>
                      <a:pPr>
                        <a:defRPr sz="1050" b="0">
                          <a:solidFill>
                            <a:srgbClr val="000000"/>
                          </a:solidFill>
                          <a:latin typeface="Calibri"/>
                        </a:defRPr>
                      </a:pPr>
                      <a:r>
                        <a:t>Mendukung model klasik/explainable untuk risiko pengiriman (Risk Agent: regresi logistik roll-over). Celah: prediksi tunggal, tidak terhubung ke keputusan kontrak dan re-kontrak.</a:t>
                      </a:r>
                    </a:p>
                  </a:txBody>
                  <a:tcPr marL="54864" marR="54864" marT="18288" marB="18288">
                    <a:solidFill>
                      <a:srgbClr val="FFFFFF"/>
                    </a:solidFill>
                  </a:tcPr>
                </a:tc>
                <a:tc>
                  <a:txBody>
                    <a:bodyPr/>
                    <a:lstStyle/>
                    <a:p>
                      <a:pPr>
                        <a:defRPr sz="1050" b="0">
                          <a:solidFill>
                            <a:srgbClr val="000000"/>
                          </a:solidFill>
                          <a:latin typeface="Calibri"/>
                        </a:defRPr>
                      </a:pPr>
                      <a:r>
                        <a:t>10.1007/s42452-020-2951-5</a:t>
                      </a:r>
                    </a:p>
                  </a:txBody>
                  <a:tcPr marL="54864" marR="54864" marT="18288" marB="18288">
                    <a:solidFill>
                      <a:srgbClr val="FFFFFF"/>
                    </a:solidFill>
                  </a:tcPr>
                </a:tc>
              </a:tr>
              <a:tr h="889000">
                <a:tc>
                  <a:txBody>
                    <a:bodyPr/>
                    <a:lstStyle/>
                    <a:p>
                      <a:pPr>
                        <a:defRPr sz="1050" b="0">
                          <a:solidFill>
                            <a:srgbClr val="000000"/>
                          </a:solidFill>
                          <a:latin typeface="Calibri"/>
                        </a:defRPr>
                      </a:pPr>
                      <a:r>
                        <a:t>Lee, E., Kim, S., Kim, S., Jung, S., Kim, H., &amp; Cha, M. (2024). Explainable product classification for customs. ACM Transactions on Intelligent Systems and Technology, 15(2), Art. 25.</a:t>
                      </a:r>
                    </a:p>
                  </a:txBody>
                  <a:tcPr marL="54864" marR="54864" marT="18288" marB="18288">
                    <a:solidFill>
                      <a:srgbClr val="FFFFFF"/>
                    </a:solidFill>
                  </a:tcPr>
                </a:tc>
                <a:tc>
                  <a:txBody>
                    <a:bodyPr/>
                    <a:lstStyle/>
                    <a:p>
                      <a:pPr>
                        <a:defRPr sz="1050" b="0">
                          <a:solidFill>
                            <a:srgbClr val="000000"/>
                          </a:solidFill>
                          <a:latin typeface="Calibri"/>
                        </a:defRPr>
                      </a:pPr>
                      <a:r>
                        <a:t>Model XAI untuk membantu petugas bea cukai menetapkan subheading HS (top-3 akurasi 93,9% pada 925 subheading sulit) dengan penjelasan yang dapat dibaca.</a:t>
                      </a:r>
                    </a:p>
                  </a:txBody>
                  <a:tcPr marL="54864" marR="54864" marT="18288" marB="18288">
                    <a:solidFill>
                      <a:srgbClr val="FFFFFF"/>
                    </a:solidFill>
                  </a:tcPr>
                </a:tc>
                <a:tc>
                  <a:txBody>
                    <a:bodyPr/>
                    <a:lstStyle/>
                    <a:p>
                      <a:pPr>
                        <a:defRPr sz="1050" b="0">
                          <a:solidFill>
                            <a:srgbClr val="000000"/>
                          </a:solidFill>
                          <a:latin typeface="Calibri"/>
                        </a:defRPr>
                      </a:pPr>
                      <a:r>
                        <a:t>Dasar Compliance Agent (klasifikasi teks HS dengan confidence dan eskalasi). Celah: alat bantu petugas bea cukai, bukan bagian dari alur ekspor UMKM yang otomatis.</a:t>
                      </a:r>
                    </a:p>
                  </a:txBody>
                  <a:tcPr marL="54864" marR="54864" marT="18288" marB="18288">
                    <a:solidFill>
                      <a:srgbClr val="FFFFFF"/>
                    </a:solidFill>
                  </a:tcPr>
                </a:tc>
                <a:tc>
                  <a:txBody>
                    <a:bodyPr/>
                    <a:lstStyle/>
                    <a:p>
                      <a:pPr>
                        <a:defRPr sz="1050" b="0">
                          <a:solidFill>
                            <a:srgbClr val="000000"/>
                          </a:solidFill>
                          <a:latin typeface="Calibri"/>
                        </a:defRPr>
                      </a:pPr>
                      <a:r>
                        <a:t>10.1145/3635158</a:t>
                      </a:r>
                    </a:p>
                  </a:txBody>
                  <a:tcPr marL="54864" marR="54864" marT="18288" marB="18288">
                    <a:solidFill>
                      <a:srgbClr val="FFFFFF"/>
                    </a:solidFill>
                  </a:tcPr>
                </a:tc>
              </a:tr>
              <a:tr h="889000">
                <a:tc>
                  <a:txBody>
                    <a:bodyPr/>
                    <a:lstStyle/>
                    <a:p>
                      <a:pPr>
                        <a:defRPr sz="1050" b="0">
                          <a:solidFill>
                            <a:srgbClr val="000000"/>
                          </a:solidFill>
                          <a:latin typeface="Calibri"/>
                        </a:defRPr>
                      </a:pPr>
                      <a:r>
                        <a:t>Ivanov, D., &amp; Dolgui, A. (2021). A digital supply chain twin for managing the disruption risks and resilience in the era of Industry 4.0. Production Planning &amp; Control, 32(9), 775-788.</a:t>
                      </a:r>
                    </a:p>
                  </a:txBody>
                  <a:tcPr marL="54864" marR="54864" marT="18288" marB="18288">
                    <a:solidFill>
                      <a:srgbClr val="FFFFFF"/>
                    </a:solidFill>
                  </a:tcPr>
                </a:tc>
                <a:tc>
                  <a:txBody>
                    <a:bodyPr/>
                    <a:lstStyle/>
                    <a:p>
                      <a:pPr>
                        <a:defRPr sz="1050" b="0">
                          <a:solidFill>
                            <a:srgbClr val="000000"/>
                          </a:solidFill>
                          <a:latin typeface="Calibri"/>
                        </a:defRPr>
                      </a:pPr>
                      <a:r>
                        <a:t>Konsep digital supply chain twin: model komputasi yang merepresentasikan keadaan jaringan waktu-nyata untuk mengelola gangguan dan ketahanan.</a:t>
                      </a:r>
                    </a:p>
                  </a:txBody>
                  <a:tcPr marL="54864" marR="54864" marT="18288" marB="18288">
                    <a:solidFill>
                      <a:srgbClr val="FFFFFF"/>
                    </a:solidFill>
                  </a:tcPr>
                </a:tc>
                <a:tc>
                  <a:txBody>
                    <a:bodyPr/>
                    <a:lstStyle/>
                    <a:p>
                      <a:pPr>
                        <a:defRPr sz="1050" b="0">
                          <a:solidFill>
                            <a:srgbClr val="000000"/>
                          </a:solidFill>
                          <a:latin typeface="Calibri"/>
                        </a:defRPr>
                      </a:pPr>
                      <a:r>
                        <a:t>Mendukung pendekatan simulasi digital twin sebagai lingkungan uji (Bagian 8). Celah: level jaringan besar; tidak menyentuh konsolidasi UMKM dan negosiasi kuota.</a:t>
                      </a:r>
                    </a:p>
                  </a:txBody>
                  <a:tcPr marL="54864" marR="54864" marT="18288" marB="18288">
                    <a:solidFill>
                      <a:srgbClr val="FFFFFF"/>
                    </a:solidFill>
                  </a:tcPr>
                </a:tc>
                <a:tc>
                  <a:txBody>
                    <a:bodyPr/>
                    <a:lstStyle/>
                    <a:p>
                      <a:pPr>
                        <a:defRPr sz="1050" b="0">
                          <a:solidFill>
                            <a:srgbClr val="000000"/>
                          </a:solidFill>
                          <a:latin typeface="Calibri"/>
                        </a:defRPr>
                      </a:pPr>
                      <a:r>
                        <a:t>10.1080/09537287.2020.1768450</a:t>
                      </a:r>
                    </a:p>
                  </a:txBody>
                  <a:tcPr marL="54864" marR="54864" marT="18288" marB="18288">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3.2 SOTA: tiga penelitian yang memakai agen cerdas</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8</a:t>
            </a:r>
          </a:p>
        </p:txBody>
      </p:sp>
      <p:graphicFrame>
        <p:nvGraphicFramePr>
          <p:cNvPr id="6" name="Table 5"/>
          <p:cNvGraphicFramePr>
            <a:graphicFrameLocks noGrp="1"/>
          </p:cNvGraphicFramePr>
          <p:nvPr/>
        </p:nvGraphicFramePr>
        <p:xfrm>
          <a:off x="320040" y="1005840"/>
          <a:ext cx="11612880" cy="2435860"/>
        </p:xfrm>
        <a:graphic>
          <a:graphicData uri="http://schemas.openxmlformats.org/drawingml/2006/table">
            <a:tbl>
              <a:tblPr firstRow="1" bandRow="1">
                <a:tableStyleId>{5C22544A-7EE6-4342-B048-85BDC9FD1C3A}</a:tableStyleId>
              </a:tblPr>
              <a:tblGrid>
                <a:gridCol w="3840480"/>
                <a:gridCol w="2743200"/>
                <a:gridCol w="3566160"/>
                <a:gridCol w="1463040"/>
              </a:tblGrid>
              <a:tr h="248920">
                <a:tc>
                  <a:txBody>
                    <a:bodyPr/>
                    <a:lstStyle/>
                    <a:p>
                      <a:pPr>
                        <a:defRPr sz="1050" b="1">
                          <a:solidFill>
                            <a:srgbClr val="000000"/>
                          </a:solidFill>
                          <a:latin typeface="Calibri"/>
                        </a:defRPr>
                      </a:pPr>
                      <a:r>
                        <a:t>Penelitian</a:t>
                      </a:r>
                    </a:p>
                  </a:txBody>
                  <a:tcPr marL="54864" marR="54864" marT="18288" marB="18288">
                    <a:solidFill>
                      <a:srgbClr val="E5E7EB"/>
                    </a:solidFill>
                  </a:tcPr>
                </a:tc>
                <a:tc>
                  <a:txBody>
                    <a:bodyPr/>
                    <a:lstStyle/>
                    <a:p>
                      <a:pPr>
                        <a:defRPr sz="1050" b="1">
                          <a:solidFill>
                            <a:srgbClr val="000000"/>
                          </a:solidFill>
                          <a:latin typeface="Calibri"/>
                        </a:defRPr>
                      </a:pPr>
                      <a:r>
                        <a:t>Temuan</a:t>
                      </a:r>
                    </a:p>
                  </a:txBody>
                  <a:tcPr marL="54864" marR="54864" marT="18288" marB="18288">
                    <a:solidFill>
                      <a:srgbClr val="E5E7EB"/>
                    </a:solidFill>
                  </a:tcPr>
                </a:tc>
                <a:tc>
                  <a:txBody>
                    <a:bodyPr/>
                    <a:lstStyle/>
                    <a:p>
                      <a:pPr>
                        <a:defRPr sz="1050" b="1">
                          <a:solidFill>
                            <a:srgbClr val="000000"/>
                          </a:solidFill>
                          <a:latin typeface="Calibri"/>
                        </a:defRPr>
                      </a:pPr>
                      <a:r>
                        <a:t>Relevansi dan celah</a:t>
                      </a:r>
                    </a:p>
                  </a:txBody>
                  <a:tcPr marL="54864" marR="54864" marT="18288" marB="18288">
                    <a:solidFill>
                      <a:srgbClr val="E5E7EB"/>
                    </a:solidFill>
                  </a:tcPr>
                </a:tc>
                <a:tc>
                  <a:txBody>
                    <a:bodyPr/>
                    <a:lstStyle/>
                    <a:p>
                      <a:pPr>
                        <a:defRPr sz="1050" b="1">
                          <a:solidFill>
                            <a:srgbClr val="000000"/>
                          </a:solidFill>
                          <a:latin typeface="Calibri"/>
                        </a:defRPr>
                      </a:pPr>
                      <a:r>
                        <a:t>DOI</a:t>
                      </a:r>
                    </a:p>
                  </a:txBody>
                  <a:tcPr marL="54864" marR="54864" marT="18288" marB="18288">
                    <a:solidFill>
                      <a:srgbClr val="E5E7EB"/>
                    </a:solidFill>
                  </a:tcPr>
                </a:tc>
              </a:tr>
              <a:tr h="728980">
                <a:tc>
                  <a:txBody>
                    <a:bodyPr/>
                    <a:lstStyle/>
                    <a:p>
                      <a:pPr>
                        <a:defRPr sz="1050" b="0">
                          <a:solidFill>
                            <a:srgbClr val="000000"/>
                          </a:solidFill>
                          <a:latin typeface="Calibri"/>
                        </a:defRPr>
                      </a:pPr>
                      <a:r>
                        <a:t>Smith, R. G. (1980). The Contract Net Protocol: High-level communication and control in a distributed problem solver. IEEE Transactions on Computers, C-29(12), 1104-1113.</a:t>
                      </a:r>
                    </a:p>
                  </a:txBody>
                  <a:tcPr marL="54864" marR="54864" marT="18288" marB="18288">
                    <a:solidFill>
                      <a:srgbClr val="FFFFFF"/>
                    </a:solidFill>
                  </a:tcPr>
                </a:tc>
                <a:tc>
                  <a:txBody>
                    <a:bodyPr/>
                    <a:lstStyle/>
                    <a:p>
                      <a:pPr>
                        <a:defRPr sz="1050" b="0">
                          <a:solidFill>
                            <a:srgbClr val="000000"/>
                          </a:solidFill>
                          <a:latin typeface="Calibri"/>
                        </a:defRPr>
                      </a:pPr>
                      <a:r>
                        <a:t>Alokasi tugas terdesentralisasi: manajer mengumumkan tugas (CFP), kontraktor menawar, pemenang dipilih; dapat re-kontrak bila gagal.</a:t>
                      </a:r>
                    </a:p>
                  </a:txBody>
                  <a:tcPr marL="54864" marR="54864" marT="18288" marB="18288">
                    <a:solidFill>
                      <a:srgbClr val="FFFFFF"/>
                    </a:solidFill>
                  </a:tcPr>
                </a:tc>
                <a:tc>
                  <a:txBody>
                    <a:bodyPr/>
                    <a:lstStyle/>
                    <a:p>
                      <a:pPr>
                        <a:defRPr sz="1050" b="0">
                          <a:solidFill>
                            <a:srgbClr val="000000"/>
                          </a:solidFill>
                          <a:latin typeface="Calibri"/>
                        </a:defRPr>
                      </a:pPr>
                      <a:r>
                        <a:t>Protokol inti XCMAS untuk kuota produsen, dispatch lini gudang, dan pemilihan carrier. Celah: tidak membahas quality score, buffer, atau batas konsentrasi; XCMAS menambahkannya.</a:t>
                      </a:r>
                    </a:p>
                  </a:txBody>
                  <a:tcPr marL="54864" marR="54864" marT="18288" marB="18288">
                    <a:solidFill>
                      <a:srgbClr val="FFFFFF"/>
                    </a:solidFill>
                  </a:tcPr>
                </a:tc>
                <a:tc>
                  <a:txBody>
                    <a:bodyPr/>
                    <a:lstStyle/>
                    <a:p>
                      <a:pPr>
                        <a:defRPr sz="1050" b="0">
                          <a:solidFill>
                            <a:srgbClr val="000000"/>
                          </a:solidFill>
                          <a:latin typeface="Calibri"/>
                        </a:defRPr>
                      </a:pPr>
                      <a:r>
                        <a:t>10.1109/TC.1980.1675516</a:t>
                      </a:r>
                    </a:p>
                  </a:txBody>
                  <a:tcPr marL="54864" marR="54864" marT="18288" marB="18288">
                    <a:solidFill>
                      <a:srgbClr val="FFFFFF"/>
                    </a:solidFill>
                  </a:tcPr>
                </a:tc>
              </a:tr>
              <a:tr h="728980">
                <a:tc>
                  <a:txBody>
                    <a:bodyPr/>
                    <a:lstStyle/>
                    <a:p>
                      <a:pPr>
                        <a:defRPr sz="1050" b="0">
                          <a:solidFill>
                            <a:srgbClr val="000000"/>
                          </a:solidFill>
                          <a:latin typeface="Calibri"/>
                        </a:defRPr>
                      </a:pPr>
                      <a:r>
                        <a:t>Leitão, P. (2009). Agent-based distributed manufacturing control: A state-of-the-art survey. Engineering Applications of Artificial Intelligence, 22(7), 979-991.</a:t>
                      </a:r>
                    </a:p>
                  </a:txBody>
                  <a:tcPr marL="54864" marR="54864" marT="18288" marB="18288">
                    <a:solidFill>
                      <a:srgbClr val="FFFFFF"/>
                    </a:solidFill>
                  </a:tcPr>
                </a:tc>
                <a:tc>
                  <a:txBody>
                    <a:bodyPr/>
                    <a:lstStyle/>
                    <a:p>
                      <a:pPr>
                        <a:defRPr sz="1050" b="0">
                          <a:solidFill>
                            <a:srgbClr val="000000"/>
                          </a:solidFill>
                          <a:latin typeface="Calibri"/>
                        </a:defRPr>
                      </a:pPr>
                      <a:r>
                        <a:t>Survei kontrol manufaktur berbasis agen: fleksibilitas dan reaksi terhadap gangguan, tetapi adopsi industri terbatas oleh integrasi dan validasi.</a:t>
                      </a:r>
                    </a:p>
                  </a:txBody>
                  <a:tcPr marL="54864" marR="54864" marT="18288" marB="18288">
                    <a:solidFill>
                      <a:srgbClr val="FFFFFF"/>
                    </a:solidFill>
                  </a:tcPr>
                </a:tc>
                <a:tc>
                  <a:txBody>
                    <a:bodyPr/>
                    <a:lstStyle/>
                    <a:p>
                      <a:pPr>
                        <a:defRPr sz="1050" b="0">
                          <a:solidFill>
                            <a:srgbClr val="000000"/>
                          </a:solidFill>
                          <a:latin typeface="Calibri"/>
                        </a:defRPr>
                      </a:pPr>
                      <a:r>
                        <a:t>Menjustifikasi produsen/lini sebagai unit otonom dan pendekatan hibrida. Celah: fokus satu pabrik; belum konsorsium lintas UMKM dengan data kapasitas berubah.</a:t>
                      </a:r>
                    </a:p>
                  </a:txBody>
                  <a:tcPr marL="54864" marR="54864" marT="18288" marB="18288">
                    <a:solidFill>
                      <a:srgbClr val="FFFFFF"/>
                    </a:solidFill>
                  </a:tcPr>
                </a:tc>
                <a:tc>
                  <a:txBody>
                    <a:bodyPr/>
                    <a:lstStyle/>
                    <a:p>
                      <a:pPr>
                        <a:defRPr sz="1050" b="0">
                          <a:solidFill>
                            <a:srgbClr val="000000"/>
                          </a:solidFill>
                          <a:latin typeface="Calibri"/>
                        </a:defRPr>
                      </a:pPr>
                      <a:r>
                        <a:t>10.1016/j.engappai.2008.09.005</a:t>
                      </a:r>
                    </a:p>
                  </a:txBody>
                  <a:tcPr marL="54864" marR="54864" marT="18288" marB="18288">
                    <a:solidFill>
                      <a:srgbClr val="FFFFFF"/>
                    </a:solidFill>
                  </a:tcPr>
                </a:tc>
              </a:tr>
              <a:tr h="728980">
                <a:tc>
                  <a:txBody>
                    <a:bodyPr/>
                    <a:lstStyle/>
                    <a:p>
                      <a:pPr>
                        <a:defRPr sz="1050" b="0">
                          <a:solidFill>
                            <a:srgbClr val="000000"/>
                          </a:solidFill>
                          <a:latin typeface="Calibri"/>
                        </a:defRPr>
                      </a:pPr>
                      <a:r>
                        <a:t>Wang, L., Ma, C., Feng, X., Zhang, Z., Yang, H., Zhang, J., ... Wen, J. (2024). A survey on large language model based autonomous agents. Frontiers of Computer Science, 18(6), 186345.</a:t>
                      </a:r>
                    </a:p>
                  </a:txBody>
                  <a:tcPr marL="54864" marR="54864" marT="18288" marB="18288">
                    <a:solidFill>
                      <a:srgbClr val="FFFFFF"/>
                    </a:solidFill>
                  </a:tcPr>
                </a:tc>
                <a:tc>
                  <a:txBody>
                    <a:bodyPr/>
                    <a:lstStyle/>
                    <a:p>
                      <a:pPr>
                        <a:defRPr sz="1050" b="0">
                          <a:solidFill>
                            <a:srgbClr val="000000"/>
                          </a:solidFill>
                          <a:latin typeface="Calibri"/>
                        </a:defRPr>
                      </a:pPr>
                      <a:r>
                        <a:t>Kerangka terpadu agen berbasis LLM (profil, memori, perencanaan, aksi) dan aplikasi rekayasa/sosial.</a:t>
                      </a:r>
                    </a:p>
                  </a:txBody>
                  <a:tcPr marL="54864" marR="54864" marT="18288" marB="18288">
                    <a:solidFill>
                      <a:srgbClr val="FFFFFF"/>
                    </a:solidFill>
                  </a:tcPr>
                </a:tc>
                <a:tc>
                  <a:txBody>
                    <a:bodyPr/>
                    <a:lstStyle/>
                    <a:p>
                      <a:pPr>
                        <a:defRPr sz="1050" b="0">
                          <a:solidFill>
                            <a:srgbClr val="000000"/>
                          </a:solidFill>
                          <a:latin typeface="Calibri"/>
                        </a:defRPr>
                      </a:pPr>
                      <a:r>
                        <a:t>Dasar Virtual SDR (LLM sebagai lapisan bahasa). Celah: kontrol dan keamanan aksi masih terbuka; XCMAS membatasi LLM dengan guardrail dan aturan deterministik.</a:t>
                      </a:r>
                    </a:p>
                  </a:txBody>
                  <a:tcPr marL="54864" marR="54864" marT="18288" marB="18288">
                    <a:solidFill>
                      <a:srgbClr val="FFFFFF"/>
                    </a:solidFill>
                  </a:tcPr>
                </a:tc>
                <a:tc>
                  <a:txBody>
                    <a:bodyPr/>
                    <a:lstStyle/>
                    <a:p>
                      <a:pPr>
                        <a:defRPr sz="1050" b="0">
                          <a:solidFill>
                            <a:srgbClr val="000000"/>
                          </a:solidFill>
                          <a:latin typeface="Calibri"/>
                        </a:defRPr>
                      </a:pPr>
                      <a:r>
                        <a:t>10.1007/s11704-024-40231-1</a:t>
                      </a:r>
                    </a:p>
                  </a:txBody>
                  <a:tcPr marL="54864" marR="54864" marT="18288" marB="1828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3.3 SOTA lengkap (1/2): agen, negosiasi, pembelajaran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9</a:t>
            </a:r>
          </a:p>
        </p:txBody>
      </p:sp>
      <p:graphicFrame>
        <p:nvGraphicFramePr>
          <p:cNvPr id="6" name="Table 5"/>
          <p:cNvGraphicFramePr>
            <a:graphicFrameLocks noGrp="1"/>
          </p:cNvGraphicFramePr>
          <p:nvPr/>
        </p:nvGraphicFramePr>
        <p:xfrm>
          <a:off x="320040" y="1005840"/>
          <a:ext cx="11521440" cy="3238500"/>
        </p:xfrm>
        <a:graphic>
          <a:graphicData uri="http://schemas.openxmlformats.org/drawingml/2006/table">
            <a:tbl>
              <a:tblPr firstRow="1" bandRow="1">
                <a:tableStyleId>{5C22544A-7EE6-4342-B048-85BDC9FD1C3A}</a:tableStyleId>
              </a:tblPr>
              <a:tblGrid>
                <a:gridCol w="6766560"/>
                <a:gridCol w="2377440"/>
                <a:gridCol w="2377440"/>
              </a:tblGrid>
              <a:tr h="241300">
                <a:tc>
                  <a:txBody>
                    <a:bodyPr/>
                    <a:lstStyle/>
                    <a:p>
                      <a:pPr>
                        <a:defRPr sz="1000" b="1">
                          <a:solidFill>
                            <a:srgbClr val="000000"/>
                          </a:solidFill>
                          <a:latin typeface="Calibri"/>
                        </a:defRPr>
                      </a:pPr>
                      <a:r>
                        <a:t>Referensi</a:t>
                      </a:r>
                    </a:p>
                  </a:txBody>
                  <a:tcPr marL="54864" marR="54864" marT="18288" marB="18288">
                    <a:solidFill>
                      <a:srgbClr val="E5E7EB"/>
                    </a:solidFill>
                  </a:tcPr>
                </a:tc>
                <a:tc>
                  <a:txBody>
                    <a:bodyPr/>
                    <a:lstStyle/>
                    <a:p>
                      <a:pPr>
                        <a:defRPr sz="1000" b="1">
                          <a:solidFill>
                            <a:srgbClr val="000000"/>
                          </a:solidFill>
                          <a:latin typeface="Calibri"/>
                        </a:defRPr>
                      </a:pPr>
                      <a:r>
                        <a:t>Jurnal (kuartil*)</a:t>
                      </a:r>
                    </a:p>
                  </a:txBody>
                  <a:tcPr marL="54864" marR="54864" marT="18288" marB="18288">
                    <a:solidFill>
                      <a:srgbClr val="E5E7EB"/>
                    </a:solidFill>
                  </a:tcPr>
                </a:tc>
                <a:tc>
                  <a:txBody>
                    <a:bodyPr/>
                    <a:lstStyle/>
                    <a:p>
                      <a:pPr>
                        <a:defRPr sz="1000" b="1">
                          <a:solidFill>
                            <a:srgbClr val="000000"/>
                          </a:solidFill>
                          <a:latin typeface="Calibri"/>
                        </a:defRPr>
                      </a:pPr>
                      <a:r>
                        <a:t>DOI</a:t>
                      </a:r>
                    </a:p>
                  </a:txBody>
                  <a:tcPr marL="54864" marR="54864" marT="18288" marB="18288">
                    <a:solidFill>
                      <a:srgbClr val="E5E7EB"/>
                    </a:solidFill>
                  </a:tcPr>
                </a:tc>
              </a:tr>
              <a:tr h="393700">
                <a:tc>
                  <a:txBody>
                    <a:bodyPr/>
                    <a:lstStyle/>
                    <a:p>
                      <a:pPr>
                        <a:defRPr sz="1000" b="0">
                          <a:solidFill>
                            <a:srgbClr val="000000"/>
                          </a:solidFill>
                          <a:latin typeface="Calibri"/>
                        </a:defRPr>
                      </a:pPr>
                      <a:r>
                        <a:t>Smith, R. G. (1980). The Contract Net Protocol: High-level communication and control in a distributed problem solver. IEEE Transactions on Computers, C-29(12), 1104-1113.</a:t>
                      </a:r>
                    </a:p>
                  </a:txBody>
                  <a:tcPr marL="54864" marR="54864" marT="18288" marB="18288">
                    <a:solidFill>
                      <a:srgbClr val="FFFFFF"/>
                    </a:solidFill>
                  </a:tcPr>
                </a:tc>
                <a:tc>
                  <a:txBody>
                    <a:bodyPr/>
                    <a:lstStyle/>
                    <a:p>
                      <a:pPr>
                        <a:defRPr sz="1000" b="0">
                          <a:solidFill>
                            <a:srgbClr val="000000"/>
                          </a:solidFill>
                          <a:latin typeface="Calibri"/>
                        </a:defRPr>
                      </a:pPr>
                      <a:r>
                        <a:t>IEEE Trans. Computers (Q1)</a:t>
                      </a:r>
                    </a:p>
                  </a:txBody>
                  <a:tcPr marL="54864" marR="54864" marT="18288" marB="18288">
                    <a:solidFill>
                      <a:srgbClr val="FFFFFF"/>
                    </a:solidFill>
                  </a:tcPr>
                </a:tc>
                <a:tc>
                  <a:txBody>
                    <a:bodyPr/>
                    <a:lstStyle/>
                    <a:p>
                      <a:pPr>
                        <a:defRPr sz="1000" b="0">
                          <a:solidFill>
                            <a:srgbClr val="000000"/>
                          </a:solidFill>
                          <a:latin typeface="Calibri"/>
                        </a:defRPr>
                      </a:pPr>
                      <a:r>
                        <a:t>10.1109/TC.1980.1675516</a:t>
                      </a:r>
                    </a:p>
                  </a:txBody>
                  <a:tcPr marL="54864" marR="54864" marT="18288" marB="18288">
                    <a:solidFill>
                      <a:srgbClr val="FFFFFF"/>
                    </a:solidFill>
                  </a:tcPr>
                </a:tc>
              </a:tr>
              <a:tr h="393700">
                <a:tc>
                  <a:txBody>
                    <a:bodyPr/>
                    <a:lstStyle/>
                    <a:p>
                      <a:pPr>
                        <a:defRPr sz="1000" b="0">
                          <a:solidFill>
                            <a:srgbClr val="000000"/>
                          </a:solidFill>
                          <a:latin typeface="Calibri"/>
                        </a:defRPr>
                      </a:pPr>
                      <a:r>
                        <a:t>Leitão, P. (2009). Agent-based distributed manufacturing control: A state-of-the-art survey. Engineering Applications of Artificial Intelligence, 22(7), 979-991.</a:t>
                      </a:r>
                    </a:p>
                  </a:txBody>
                  <a:tcPr marL="54864" marR="54864" marT="18288" marB="18288">
                    <a:solidFill>
                      <a:srgbClr val="FFFFFF"/>
                    </a:solidFill>
                  </a:tcPr>
                </a:tc>
                <a:tc>
                  <a:txBody>
                    <a:bodyPr/>
                    <a:lstStyle/>
                    <a:p>
                      <a:pPr>
                        <a:defRPr sz="1000" b="0">
                          <a:solidFill>
                            <a:srgbClr val="000000"/>
                          </a:solidFill>
                          <a:latin typeface="Calibri"/>
                        </a:defRPr>
                      </a:pPr>
                      <a:r>
                        <a:t>Eng. Appl. Artif. Intell. (Q1)</a:t>
                      </a:r>
                    </a:p>
                  </a:txBody>
                  <a:tcPr marL="54864" marR="54864" marT="18288" marB="18288">
                    <a:solidFill>
                      <a:srgbClr val="FFFFFF"/>
                    </a:solidFill>
                  </a:tcPr>
                </a:tc>
                <a:tc>
                  <a:txBody>
                    <a:bodyPr/>
                    <a:lstStyle/>
                    <a:p>
                      <a:pPr>
                        <a:defRPr sz="1000" b="0">
                          <a:solidFill>
                            <a:srgbClr val="000000"/>
                          </a:solidFill>
                          <a:latin typeface="Calibri"/>
                        </a:defRPr>
                      </a:pPr>
                      <a:r>
                        <a:t>10.1016/j.engappai.2008.09.005</a:t>
                      </a:r>
                    </a:p>
                  </a:txBody>
                  <a:tcPr marL="54864" marR="54864" marT="18288" marB="18288">
                    <a:solidFill>
                      <a:srgbClr val="FFFFFF"/>
                    </a:solidFill>
                  </a:tcPr>
                </a:tc>
              </a:tr>
              <a:tr h="393700">
                <a:tc>
                  <a:txBody>
                    <a:bodyPr/>
                    <a:lstStyle/>
                    <a:p>
                      <a:pPr>
                        <a:defRPr sz="1000" b="0">
                          <a:solidFill>
                            <a:srgbClr val="000000"/>
                          </a:solidFill>
                          <a:latin typeface="Calibri"/>
                        </a:defRPr>
                      </a:pPr>
                      <a:r>
                        <a:t>Dorri, A., Kanhere, S. S., &amp; Jurdak, R. (2018). Multi-agent systems: A survey. IEEE Access, 6, 28573-28593.</a:t>
                      </a:r>
                    </a:p>
                  </a:txBody>
                  <a:tcPr marL="54864" marR="54864" marT="18288" marB="18288">
                    <a:solidFill>
                      <a:srgbClr val="FFFFFF"/>
                    </a:solidFill>
                  </a:tcPr>
                </a:tc>
                <a:tc>
                  <a:txBody>
                    <a:bodyPr/>
                    <a:lstStyle/>
                    <a:p>
                      <a:pPr>
                        <a:defRPr sz="1000" b="0">
                          <a:solidFill>
                            <a:srgbClr val="000000"/>
                          </a:solidFill>
                          <a:latin typeface="Calibri"/>
                        </a:defRPr>
                      </a:pPr>
                      <a:r>
                        <a:t>IEEE Access (Q1)</a:t>
                      </a:r>
                    </a:p>
                  </a:txBody>
                  <a:tcPr marL="54864" marR="54864" marT="18288" marB="18288">
                    <a:solidFill>
                      <a:srgbClr val="FFFFFF"/>
                    </a:solidFill>
                  </a:tcPr>
                </a:tc>
                <a:tc>
                  <a:txBody>
                    <a:bodyPr/>
                    <a:lstStyle/>
                    <a:p>
                      <a:pPr>
                        <a:defRPr sz="1000" b="0">
                          <a:solidFill>
                            <a:srgbClr val="000000"/>
                          </a:solidFill>
                          <a:latin typeface="Calibri"/>
                        </a:defRPr>
                      </a:pPr>
                      <a:r>
                        <a:t>10.1109/ACCESS.2018.2831228</a:t>
                      </a:r>
                    </a:p>
                  </a:txBody>
                  <a:tcPr marL="54864" marR="54864" marT="18288" marB="18288">
                    <a:solidFill>
                      <a:srgbClr val="FFFFFF"/>
                    </a:solidFill>
                  </a:tcPr>
                </a:tc>
              </a:tr>
              <a:tr h="393700">
                <a:tc>
                  <a:txBody>
                    <a:bodyPr/>
                    <a:lstStyle/>
                    <a:p>
                      <a:pPr>
                        <a:defRPr sz="1000" b="0">
                          <a:solidFill>
                            <a:srgbClr val="000000"/>
                          </a:solidFill>
                          <a:latin typeface="Calibri"/>
                        </a:defRPr>
                      </a:pPr>
                      <a:r>
                        <a:t>Swaminathan, J. M., Smith, S. F., &amp; Sadeh, N. M. (1998). Modeling supply chain dynamics: A multiagent approach. Decision Sciences, 29(3), 607-632.</a:t>
                      </a:r>
                    </a:p>
                  </a:txBody>
                  <a:tcPr marL="54864" marR="54864" marT="18288" marB="18288">
                    <a:solidFill>
                      <a:srgbClr val="FFFFFF"/>
                    </a:solidFill>
                  </a:tcPr>
                </a:tc>
                <a:tc>
                  <a:txBody>
                    <a:bodyPr/>
                    <a:lstStyle/>
                    <a:p>
                      <a:pPr>
                        <a:defRPr sz="1000" b="0">
                          <a:solidFill>
                            <a:srgbClr val="000000"/>
                          </a:solidFill>
                          <a:latin typeface="Calibri"/>
                        </a:defRPr>
                      </a:pPr>
                      <a:r>
                        <a:t>Decision Sciences (Q1)</a:t>
                      </a:r>
                    </a:p>
                  </a:txBody>
                  <a:tcPr marL="54864" marR="54864" marT="18288" marB="18288">
                    <a:solidFill>
                      <a:srgbClr val="FFFFFF"/>
                    </a:solidFill>
                  </a:tcPr>
                </a:tc>
                <a:tc>
                  <a:txBody>
                    <a:bodyPr/>
                    <a:lstStyle/>
                    <a:p>
                      <a:pPr>
                        <a:defRPr sz="1000" b="0">
                          <a:solidFill>
                            <a:srgbClr val="000000"/>
                          </a:solidFill>
                          <a:latin typeface="Calibri"/>
                        </a:defRPr>
                      </a:pPr>
                      <a:r>
                        <a:t>10.1111/j.1540-5915.1998.tb01356.x</a:t>
                      </a:r>
                    </a:p>
                  </a:txBody>
                  <a:tcPr marL="54864" marR="54864" marT="18288" marB="18288">
                    <a:solidFill>
                      <a:srgbClr val="FFFFFF"/>
                    </a:solidFill>
                  </a:tcPr>
                </a:tc>
              </a:tr>
              <a:tr h="546100">
                <a:tc>
                  <a:txBody>
                    <a:bodyPr/>
                    <a:lstStyle/>
                    <a:p>
                      <a:pPr>
                        <a:defRPr sz="1000" b="0">
                          <a:solidFill>
                            <a:srgbClr val="000000"/>
                          </a:solidFill>
                          <a:latin typeface="Calibri"/>
                        </a:defRPr>
                      </a:pPr>
                      <a:r>
                        <a:t>Jennings, N. R., Faratin, P., Lomuscio, A. R., Parsons, S., Wooldridge, M. J., &amp; Sierra, C. (2001). Automated negotiation: Prospects, methods and challenges. Group Decision and Negotiation, 10(2), 199-215.</a:t>
                      </a:r>
                    </a:p>
                  </a:txBody>
                  <a:tcPr marL="54864" marR="54864" marT="18288" marB="18288">
                    <a:solidFill>
                      <a:srgbClr val="FFFFFF"/>
                    </a:solidFill>
                  </a:tcPr>
                </a:tc>
                <a:tc>
                  <a:txBody>
                    <a:bodyPr/>
                    <a:lstStyle/>
                    <a:p>
                      <a:pPr>
                        <a:defRPr sz="1000" b="0">
                          <a:solidFill>
                            <a:srgbClr val="000000"/>
                          </a:solidFill>
                          <a:latin typeface="Calibri"/>
                        </a:defRPr>
                      </a:pPr>
                      <a:r>
                        <a:t>Group Decis. Negot. (Q2)</a:t>
                      </a:r>
                    </a:p>
                  </a:txBody>
                  <a:tcPr marL="54864" marR="54864" marT="18288" marB="18288">
                    <a:solidFill>
                      <a:srgbClr val="FFFFFF"/>
                    </a:solidFill>
                  </a:tcPr>
                </a:tc>
                <a:tc>
                  <a:txBody>
                    <a:bodyPr/>
                    <a:lstStyle/>
                    <a:p>
                      <a:pPr>
                        <a:defRPr sz="1000" b="0">
                          <a:solidFill>
                            <a:srgbClr val="000000"/>
                          </a:solidFill>
                          <a:latin typeface="Calibri"/>
                        </a:defRPr>
                      </a:pPr>
                      <a:r>
                        <a:t>10.1023/A:1008746126376</a:t>
                      </a:r>
                    </a:p>
                  </a:txBody>
                  <a:tcPr marL="54864" marR="54864" marT="18288" marB="18288">
                    <a:solidFill>
                      <a:srgbClr val="FFFFFF"/>
                    </a:solidFill>
                  </a:tcPr>
                </a:tc>
              </a:tr>
              <a:tr h="393700">
                <a:tc>
                  <a:txBody>
                    <a:bodyPr/>
                    <a:lstStyle/>
                    <a:p>
                      <a:pPr>
                        <a:defRPr sz="1000" b="0">
                          <a:solidFill>
                            <a:srgbClr val="000000"/>
                          </a:solidFill>
                          <a:latin typeface="Calibri"/>
                        </a:defRPr>
                      </a:pPr>
                      <a:r>
                        <a:t>Wang, L., Ma, C., Feng, X., Zhang, Z., Yang, H., Zhang, J., ... Wen, J. (2024). A survey on large language model based autonomous agents. Frontiers of Computer Science, 18(6), 186345.</a:t>
                      </a:r>
                    </a:p>
                  </a:txBody>
                  <a:tcPr marL="54864" marR="54864" marT="18288" marB="18288">
                    <a:solidFill>
                      <a:srgbClr val="FFFFFF"/>
                    </a:solidFill>
                  </a:tcPr>
                </a:tc>
                <a:tc>
                  <a:txBody>
                    <a:bodyPr/>
                    <a:lstStyle/>
                    <a:p>
                      <a:pPr>
                        <a:defRPr sz="1000" b="0">
                          <a:solidFill>
                            <a:srgbClr val="000000"/>
                          </a:solidFill>
                          <a:latin typeface="Calibri"/>
                        </a:defRPr>
                      </a:pPr>
                      <a:r>
                        <a:t>Front. Comput. Sci. (Q1)</a:t>
                      </a:r>
                    </a:p>
                  </a:txBody>
                  <a:tcPr marL="54864" marR="54864" marT="18288" marB="18288">
                    <a:solidFill>
                      <a:srgbClr val="FFFFFF"/>
                    </a:solidFill>
                  </a:tcPr>
                </a:tc>
                <a:tc>
                  <a:txBody>
                    <a:bodyPr/>
                    <a:lstStyle/>
                    <a:p>
                      <a:pPr>
                        <a:defRPr sz="1000" b="0">
                          <a:solidFill>
                            <a:srgbClr val="000000"/>
                          </a:solidFill>
                          <a:latin typeface="Calibri"/>
                        </a:defRPr>
                      </a:pPr>
                      <a:r>
                        <a:t>10.1007/s11704-024-40231-1</a:t>
                      </a:r>
                    </a:p>
                  </a:txBody>
                  <a:tcPr marL="54864" marR="54864" marT="18288" marB="18288">
                    <a:solidFill>
                      <a:srgbClr val="FFFFFF"/>
                    </a:solidFill>
                  </a:tcPr>
                </a:tc>
              </a:tr>
              <a:tr h="241300">
                <a:tc>
                  <a:txBody>
                    <a:bodyPr/>
                    <a:lstStyle/>
                    <a:p>
                      <a:pPr>
                        <a:defRPr sz="1000" b="0">
                          <a:solidFill>
                            <a:srgbClr val="000000"/>
                          </a:solidFill>
                          <a:latin typeface="Calibri"/>
                        </a:defRPr>
                      </a:pPr>
                      <a:r>
                        <a:t>Watkins, C. J. C. H., &amp; Dayan, P. (1992). Q-learning. Machine Learning, 8(3-4), 279-292.</a:t>
                      </a:r>
                    </a:p>
                  </a:txBody>
                  <a:tcPr marL="54864" marR="54864" marT="18288" marB="18288">
                    <a:solidFill>
                      <a:srgbClr val="FFFFFF"/>
                    </a:solidFill>
                  </a:tcPr>
                </a:tc>
                <a:tc>
                  <a:txBody>
                    <a:bodyPr/>
                    <a:lstStyle/>
                    <a:p>
                      <a:pPr>
                        <a:defRPr sz="1000" b="0">
                          <a:solidFill>
                            <a:srgbClr val="000000"/>
                          </a:solidFill>
                          <a:latin typeface="Calibri"/>
                        </a:defRPr>
                      </a:pPr>
                      <a:r>
                        <a:t>Machine Learning (Q1)</a:t>
                      </a:r>
                    </a:p>
                  </a:txBody>
                  <a:tcPr marL="54864" marR="54864" marT="18288" marB="18288">
                    <a:solidFill>
                      <a:srgbClr val="FFFFFF"/>
                    </a:solidFill>
                  </a:tcPr>
                </a:tc>
                <a:tc>
                  <a:txBody>
                    <a:bodyPr/>
                    <a:lstStyle/>
                    <a:p>
                      <a:pPr>
                        <a:defRPr sz="1000" b="0">
                          <a:solidFill>
                            <a:srgbClr val="000000"/>
                          </a:solidFill>
                          <a:latin typeface="Calibri"/>
                        </a:defRPr>
                      </a:pPr>
                      <a:r>
                        <a:t>10.1007/BF00992698</a:t>
                      </a:r>
                    </a:p>
                  </a:txBody>
                  <a:tcPr marL="54864" marR="54864" marT="18288" marB="18288">
                    <a:solidFill>
                      <a:srgbClr val="FFFFFF"/>
                    </a:solidFill>
                  </a:tcPr>
                </a:tc>
              </a:tr>
              <a:tr h="241300">
                <a:tc>
                  <a:txBody>
                    <a:bodyPr/>
                    <a:lstStyle/>
                    <a:p>
                      <a:pPr>
                        <a:defRPr sz="1000" b="0">
                          <a:solidFill>
                            <a:srgbClr val="000000"/>
                          </a:solidFill>
                          <a:latin typeface="Calibri"/>
                        </a:defRPr>
                      </a:pPr>
                      <a:r>
                        <a:t>Nash, J. F. (1950). The bargaining problem. Econometrica, 18(2), 155-162.</a:t>
                      </a:r>
                    </a:p>
                  </a:txBody>
                  <a:tcPr marL="54864" marR="54864" marT="18288" marB="18288">
                    <a:solidFill>
                      <a:srgbClr val="FFFFFF"/>
                    </a:solidFill>
                  </a:tcPr>
                </a:tc>
                <a:tc>
                  <a:txBody>
                    <a:bodyPr/>
                    <a:lstStyle/>
                    <a:p>
                      <a:pPr>
                        <a:defRPr sz="1000" b="0">
                          <a:solidFill>
                            <a:srgbClr val="000000"/>
                          </a:solidFill>
                          <a:latin typeface="Calibri"/>
                        </a:defRPr>
                      </a:pPr>
                      <a:r>
                        <a:t>Econometrica (Q1)</a:t>
                      </a:r>
                    </a:p>
                  </a:txBody>
                  <a:tcPr marL="54864" marR="54864" marT="18288" marB="18288">
                    <a:solidFill>
                      <a:srgbClr val="FFFFFF"/>
                    </a:solidFill>
                  </a:tcPr>
                </a:tc>
                <a:tc>
                  <a:txBody>
                    <a:bodyPr/>
                    <a:lstStyle/>
                    <a:p>
                      <a:pPr>
                        <a:defRPr sz="1000" b="0">
                          <a:solidFill>
                            <a:srgbClr val="000000"/>
                          </a:solidFill>
                          <a:latin typeface="Calibri"/>
                        </a:defRPr>
                      </a:pPr>
                      <a:r>
                        <a:t>10.2307/1907266</a:t>
                      </a:r>
                    </a:p>
                  </a:txBody>
                  <a:tcPr marL="54864" marR="54864" marT="18288" marB="18288">
                    <a:solidFill>
                      <a:srgbClr val="FFFFFF"/>
                    </a:solidFill>
                  </a:tcPr>
                </a:tc>
              </a:tr>
            </a:tbl>
          </a:graphicData>
        </a:graphic>
      </p:graphicFrame>
      <p:sp>
        <p:nvSpPr>
          <p:cNvPr id="7" name="TextBox 6"/>
          <p:cNvSpPr txBox="1"/>
          <p:nvPr/>
        </p:nvSpPr>
        <p:spPr>
          <a:xfrm>
            <a:off x="320040" y="5989320"/>
            <a:ext cx="11521440" cy="457200"/>
          </a:xfrm>
          <a:prstGeom prst="rect">
            <a:avLst/>
          </a:prstGeom>
          <a:noFill/>
        </p:spPr>
        <p:txBody>
          <a:bodyPr wrap="square">
            <a:spAutoFit/>
          </a:bodyPr>
          <a:lstStyle/>
          <a:p>
            <a:pPr>
              <a:spcAft>
                <a:spcPts val="400"/>
              </a:spcAft>
              <a:defRPr sz="700" b="0">
                <a:solidFill>
                  <a:srgbClr val="333333"/>
                </a:solidFill>
                <a:latin typeface="Calibri"/>
              </a:defRPr>
            </a:pPr>
            <a:r>
              <a:t>Verifikasi: judul, jurnal, volume/halaman, dan DOI seluruh 14 referensi dicek melalui pencarian web pada sesi pengerjaan (penelusuran DOI langsung ke Crossref diblokir dari lingkungan kerja). *Kuartil adalah perkiraan berdasarkan SJR (Scimago) dari pengetahuan penulis, bukan hasil pengecekan langsung; mohon diverifikasi di scimagojr.com untuk tahun terbitan yang relevan sebelum pengumpulan. Hathikal dkk. terbit di SN Applied Sciences (kini Discover Applied Sciences).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100" b="1">
                <a:solidFill>
                  <a:srgbClr val="000000"/>
                </a:solidFill>
                <a:latin typeface="Calibri"/>
              </a:defRPr>
            </a:pPr>
            <a:r>
              <a:t>3.3 SOTA lengkap (2/2): logistik ekspor, penjadwalan, UMKM digital</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10</a:t>
            </a:r>
          </a:p>
        </p:txBody>
      </p:sp>
      <p:graphicFrame>
        <p:nvGraphicFramePr>
          <p:cNvPr id="6" name="Table 5"/>
          <p:cNvGraphicFramePr>
            <a:graphicFrameLocks noGrp="1"/>
          </p:cNvGraphicFramePr>
          <p:nvPr/>
        </p:nvGraphicFramePr>
        <p:xfrm>
          <a:off x="320040" y="1005840"/>
          <a:ext cx="11521440" cy="2755900"/>
        </p:xfrm>
        <a:graphic>
          <a:graphicData uri="http://schemas.openxmlformats.org/drawingml/2006/table">
            <a:tbl>
              <a:tblPr firstRow="1" bandRow="1">
                <a:tableStyleId>{5C22544A-7EE6-4342-B048-85BDC9FD1C3A}</a:tableStyleId>
              </a:tblPr>
              <a:tblGrid>
                <a:gridCol w="6766560"/>
                <a:gridCol w="2377440"/>
                <a:gridCol w="2377440"/>
              </a:tblGrid>
              <a:tr h="241300">
                <a:tc>
                  <a:txBody>
                    <a:bodyPr/>
                    <a:lstStyle/>
                    <a:p>
                      <a:pPr>
                        <a:defRPr sz="1000" b="1">
                          <a:solidFill>
                            <a:srgbClr val="000000"/>
                          </a:solidFill>
                          <a:latin typeface="Calibri"/>
                        </a:defRPr>
                      </a:pPr>
                      <a:r>
                        <a:t>Referensi</a:t>
                      </a:r>
                    </a:p>
                  </a:txBody>
                  <a:tcPr marL="54864" marR="54864" marT="18288" marB="18288">
                    <a:solidFill>
                      <a:srgbClr val="E5E7EB"/>
                    </a:solidFill>
                  </a:tcPr>
                </a:tc>
                <a:tc>
                  <a:txBody>
                    <a:bodyPr/>
                    <a:lstStyle/>
                    <a:p>
                      <a:pPr>
                        <a:defRPr sz="1000" b="1">
                          <a:solidFill>
                            <a:srgbClr val="000000"/>
                          </a:solidFill>
                          <a:latin typeface="Calibri"/>
                        </a:defRPr>
                      </a:pPr>
                      <a:r>
                        <a:t>Jurnal (kuartil*)</a:t>
                      </a:r>
                    </a:p>
                  </a:txBody>
                  <a:tcPr marL="54864" marR="54864" marT="18288" marB="18288">
                    <a:solidFill>
                      <a:srgbClr val="E5E7EB"/>
                    </a:solidFill>
                  </a:tcPr>
                </a:tc>
                <a:tc>
                  <a:txBody>
                    <a:bodyPr/>
                    <a:lstStyle/>
                    <a:p>
                      <a:pPr>
                        <a:defRPr sz="1000" b="1">
                          <a:solidFill>
                            <a:srgbClr val="000000"/>
                          </a:solidFill>
                          <a:latin typeface="Calibri"/>
                        </a:defRPr>
                      </a:pPr>
                      <a:r>
                        <a:t>DOI</a:t>
                      </a:r>
                    </a:p>
                  </a:txBody>
                  <a:tcPr marL="54864" marR="54864" marT="18288" marB="18288">
                    <a:solidFill>
                      <a:srgbClr val="E5E7EB"/>
                    </a:solidFill>
                  </a:tcPr>
                </a:tc>
              </a:tr>
              <a:tr h="393700">
                <a:tc>
                  <a:txBody>
                    <a:bodyPr/>
                    <a:lstStyle/>
                    <a:p>
                      <a:pPr>
                        <a:defRPr sz="1000" b="0">
                          <a:solidFill>
                            <a:srgbClr val="000000"/>
                          </a:solidFill>
                          <a:latin typeface="Calibri"/>
                        </a:defRPr>
                      </a:pPr>
                      <a:r>
                        <a:t>Hathikal, S., Chung, S. H., &amp; Karczewski, M. (2020). Prediction of ocean import shipment lead time using machine learning methods. SN Applied Sciences, 2, 1272.</a:t>
                      </a:r>
                    </a:p>
                  </a:txBody>
                  <a:tcPr marL="54864" marR="54864" marT="18288" marB="18288">
                    <a:solidFill>
                      <a:srgbClr val="FFFFFF"/>
                    </a:solidFill>
                  </a:tcPr>
                </a:tc>
                <a:tc>
                  <a:txBody>
                    <a:bodyPr/>
                    <a:lstStyle/>
                    <a:p>
                      <a:pPr>
                        <a:defRPr sz="1000" b="0">
                          <a:solidFill>
                            <a:srgbClr val="000000"/>
                          </a:solidFill>
                          <a:latin typeface="Calibri"/>
                        </a:defRPr>
                      </a:pPr>
                      <a:r>
                        <a:t>SN Appl. Sci. (Q2)</a:t>
                      </a:r>
                    </a:p>
                  </a:txBody>
                  <a:tcPr marL="54864" marR="54864" marT="18288" marB="18288">
                    <a:solidFill>
                      <a:srgbClr val="FFFFFF"/>
                    </a:solidFill>
                  </a:tcPr>
                </a:tc>
                <a:tc>
                  <a:txBody>
                    <a:bodyPr/>
                    <a:lstStyle/>
                    <a:p>
                      <a:pPr>
                        <a:defRPr sz="1000" b="0">
                          <a:solidFill>
                            <a:srgbClr val="000000"/>
                          </a:solidFill>
                          <a:latin typeface="Calibri"/>
                        </a:defRPr>
                      </a:pPr>
                      <a:r>
                        <a:t>10.1007/s42452-020-2951-5</a:t>
                      </a:r>
                    </a:p>
                  </a:txBody>
                  <a:tcPr marL="54864" marR="54864" marT="18288" marB="18288">
                    <a:solidFill>
                      <a:srgbClr val="FFFFFF"/>
                    </a:solidFill>
                  </a:tcPr>
                </a:tc>
              </a:tr>
              <a:tr h="393700">
                <a:tc>
                  <a:txBody>
                    <a:bodyPr/>
                    <a:lstStyle/>
                    <a:p>
                      <a:pPr>
                        <a:defRPr sz="1000" b="0">
                          <a:solidFill>
                            <a:srgbClr val="000000"/>
                          </a:solidFill>
                          <a:latin typeface="Calibri"/>
                        </a:defRPr>
                      </a:pPr>
                      <a:r>
                        <a:t>Lee, E., Kim, S., Kim, S., Jung, S., Kim, H., &amp; Cha, M. (2024). Explainable product classification for customs. ACM Transactions on Intelligent Systems and Technology, 15(2), Art. 25.</a:t>
                      </a:r>
                    </a:p>
                  </a:txBody>
                  <a:tcPr marL="54864" marR="54864" marT="18288" marB="18288">
                    <a:solidFill>
                      <a:srgbClr val="FFFFFF"/>
                    </a:solidFill>
                  </a:tcPr>
                </a:tc>
                <a:tc>
                  <a:txBody>
                    <a:bodyPr/>
                    <a:lstStyle/>
                    <a:p>
                      <a:pPr>
                        <a:defRPr sz="1000" b="0">
                          <a:solidFill>
                            <a:srgbClr val="000000"/>
                          </a:solidFill>
                          <a:latin typeface="Calibri"/>
                        </a:defRPr>
                      </a:pPr>
                      <a:r>
                        <a:t>ACM Trans. Intell. Syst. Technol. (Q1)</a:t>
                      </a:r>
                    </a:p>
                  </a:txBody>
                  <a:tcPr marL="54864" marR="54864" marT="18288" marB="18288">
                    <a:solidFill>
                      <a:srgbClr val="FFFFFF"/>
                    </a:solidFill>
                  </a:tcPr>
                </a:tc>
                <a:tc>
                  <a:txBody>
                    <a:bodyPr/>
                    <a:lstStyle/>
                    <a:p>
                      <a:pPr>
                        <a:defRPr sz="1000" b="0">
                          <a:solidFill>
                            <a:srgbClr val="000000"/>
                          </a:solidFill>
                          <a:latin typeface="Calibri"/>
                        </a:defRPr>
                      </a:pPr>
                      <a:r>
                        <a:t>10.1145/3635158</a:t>
                      </a:r>
                    </a:p>
                  </a:txBody>
                  <a:tcPr marL="54864" marR="54864" marT="18288" marB="18288">
                    <a:solidFill>
                      <a:srgbClr val="FFFFFF"/>
                    </a:solidFill>
                  </a:tcPr>
                </a:tc>
              </a:tr>
              <a:tr h="393700">
                <a:tc>
                  <a:txBody>
                    <a:bodyPr/>
                    <a:lstStyle/>
                    <a:p>
                      <a:pPr>
                        <a:defRPr sz="1000" b="0">
                          <a:solidFill>
                            <a:srgbClr val="000000"/>
                          </a:solidFill>
                          <a:latin typeface="Calibri"/>
                        </a:defRPr>
                      </a:pPr>
                      <a:r>
                        <a:t>Ivanov, D., &amp; Dolgui, A. (2021). A digital supply chain twin for managing the disruption risks and resilience in the era of Industry 4.0. Production Planning &amp; Control, 32(9), 775-788.</a:t>
                      </a:r>
                    </a:p>
                  </a:txBody>
                  <a:tcPr marL="54864" marR="54864" marT="18288" marB="18288">
                    <a:solidFill>
                      <a:srgbClr val="FFFFFF"/>
                    </a:solidFill>
                  </a:tcPr>
                </a:tc>
                <a:tc>
                  <a:txBody>
                    <a:bodyPr/>
                    <a:lstStyle/>
                    <a:p>
                      <a:pPr>
                        <a:defRPr sz="1000" b="0">
                          <a:solidFill>
                            <a:srgbClr val="000000"/>
                          </a:solidFill>
                          <a:latin typeface="Calibri"/>
                        </a:defRPr>
                      </a:pPr>
                      <a:r>
                        <a:t>Prod. Plan. Control (Q1)</a:t>
                      </a:r>
                    </a:p>
                  </a:txBody>
                  <a:tcPr marL="54864" marR="54864" marT="18288" marB="18288">
                    <a:solidFill>
                      <a:srgbClr val="FFFFFF"/>
                    </a:solidFill>
                  </a:tcPr>
                </a:tc>
                <a:tc>
                  <a:txBody>
                    <a:bodyPr/>
                    <a:lstStyle/>
                    <a:p>
                      <a:pPr>
                        <a:defRPr sz="1000" b="0">
                          <a:solidFill>
                            <a:srgbClr val="000000"/>
                          </a:solidFill>
                          <a:latin typeface="Calibri"/>
                        </a:defRPr>
                      </a:pPr>
                      <a:r>
                        <a:t>10.1080/09537287.2020.1768450</a:t>
                      </a:r>
                    </a:p>
                  </a:txBody>
                  <a:tcPr marL="54864" marR="54864" marT="18288" marB="18288">
                    <a:solidFill>
                      <a:srgbClr val="FFFFFF"/>
                    </a:solidFill>
                  </a:tcPr>
                </a:tc>
              </a:tr>
              <a:tr h="393700">
                <a:tc>
                  <a:txBody>
                    <a:bodyPr/>
                    <a:lstStyle/>
                    <a:p>
                      <a:pPr>
                        <a:defRPr sz="1000" b="0">
                          <a:solidFill>
                            <a:srgbClr val="000000"/>
                          </a:solidFill>
                          <a:latin typeface="Calibri"/>
                        </a:defRPr>
                      </a:pPr>
                      <a:r>
                        <a:t>Ouelhadj, D., &amp; Petrovic, S. (2009). A survey of dynamic scheduling in manufacturing systems. Journal of Scheduling, 12(4), 417-431.</a:t>
                      </a:r>
                    </a:p>
                  </a:txBody>
                  <a:tcPr marL="54864" marR="54864" marT="18288" marB="18288">
                    <a:solidFill>
                      <a:srgbClr val="FFFFFF"/>
                    </a:solidFill>
                  </a:tcPr>
                </a:tc>
                <a:tc>
                  <a:txBody>
                    <a:bodyPr/>
                    <a:lstStyle/>
                    <a:p>
                      <a:pPr>
                        <a:defRPr sz="1000" b="0">
                          <a:solidFill>
                            <a:srgbClr val="000000"/>
                          </a:solidFill>
                          <a:latin typeface="Calibri"/>
                        </a:defRPr>
                      </a:pPr>
                      <a:r>
                        <a:t>J. Scheduling (Q2)</a:t>
                      </a:r>
                    </a:p>
                  </a:txBody>
                  <a:tcPr marL="54864" marR="54864" marT="18288" marB="18288">
                    <a:solidFill>
                      <a:srgbClr val="FFFFFF"/>
                    </a:solidFill>
                  </a:tcPr>
                </a:tc>
                <a:tc>
                  <a:txBody>
                    <a:bodyPr/>
                    <a:lstStyle/>
                    <a:p>
                      <a:pPr>
                        <a:defRPr sz="1000" b="0">
                          <a:solidFill>
                            <a:srgbClr val="000000"/>
                          </a:solidFill>
                          <a:latin typeface="Calibri"/>
                        </a:defRPr>
                      </a:pPr>
                      <a:r>
                        <a:t>10.1007/s10951-008-0090-8</a:t>
                      </a:r>
                    </a:p>
                  </a:txBody>
                  <a:tcPr marL="54864" marR="54864" marT="18288" marB="18288">
                    <a:solidFill>
                      <a:srgbClr val="FFFFFF"/>
                    </a:solidFill>
                  </a:tcPr>
                </a:tc>
              </a:tr>
              <a:tr h="393700">
                <a:tc>
                  <a:txBody>
                    <a:bodyPr/>
                    <a:lstStyle/>
                    <a:p>
                      <a:pPr>
                        <a:defRPr sz="1000" b="0">
                          <a:solidFill>
                            <a:srgbClr val="000000"/>
                          </a:solidFill>
                          <a:latin typeface="Calibri"/>
                        </a:defRPr>
                      </a:pPr>
                      <a:r>
                        <a:t>Dominguez, R., &amp; Cannella, S. (2020). Insights on multi-agent systems applications for supply chain management. Sustainability, 12(5), 1935.</a:t>
                      </a:r>
                    </a:p>
                  </a:txBody>
                  <a:tcPr marL="54864" marR="54864" marT="18288" marB="18288">
                    <a:solidFill>
                      <a:srgbClr val="FFFFFF"/>
                    </a:solidFill>
                  </a:tcPr>
                </a:tc>
                <a:tc>
                  <a:txBody>
                    <a:bodyPr/>
                    <a:lstStyle/>
                    <a:p>
                      <a:pPr>
                        <a:defRPr sz="1000" b="0">
                          <a:solidFill>
                            <a:srgbClr val="000000"/>
                          </a:solidFill>
                          <a:latin typeface="Calibri"/>
                        </a:defRPr>
                      </a:pPr>
                      <a:r>
                        <a:t>Sustainability (Q1)</a:t>
                      </a:r>
                    </a:p>
                  </a:txBody>
                  <a:tcPr marL="54864" marR="54864" marT="18288" marB="18288">
                    <a:solidFill>
                      <a:srgbClr val="FFFFFF"/>
                    </a:solidFill>
                  </a:tcPr>
                </a:tc>
                <a:tc>
                  <a:txBody>
                    <a:bodyPr/>
                    <a:lstStyle/>
                    <a:p>
                      <a:pPr>
                        <a:defRPr sz="1000" b="0">
                          <a:solidFill>
                            <a:srgbClr val="000000"/>
                          </a:solidFill>
                          <a:latin typeface="Calibri"/>
                        </a:defRPr>
                      </a:pPr>
                      <a:r>
                        <a:t>10.3390/su12051935</a:t>
                      </a:r>
                    </a:p>
                  </a:txBody>
                  <a:tcPr marL="54864" marR="54864" marT="18288" marB="18288">
                    <a:solidFill>
                      <a:srgbClr val="FFFFFF"/>
                    </a:solidFill>
                  </a:tcPr>
                </a:tc>
              </a:tr>
              <a:tr h="546100">
                <a:tc>
                  <a:txBody>
                    <a:bodyPr/>
                    <a:lstStyle/>
                    <a:p>
                      <a:pPr>
                        <a:defRPr sz="1000" b="0">
                          <a:solidFill>
                            <a:srgbClr val="000000"/>
                          </a:solidFill>
                          <a:latin typeface="Calibri"/>
                        </a:defRPr>
                      </a:pPr>
                      <a:r>
                        <a:t>Pergelova, A., Manolova, T., Simeonova-Ganeva, R., &amp; Yordanova, D. (2019). Democratizing entrepreneurship? Digital technologies and the internationalization of female-led SMEs. Journal of Small Business Management, 57(1), 14-39.</a:t>
                      </a:r>
                    </a:p>
                  </a:txBody>
                  <a:tcPr marL="54864" marR="54864" marT="18288" marB="18288">
                    <a:solidFill>
                      <a:srgbClr val="FFFFFF"/>
                    </a:solidFill>
                  </a:tcPr>
                </a:tc>
                <a:tc>
                  <a:txBody>
                    <a:bodyPr/>
                    <a:lstStyle/>
                    <a:p>
                      <a:pPr>
                        <a:defRPr sz="1000" b="0">
                          <a:solidFill>
                            <a:srgbClr val="000000"/>
                          </a:solidFill>
                          <a:latin typeface="Calibri"/>
                        </a:defRPr>
                      </a:pPr>
                      <a:r>
                        <a:t>J. Small Bus. Manage. (Q1)</a:t>
                      </a:r>
                    </a:p>
                  </a:txBody>
                  <a:tcPr marL="54864" marR="54864" marT="18288" marB="18288">
                    <a:solidFill>
                      <a:srgbClr val="FFFFFF"/>
                    </a:solidFill>
                  </a:tcPr>
                </a:tc>
                <a:tc>
                  <a:txBody>
                    <a:bodyPr/>
                    <a:lstStyle/>
                    <a:p>
                      <a:pPr>
                        <a:defRPr sz="1000" b="0">
                          <a:solidFill>
                            <a:srgbClr val="000000"/>
                          </a:solidFill>
                          <a:latin typeface="Calibri"/>
                        </a:defRPr>
                      </a:pPr>
                      <a:r>
                        <a:t>10.1111/jsbm.12494</a:t>
                      </a:r>
                    </a:p>
                  </a:txBody>
                  <a:tcPr marL="54864" marR="54864" marT="18288" marB="18288">
                    <a:solidFill>
                      <a:srgbClr val="FFFFFF"/>
                    </a:solidFill>
                  </a:tcPr>
                </a:tc>
              </a:tr>
            </a:tbl>
          </a:graphicData>
        </a:graphic>
      </p:graphicFrame>
      <p:sp>
        <p:nvSpPr>
          <p:cNvPr id="7" name="TextBox 6"/>
          <p:cNvSpPr txBox="1"/>
          <p:nvPr/>
        </p:nvSpPr>
        <p:spPr>
          <a:xfrm>
            <a:off x="320040" y="5989320"/>
            <a:ext cx="11521440" cy="457200"/>
          </a:xfrm>
          <a:prstGeom prst="rect">
            <a:avLst/>
          </a:prstGeom>
          <a:noFill/>
        </p:spPr>
        <p:txBody>
          <a:bodyPr wrap="square">
            <a:spAutoFit/>
          </a:bodyPr>
          <a:lstStyle/>
          <a:p>
            <a:pPr>
              <a:spcAft>
                <a:spcPts val="400"/>
              </a:spcAft>
              <a:defRPr sz="850" b="0">
                <a:solidFill>
                  <a:srgbClr val="333333"/>
                </a:solidFill>
                <a:latin typeface="Calibri"/>
              </a:defRPr>
            </a:pPr>
            <a:r>
              <a:t>*Kuartil: perkiraan SJR, perlu dicek di scimagojr.com. Semua DOI diverifikasi melalui pencarian web.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3.4 Celah penelitian dan kontribusi KCMAS</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11</a:t>
            </a:r>
          </a:p>
        </p:txBody>
      </p:sp>
      <p:sp>
        <p:nvSpPr>
          <p:cNvPr id="6" name="TextBox 5"/>
          <p:cNvSpPr txBox="1"/>
          <p:nvPr/>
        </p:nvSpPr>
        <p:spPr>
          <a:xfrm>
            <a:off x="411480" y="1005840"/>
            <a:ext cx="11338560" cy="5394960"/>
          </a:xfrm>
          <a:prstGeom prst="rect">
            <a:avLst/>
          </a:prstGeom>
          <a:noFill/>
        </p:spPr>
        <p:txBody>
          <a:bodyPr wrap="square">
            <a:spAutoFit/>
          </a:bodyPr>
          <a:lstStyle/>
          <a:p>
            <a:pPr>
              <a:spcAft>
                <a:spcPts val="800"/>
              </a:spcAft>
              <a:defRPr sz="1400" b="0">
                <a:solidFill>
                  <a:srgbClr val="000000"/>
                </a:solidFill>
                <a:latin typeface="Calibri"/>
              </a:defRPr>
            </a:pPr>
            <a:r>
              <a:t>• Celah 1: literatur MAS manufaktur/rantai pasok (Leitão, 2009; Swaminathan dkk., 1998; Dominguez dkk., 2020) berfokus pada pabrik atau jaringan perusahaan besar; konsolidasi puluhan UMKM dengan kapasitas yang berubah dan tanpa data terpusat belum divalidasi secara kuantitatif.</a:t>
            </a:r>
          </a:p>
          <a:p>
            <a:pPr>
              <a:spcAft>
                <a:spcPts val="800"/>
              </a:spcAft>
              <a:defRPr sz="1400" b="0">
                <a:solidFill>
                  <a:srgbClr val="000000"/>
                </a:solidFill>
                <a:latin typeface="Calibri"/>
              </a:defRPr>
            </a:pPr>
            <a:r>
              <a:t>• Celah 2: nilai desentralisasi biasanya diklaim, bukan diukur; XCMAS mengisolasi nilainya (bid live vs registry usang) dengan aturan keputusan yang sama pada agen tunggal dan multi-agen, sehingga selisih hanya berasal dari arsitektur.</a:t>
            </a:r>
          </a:p>
          <a:p>
            <a:pPr>
              <a:spcAft>
                <a:spcPts val="800"/>
              </a:spcAft>
              <a:defRPr sz="1400" b="0">
                <a:solidFill>
                  <a:srgbClr val="000000"/>
                </a:solidFill>
                <a:latin typeface="Calibri"/>
              </a:defRPr>
            </a:pPr>
            <a:r>
              <a:t>• Celah 3: model ML logistik ekspor (Hathikal dkk., 2020; Lee dkk., 2024) berdiri sendiri; XCMAS menanamkannya sebagai komponen agen (Risk dan Compliance) yang memicu tindakan (re-kontrak, eskalasi ke manusia, pilihan carrier).</a:t>
            </a:r>
          </a:p>
          <a:p>
            <a:pPr>
              <a:spcAft>
                <a:spcPts val="800"/>
              </a:spcAft>
              <a:defRPr sz="1400" b="0">
                <a:solidFill>
                  <a:srgbClr val="000000"/>
                </a:solidFill>
                <a:latin typeface="Calibri"/>
              </a:defRPr>
            </a:pPr>
            <a:r>
              <a:t>• Celah 4: adopsi LLM pada agen (Wang dkk., 2024) belum disertai kontrol aksi yang dapat diaudit; XCMAS membatasi LLM dengan guardrail, otonomi berlevel, dan audit log berantai-hash.</a:t>
            </a:r>
          </a:p>
          <a:p>
            <a:pPr>
              <a:spcAft>
                <a:spcPts val="800"/>
              </a:spcAft>
              <a:defRPr sz="1400" b="0">
                <a:solidFill>
                  <a:srgbClr val="000000"/>
                </a:solidFill>
                <a:latin typeface="Calibri"/>
              </a:defRPr>
            </a:pPr>
            <a:r>
              <a:t>• Celah 5: bukti pada bisnis nyata kecil; kasus dikalibrasi dari klaim operasional KrakaCoal (MOQ, lead time, packing) sehingga hasilnya dekat dengan praktik ekspor arang.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4. Tujuan proyek</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12</a:t>
            </a:r>
          </a:p>
        </p:txBody>
      </p:sp>
      <p:sp>
        <p:nvSpPr>
          <p:cNvPr id="6" name="TextBox 5"/>
          <p:cNvSpPr txBox="1"/>
          <p:nvPr/>
        </p:nvSpPr>
        <p:spPr>
          <a:xfrm>
            <a:off x="411480" y="960120"/>
            <a:ext cx="11338560" cy="777240"/>
          </a:xfrm>
          <a:prstGeom prst="rect">
            <a:avLst/>
          </a:prstGeom>
          <a:noFill/>
        </p:spPr>
        <p:txBody>
          <a:bodyPr wrap="square">
            <a:spAutoFit/>
          </a:bodyPr>
          <a:lstStyle/>
          <a:p>
            <a:pPr>
              <a:spcAft>
                <a:spcPts val="400"/>
              </a:spcAft>
              <a:defRPr sz="1250" b="0">
                <a:solidFill>
                  <a:srgbClr val="000000"/>
                </a:solidFill>
                <a:latin typeface="Calibri"/>
              </a:defRPr>
            </a:pPr>
            <a:r>
              <a:t>Merancang, mengimplementasikan, dan mengevaluasi sistem multi-agen yang mengotomasi sebagian besar alur pemasaran, penjualan, pemasokan, dan pengiriman ekspor arang, dengan manusia hanya pada keputusan berisiko, dan menunjukkan kapan arsitektur multi-agen lebih baik dari agen tunggal.</a:t>
            </a:r>
          </a:p>
        </p:txBody>
      </p:sp>
      <p:graphicFrame>
        <p:nvGraphicFramePr>
          <p:cNvPr id="7" name="Table 6"/>
          <p:cNvGraphicFramePr>
            <a:graphicFrameLocks noGrp="1"/>
          </p:cNvGraphicFramePr>
          <p:nvPr/>
        </p:nvGraphicFramePr>
        <p:xfrm>
          <a:off x="320040" y="1783080"/>
          <a:ext cx="11521440" cy="2542540"/>
        </p:xfrm>
        <a:graphic>
          <a:graphicData uri="http://schemas.openxmlformats.org/drawingml/2006/table">
            <a:tbl>
              <a:tblPr firstRow="1" bandRow="1">
                <a:tableStyleId>{5C22544A-7EE6-4342-B048-85BDC9FD1C3A}</a:tableStyleId>
              </a:tblPr>
              <a:tblGrid>
                <a:gridCol w="731520"/>
                <a:gridCol w="4572000"/>
                <a:gridCol w="3108960"/>
                <a:gridCol w="3108960"/>
              </a:tblGrid>
              <a:tr h="248920">
                <a:tc>
                  <a:txBody>
                    <a:bodyPr/>
                    <a:lstStyle/>
                    <a:p>
                      <a:pPr>
                        <a:defRPr sz="1050" b="1">
                          <a:solidFill>
                            <a:srgbClr val="000000"/>
                          </a:solidFill>
                          <a:latin typeface="Calibri"/>
                        </a:defRPr>
                      </a:pPr>
                      <a:r>
                        <a:t>Kode</a:t>
                      </a:r>
                    </a:p>
                  </a:txBody>
                  <a:tcPr marL="54864" marR="54864" marT="18288" marB="18288">
                    <a:solidFill>
                      <a:srgbClr val="E5E7EB"/>
                    </a:solidFill>
                  </a:tcPr>
                </a:tc>
                <a:tc>
                  <a:txBody>
                    <a:bodyPr/>
                    <a:lstStyle/>
                    <a:p>
                      <a:pPr>
                        <a:defRPr sz="1050" b="1">
                          <a:solidFill>
                            <a:srgbClr val="000000"/>
                          </a:solidFill>
                          <a:latin typeface="Calibri"/>
                        </a:defRPr>
                      </a:pPr>
                      <a:r>
                        <a:t>Tujuan khusus</a:t>
                      </a:r>
                    </a:p>
                  </a:txBody>
                  <a:tcPr marL="54864" marR="54864" marT="18288" marB="18288">
                    <a:solidFill>
                      <a:srgbClr val="E5E7EB"/>
                    </a:solidFill>
                  </a:tcPr>
                </a:tc>
                <a:tc>
                  <a:txBody>
                    <a:bodyPr/>
                    <a:lstStyle/>
                    <a:p>
                      <a:pPr>
                        <a:defRPr sz="1050" b="1">
                          <a:solidFill>
                            <a:srgbClr val="000000"/>
                          </a:solidFill>
                          <a:latin typeface="Calibri"/>
                        </a:defRPr>
                      </a:pPr>
                      <a:r>
                        <a:t>Ukuran keberhasilan</a:t>
                      </a:r>
                    </a:p>
                  </a:txBody>
                  <a:tcPr marL="54864" marR="54864" marT="18288" marB="18288">
                    <a:solidFill>
                      <a:srgbClr val="E5E7EB"/>
                    </a:solidFill>
                  </a:tcPr>
                </a:tc>
                <a:tc>
                  <a:txBody>
                    <a:bodyPr/>
                    <a:lstStyle/>
                    <a:p>
                      <a:pPr>
                        <a:defRPr sz="1050" b="1">
                          <a:solidFill>
                            <a:srgbClr val="000000"/>
                          </a:solidFill>
                          <a:latin typeface="Calibri"/>
                        </a:defRPr>
                      </a:pPr>
                      <a:r>
                        <a:t>Hasil (Bagian 8)</a:t>
                      </a:r>
                    </a:p>
                  </a:txBody>
                  <a:tcPr marL="54864" marR="54864" marT="18288" marB="18288">
                    <a:solidFill>
                      <a:srgbClr val="E5E7EB"/>
                    </a:solidFill>
                  </a:tcPr>
                </a:tc>
              </a:tr>
              <a:tr h="568960">
                <a:tc>
                  <a:txBody>
                    <a:bodyPr/>
                    <a:lstStyle/>
                    <a:p>
                      <a:pPr>
                        <a:defRPr sz="1050" b="0">
                          <a:solidFill>
                            <a:srgbClr val="000000"/>
                          </a:solidFill>
                          <a:latin typeface="Calibri"/>
                        </a:defRPr>
                      </a:pPr>
                      <a:r>
                        <a:t>T1</a:t>
                      </a:r>
                    </a:p>
                  </a:txBody>
                  <a:tcPr marL="54864" marR="54864" marT="18288" marB="18288">
                    <a:solidFill>
                      <a:srgbClr val="FFFFFF"/>
                    </a:solidFill>
                  </a:tcPr>
                </a:tc>
                <a:tc>
                  <a:txBody>
                    <a:bodyPr/>
                    <a:lstStyle/>
                    <a:p>
                      <a:pPr>
                        <a:defRPr sz="1050" b="0">
                          <a:solidFill>
                            <a:srgbClr val="000000"/>
                          </a:solidFill>
                          <a:latin typeface="Calibri"/>
                        </a:defRPr>
                      </a:pPr>
                      <a:r>
                        <a:t>Membangun simulator yang dikalibrasi pada klaim operasional KrakaCoal untuk membandingkan manual, agen tunggal, dan multi-agen</a:t>
                      </a:r>
                    </a:p>
                  </a:txBody>
                  <a:tcPr marL="54864" marR="54864" marT="18288" marB="18288">
                    <a:solidFill>
                      <a:srgbClr val="FFFFFF"/>
                    </a:solidFill>
                  </a:tcPr>
                </a:tc>
                <a:tc>
                  <a:txBody>
                    <a:bodyPr/>
                    <a:lstStyle/>
                    <a:p>
                      <a:pPr>
                        <a:defRPr sz="1050" b="0">
                          <a:solidFill>
                            <a:srgbClr val="000000"/>
                          </a:solidFill>
                          <a:latin typeface="Calibri"/>
                        </a:defRPr>
                      </a:pPr>
                      <a:r>
                        <a:t>Tiga sistem pada skenario yang sama; uji otomatis lulus; MOQ dan lead time situs tereproduksi</a:t>
                      </a:r>
                    </a:p>
                  </a:txBody>
                  <a:tcPr marL="54864" marR="54864" marT="18288" marB="18288">
                    <a:solidFill>
                      <a:srgbClr val="FFFFFF"/>
                    </a:solidFill>
                  </a:tcPr>
                </a:tc>
                <a:tc>
                  <a:txBody>
                    <a:bodyPr/>
                    <a:lstStyle/>
                    <a:p>
                      <a:pPr>
                        <a:defRPr sz="1050" b="0">
                          <a:solidFill>
                            <a:srgbClr val="000000"/>
                          </a:solidFill>
                          <a:latin typeface="Calibri"/>
                        </a:defRPr>
                      </a:pPr>
                      <a:r>
                        <a:t>tercapai</a:t>
                      </a:r>
                    </a:p>
                  </a:txBody>
                  <a:tcPr marL="54864" marR="54864" marT="18288" marB="18288">
                    <a:solidFill>
                      <a:srgbClr val="FFFFFF"/>
                    </a:solidFill>
                  </a:tcPr>
                </a:tc>
              </a:tr>
              <a:tr h="408940">
                <a:tc>
                  <a:txBody>
                    <a:bodyPr/>
                    <a:lstStyle/>
                    <a:p>
                      <a:pPr>
                        <a:defRPr sz="1050" b="0">
                          <a:solidFill>
                            <a:srgbClr val="000000"/>
                          </a:solidFill>
                          <a:latin typeface="Calibri"/>
                        </a:defRPr>
                      </a:pPr>
                      <a:r>
                        <a:t>T2</a:t>
                      </a:r>
                    </a:p>
                  </a:txBody>
                  <a:tcPr marL="54864" marR="54864" marT="18288" marB="18288">
                    <a:solidFill>
                      <a:srgbClr val="FFFFFF"/>
                    </a:solidFill>
                  </a:tcPr>
                </a:tc>
                <a:tc>
                  <a:txBody>
                    <a:bodyPr/>
                    <a:lstStyle/>
                    <a:p>
                      <a:pPr>
                        <a:defRPr sz="1050" b="0">
                          <a:solidFill>
                            <a:srgbClr val="000000"/>
                          </a:solidFill>
                          <a:latin typeface="Calibri"/>
                        </a:defRPr>
                      </a:pPr>
                      <a:r>
                        <a:t>Meningkatkan OTIF dan margin dibanding proses manual</a:t>
                      </a:r>
                    </a:p>
                  </a:txBody>
                  <a:tcPr marL="54864" marR="54864" marT="18288" marB="18288">
                    <a:solidFill>
                      <a:srgbClr val="FFFFFF"/>
                    </a:solidFill>
                  </a:tcPr>
                </a:tc>
                <a:tc>
                  <a:txBody>
                    <a:bodyPr/>
                    <a:lstStyle/>
                    <a:p>
                      <a:pPr>
                        <a:defRPr sz="1050" b="0">
                          <a:solidFill>
                            <a:srgbClr val="000000"/>
                          </a:solidFill>
                          <a:latin typeface="Calibri"/>
                        </a:defRPr>
                      </a:pPr>
                      <a:r>
                        <a:t>OTIF dan margin per order lebih tinggi dari manual</a:t>
                      </a:r>
                    </a:p>
                  </a:txBody>
                  <a:tcPr marL="54864" marR="54864" marT="18288" marB="18288">
                    <a:solidFill>
                      <a:srgbClr val="FFFFFF"/>
                    </a:solidFill>
                  </a:tcPr>
                </a:tc>
                <a:tc>
                  <a:txBody>
                    <a:bodyPr/>
                    <a:lstStyle/>
                    <a:p>
                      <a:pPr>
                        <a:defRPr sz="1050" b="0">
                          <a:solidFill>
                            <a:srgbClr val="000000"/>
                          </a:solidFill>
                          <a:latin typeface="Calibri"/>
                        </a:defRPr>
                      </a:pPr>
                      <a:r>
                        <a:t>OTIF 3% -&gt; 52%; margin $4.199 -&gt; $7.050 per order</a:t>
                      </a:r>
                    </a:p>
                  </a:txBody>
                  <a:tcPr marL="54864" marR="54864" marT="18288" marB="18288">
                    <a:solidFill>
                      <a:srgbClr val="FFFFFF"/>
                    </a:solidFill>
                  </a:tcPr>
                </a:tc>
              </a:tr>
              <a:tr h="408940">
                <a:tc>
                  <a:txBody>
                    <a:bodyPr/>
                    <a:lstStyle/>
                    <a:p>
                      <a:pPr>
                        <a:defRPr sz="1050" b="0">
                          <a:solidFill>
                            <a:srgbClr val="000000"/>
                          </a:solidFill>
                          <a:latin typeface="Calibri"/>
                        </a:defRPr>
                      </a:pPr>
                      <a:r>
                        <a:t>T3</a:t>
                      </a:r>
                    </a:p>
                  </a:txBody>
                  <a:tcPr marL="54864" marR="54864" marT="18288" marB="18288">
                    <a:solidFill>
                      <a:srgbClr val="FFFFFF"/>
                    </a:solidFill>
                  </a:tcPr>
                </a:tc>
                <a:tc>
                  <a:txBody>
                    <a:bodyPr/>
                    <a:lstStyle/>
                    <a:p>
                      <a:pPr>
                        <a:defRPr sz="1050" b="0">
                          <a:solidFill>
                            <a:srgbClr val="000000"/>
                          </a:solidFill>
                          <a:latin typeface="Calibri"/>
                        </a:defRPr>
                      </a:pPr>
                      <a:r>
                        <a:t>Mengukur nilai desentralisasi (multi-agen vs agen tunggal) secara terisolasi</a:t>
                      </a:r>
                    </a:p>
                  </a:txBody>
                  <a:tcPr marL="54864" marR="54864" marT="18288" marB="18288">
                    <a:solidFill>
                      <a:srgbClr val="FFFFFF"/>
                    </a:solidFill>
                  </a:tcPr>
                </a:tc>
                <a:tc>
                  <a:txBody>
                    <a:bodyPr/>
                    <a:lstStyle/>
                    <a:p>
                      <a:pPr>
                        <a:defRPr sz="1050" b="0">
                          <a:solidFill>
                            <a:srgbClr val="000000"/>
                          </a:solidFill>
                          <a:latin typeface="Calibri"/>
                        </a:defRPr>
                      </a:pPr>
                      <a:r>
                        <a:t>Selisih OTIF dan margin dengan rentang 95%; sweep data usang</a:t>
                      </a:r>
                    </a:p>
                  </a:txBody>
                  <a:tcPr marL="54864" marR="54864" marT="18288" marB="18288">
                    <a:solidFill>
                      <a:srgbClr val="FFFFFF"/>
                    </a:solidFill>
                  </a:tcPr>
                </a:tc>
                <a:tc>
                  <a:txBody>
                    <a:bodyPr/>
                    <a:lstStyle/>
                    <a:p>
                      <a:pPr>
                        <a:defRPr sz="1050" b="0">
                          <a:solidFill>
                            <a:srgbClr val="000000"/>
                          </a:solidFill>
                          <a:latin typeface="Calibri"/>
                        </a:defRPr>
                      </a:pPr>
                      <a:r>
                        <a:t>selisih OTIF 6 poin; hilang bila data pusat akurat</a:t>
                      </a:r>
                    </a:p>
                  </a:txBody>
                  <a:tcPr marL="54864" marR="54864" marT="18288" marB="18288">
                    <a:solidFill>
                      <a:srgbClr val="FFFFFF"/>
                    </a:solidFill>
                  </a:tcPr>
                </a:tc>
              </a:tr>
              <a:tr h="248920">
                <a:tc>
                  <a:txBody>
                    <a:bodyPr/>
                    <a:lstStyle/>
                    <a:p>
                      <a:pPr>
                        <a:defRPr sz="1050" b="0">
                          <a:solidFill>
                            <a:srgbClr val="000000"/>
                          </a:solidFill>
                          <a:latin typeface="Calibri"/>
                        </a:defRPr>
                      </a:pPr>
                      <a:r>
                        <a:t>T4</a:t>
                      </a:r>
                    </a:p>
                  </a:txBody>
                  <a:tcPr marL="54864" marR="54864" marT="18288" marB="18288">
                    <a:solidFill>
                      <a:srgbClr val="FFFFFF"/>
                    </a:solidFill>
                  </a:tcPr>
                </a:tc>
                <a:tc>
                  <a:txBody>
                    <a:bodyPr/>
                    <a:lstStyle/>
                    <a:p>
                      <a:pPr>
                        <a:defRPr sz="1050" b="0">
                          <a:solidFill>
                            <a:srgbClr val="000000"/>
                          </a:solidFill>
                          <a:latin typeface="Calibri"/>
                        </a:defRPr>
                      </a:pPr>
                      <a:r>
                        <a:t>Mengurangi beban manusia dengan otonomi berlevel</a:t>
                      </a:r>
                    </a:p>
                  </a:txBody>
                  <a:tcPr marL="54864" marR="54864" marT="18288" marB="18288">
                    <a:solidFill>
                      <a:srgbClr val="FFFFFF"/>
                    </a:solidFill>
                  </a:tcPr>
                </a:tc>
                <a:tc>
                  <a:txBody>
                    <a:bodyPr/>
                    <a:lstStyle/>
                    <a:p>
                      <a:pPr>
                        <a:defRPr sz="1050" b="0">
                          <a:solidFill>
                            <a:srgbClr val="000000"/>
                          </a:solidFill>
                          <a:latin typeface="Calibri"/>
                        </a:defRPr>
                      </a:pPr>
                      <a:r>
                        <a:t>Sentuhan manusia per order turun drastis</a:t>
                      </a:r>
                    </a:p>
                  </a:txBody>
                  <a:tcPr marL="54864" marR="54864" marT="18288" marB="18288">
                    <a:solidFill>
                      <a:srgbClr val="FFFFFF"/>
                    </a:solidFill>
                  </a:tcPr>
                </a:tc>
                <a:tc>
                  <a:txBody>
                    <a:bodyPr/>
                    <a:lstStyle/>
                    <a:p>
                      <a:pPr>
                        <a:defRPr sz="1050" b="0">
                          <a:solidFill>
                            <a:srgbClr val="000000"/>
                          </a:solidFill>
                          <a:latin typeface="Calibri"/>
                        </a:defRPr>
                      </a:pPr>
                      <a:r>
                        <a:t>78 -&gt; 1,3</a:t>
                      </a:r>
                    </a:p>
                  </a:txBody>
                  <a:tcPr marL="54864" marR="54864" marT="18288" marB="18288">
                    <a:solidFill>
                      <a:srgbClr val="FFFFFF"/>
                    </a:solidFill>
                  </a:tcPr>
                </a:tc>
              </a:tr>
              <a:tr h="248920">
                <a:tc>
                  <a:txBody>
                    <a:bodyPr/>
                    <a:lstStyle/>
                    <a:p>
                      <a:pPr>
                        <a:defRPr sz="1050" b="0">
                          <a:solidFill>
                            <a:srgbClr val="000000"/>
                          </a:solidFill>
                          <a:latin typeface="Calibri"/>
                        </a:defRPr>
                      </a:pPr>
                      <a:r>
                        <a:t>T5</a:t>
                      </a:r>
                    </a:p>
                  </a:txBody>
                  <a:tcPr marL="54864" marR="54864" marT="18288" marB="18288">
                    <a:solidFill>
                      <a:srgbClr val="FFFFFF"/>
                    </a:solidFill>
                  </a:tcPr>
                </a:tc>
                <a:tc>
                  <a:txBody>
                    <a:bodyPr/>
                    <a:lstStyle/>
                    <a:p>
                      <a:pPr>
                        <a:defRPr sz="1050" b="0">
                          <a:solidFill>
                            <a:srgbClr val="000000"/>
                          </a:solidFill>
                          <a:latin typeface="Calibri"/>
                        </a:defRPr>
                      </a:pPr>
                      <a:r>
                        <a:t>Menjamin keamanan dan auditabilitas pesan antaragen</a:t>
                      </a:r>
                    </a:p>
                  </a:txBody>
                  <a:tcPr marL="54864" marR="54864" marT="18288" marB="18288">
                    <a:solidFill>
                      <a:srgbClr val="FFFFFF"/>
                    </a:solidFill>
                  </a:tcPr>
                </a:tc>
                <a:tc>
                  <a:txBody>
                    <a:bodyPr/>
                    <a:lstStyle/>
                    <a:p>
                      <a:pPr>
                        <a:defRPr sz="1050" b="0">
                          <a:solidFill>
                            <a:srgbClr val="000000"/>
                          </a:solidFill>
                          <a:latin typeface="Calibri"/>
                        </a:defRPr>
                      </a:pPr>
                      <a:r>
                        <a:t>Tujuh uji serangan diblokir; audit log utuh</a:t>
                      </a:r>
                    </a:p>
                  </a:txBody>
                  <a:tcPr marL="54864" marR="54864" marT="18288" marB="18288">
                    <a:solidFill>
                      <a:srgbClr val="FFFFFF"/>
                    </a:solidFill>
                  </a:tcPr>
                </a:tc>
                <a:tc>
                  <a:txBody>
                    <a:bodyPr/>
                    <a:lstStyle/>
                    <a:p>
                      <a:pPr>
                        <a:defRPr sz="1050" b="0">
                          <a:solidFill>
                            <a:srgbClr val="000000"/>
                          </a:solidFill>
                          <a:latin typeface="Calibri"/>
                        </a:defRPr>
                      </a:pPr>
                      <a:r>
                        <a:t>7 dari 7 diblokir</a:t>
                      </a:r>
                    </a:p>
                  </a:txBody>
                  <a:tcPr marL="54864" marR="54864" marT="18288" marB="18288">
                    <a:solidFill>
                      <a:srgbClr val="FFFFFF"/>
                    </a:solidFill>
                  </a:tcPr>
                </a:tc>
              </a:tr>
              <a:tr h="408940">
                <a:tc>
                  <a:txBody>
                    <a:bodyPr/>
                    <a:lstStyle/>
                    <a:p>
                      <a:pPr>
                        <a:defRPr sz="1050" b="0">
                          <a:solidFill>
                            <a:srgbClr val="000000"/>
                          </a:solidFill>
                          <a:latin typeface="Calibri"/>
                        </a:defRPr>
                      </a:pPr>
                      <a:r>
                        <a:t>T6</a:t>
                      </a:r>
                    </a:p>
                  </a:txBody>
                  <a:tcPr marL="54864" marR="54864" marT="18288" marB="18288">
                    <a:solidFill>
                      <a:srgbClr val="FFFFFF"/>
                    </a:solidFill>
                  </a:tcPr>
                </a:tc>
                <a:tc>
                  <a:txBody>
                    <a:bodyPr/>
                    <a:lstStyle/>
                    <a:p>
                      <a:pPr>
                        <a:defRPr sz="1050" b="0">
                          <a:solidFill>
                            <a:srgbClr val="000000"/>
                          </a:solidFill>
                          <a:latin typeface="Calibri"/>
                        </a:defRPr>
                      </a:pPr>
                      <a:r>
                        <a:t>Menambahkan agen pemasaran digital yang membagi anggaran iklan secara adaptif dan aman</a:t>
                      </a:r>
                    </a:p>
                  </a:txBody>
                  <a:tcPr marL="54864" marR="54864" marT="18288" marB="18288">
                    <a:solidFill>
                      <a:srgbClr val="FFFFFF"/>
                    </a:solidFill>
                  </a:tcPr>
                </a:tc>
                <a:tc>
                  <a:txBody>
                    <a:bodyPr/>
                    <a:lstStyle/>
                    <a:p>
                      <a:pPr>
                        <a:defRPr sz="1050" b="0">
                          <a:solidFill>
                            <a:srgbClr val="000000"/>
                          </a:solidFill>
                          <a:latin typeface="Calibri"/>
                        </a:defRPr>
                      </a:pPr>
                      <a:r>
                        <a:t>Lebih banyak RFQ berkualitas per dolar dibanding pembagian rata pada simulasi</a:t>
                      </a:r>
                    </a:p>
                  </a:txBody>
                  <a:tcPr marL="54864" marR="54864" marT="18288" marB="18288">
                    <a:solidFill>
                      <a:srgbClr val="FFFFFF"/>
                    </a:solidFill>
                  </a:tcPr>
                </a:tc>
                <a:tc>
                  <a:txBody>
                    <a:bodyPr/>
                    <a:lstStyle/>
                    <a:p>
                      <a:pPr>
                        <a:defRPr sz="1050" b="0">
                          <a:solidFill>
                            <a:srgbClr val="000000"/>
                          </a:solidFill>
                          <a:latin typeface="Calibri"/>
                        </a:defRPr>
                      </a:pPr>
                      <a:r>
                        <a:t>+63% RFQ (asumsi; eksploratif)</a:t>
                      </a:r>
                    </a:p>
                  </a:txBody>
                  <a:tcPr marL="54864" marR="54864" marT="18288" marB="18288">
                    <a:solidFill>
                      <a:srgbClr val="FFFFFF"/>
                    </a:solidFill>
                  </a:tcPr>
                </a:tc>
              </a:tr>
            </a:tbl>
          </a:graphicData>
        </a:graphic>
      </p:graphicFrame>
      <p:sp>
        <p:nvSpPr>
          <p:cNvPr id="8" name="TextBox 7"/>
          <p:cNvSpPr txBox="1"/>
          <p:nvPr/>
        </p:nvSpPr>
        <p:spPr>
          <a:xfrm>
            <a:off x="411480" y="4937760"/>
            <a:ext cx="11338560" cy="1463040"/>
          </a:xfrm>
          <a:prstGeom prst="rect">
            <a:avLst/>
          </a:prstGeom>
          <a:noFill/>
        </p:spPr>
        <p:txBody>
          <a:bodyPr wrap="square">
            <a:spAutoFit/>
          </a:bodyPr>
          <a:lstStyle/>
          <a:p>
            <a:pPr>
              <a:spcAft>
                <a:spcPts val="400"/>
              </a:spcAft>
              <a:defRPr sz="1150" b="0">
                <a:solidFill>
                  <a:srgbClr val="000000"/>
                </a:solidFill>
                <a:latin typeface="Calibri"/>
              </a:defRPr>
            </a:pPr>
            <a:r>
              <a:t>• H1: Agen tunggal maupun multi-agen meningkatkan OTIF secara berarti dibanding proses manual (didukung).</a:t>
            </a:r>
          </a:p>
          <a:p>
            <a:pPr>
              <a:spcAft>
                <a:spcPts val="400"/>
              </a:spcAft>
              <a:defRPr sz="1150" b="0">
                <a:solidFill>
                  <a:srgbClr val="000000"/>
                </a:solidFill>
                <a:latin typeface="Calibri"/>
              </a:defRPr>
            </a:pPr>
            <a:r>
              <a:t>• H2: Multi-agen unggul dari agen tunggal hanya bila data kapasitas pusat usang (didukung: selisih menyempit menuju nol saat variasi kapasitas 0).</a:t>
            </a:r>
          </a:p>
          <a:p>
            <a:pPr>
              <a:spcAft>
                <a:spcPts val="400"/>
              </a:spcAft>
              <a:defRPr sz="1150" b="0">
                <a:solidFill>
                  <a:srgbClr val="000000"/>
                </a:solidFill>
                <a:latin typeface="Calibri"/>
              </a:defRPr>
            </a:pPr>
            <a:r>
              <a:t>• H3: Kelebihan pesanan (buffer) yang optimal berada pada rentang menengah, bukan nol atau maksimum (didukung: puncak 15-20%).</a:t>
            </a:r>
          </a:p>
          <a:p>
            <a:pPr>
              <a:spcAft>
                <a:spcPts val="400"/>
              </a:spcAft>
              <a:defRPr sz="1150" b="0">
                <a:solidFill>
                  <a:srgbClr val="000000"/>
                </a:solidFill>
                <a:latin typeface="Calibri"/>
              </a:defRPr>
            </a:pPr>
            <a:r>
              <a:t>• H4: Otonomi berlevel menurunkan sentuhan manusia tanpa melewati kebijakan (didukung pada simulasi).</a:t>
            </a:r>
          </a:p>
          <a:p>
            <a:pPr>
              <a:spcAft>
                <a:spcPts val="400"/>
              </a:spcAft>
              <a:defRPr sz="1150" b="0">
                <a:solidFill>
                  <a:srgbClr val="000000"/>
                </a:solidFill>
                <a:latin typeface="Calibri"/>
              </a:defRPr>
            </a:pPr>
            <a:r>
              <a:t>• H5: Pembagian anggaran iklan adaptif menghasilkan lebih banyak RFQ berkualitas daripada pembagian rata bila kualitas kanal tidak diketahui (didukung pada simulasi berasumsi).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5.1 Alur end-to-end KCMAS: bagaimana sistem ini bekerja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13</a:t>
            </a:r>
          </a:p>
        </p:txBody>
      </p:sp>
      <p:pic>
        <p:nvPicPr>
          <p:cNvPr id="6" name="Picture 5" descr="fig_flow.png"/>
          <p:cNvPicPr>
            <a:picLocks noChangeAspect="1"/>
          </p:cNvPicPr>
          <p:nvPr/>
        </p:nvPicPr>
        <p:blipFill>
          <a:blip r:embed="rId2"/>
          <a:stretch>
            <a:fillRect/>
          </a:stretch>
        </p:blipFill>
        <p:spPr>
          <a:xfrm>
            <a:off x="2075540" y="896112"/>
            <a:ext cx="8010438" cy="5349240"/>
          </a:xfrm>
          <a:prstGeom prst="rect">
            <a:avLst/>
          </a:prstGeom>
        </p:spPr>
      </p:pic>
      <p:sp>
        <p:nvSpPr>
          <p:cNvPr id="7" name="TextBox 6"/>
          <p:cNvSpPr txBox="1"/>
          <p:nvPr/>
        </p:nvSpPr>
        <p:spPr>
          <a:xfrm>
            <a:off x="411480" y="6172200"/>
            <a:ext cx="11338560" cy="320040"/>
          </a:xfrm>
          <a:prstGeom prst="rect">
            <a:avLst/>
          </a:prstGeom>
          <a:noFill/>
        </p:spPr>
        <p:txBody>
          <a:bodyPr wrap="square">
            <a:spAutoFit/>
          </a:bodyPr>
          <a:lstStyle/>
          <a:p>
            <a:pPr>
              <a:spcAft>
                <a:spcPts val="400"/>
              </a:spcAft>
              <a:defRPr sz="1050" b="0">
                <a:solidFill>
                  <a:srgbClr val="333333"/>
                </a:solidFill>
                <a:latin typeface="Calibri"/>
              </a:defRPr>
            </a:pPr>
            <a:r>
              <a:t>Nomor merujuk ke tabel langkah berikutnya. Oranye = keputusan manusia; merah = putaran re-kontrak bila kg belum cukup; putus-putus = dokumen paralel.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5.1 Alur end-to-end: penjelasan langkah 1-8</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14</a:t>
            </a:r>
          </a:p>
        </p:txBody>
      </p:sp>
      <p:sp>
        <p:nvSpPr>
          <p:cNvPr id="6" name="TextBox 5"/>
          <p:cNvSpPr txBox="1"/>
          <p:nvPr/>
        </p:nvSpPr>
        <p:spPr>
          <a:xfrm>
            <a:off x="411480" y="914400"/>
            <a:ext cx="11338560" cy="731520"/>
          </a:xfrm>
          <a:prstGeom prst="rect">
            <a:avLst/>
          </a:prstGeom>
          <a:noFill/>
        </p:spPr>
        <p:txBody>
          <a:bodyPr wrap="square">
            <a:spAutoFit/>
          </a:bodyPr>
          <a:lstStyle/>
          <a:p>
            <a:pPr>
              <a:spcAft>
                <a:spcPts val="400"/>
              </a:spcAft>
              <a:defRPr sz="950" b="0">
                <a:solidFill>
                  <a:srgbClr val="374151"/>
                </a:solidFill>
                <a:latin typeface="Calibri"/>
              </a:defRPr>
            </a:pPr>
            <a:r>
              <a:t>Sistem ini pada dasarnya adalah 'tim kerja digital' untuk satu pesanan ekspor. Setiap peran diisi agen perangkat lunak yang saling berkirim pesan; agen tidak melakukan pekerjaan fisik. Yang fisik (memproduksi, menguji, mengemas, mengirim) tetap dikerjakan produsen, staf, dan mesin gudang; agen hanya mengatur, menawar, dan mencatat. Manusia turun tangan hanya pada titik oranye. Contoh angka memakai order 25 ton: sistem meminta 25 x 1,15 = 28,75 ton kepada produsen sebagai cadangan, dan tidak ada produsen yang boleh mengambil lebih dari 30% (sekitar 8,6 ton), sehingga minimal 4 produsen terlibat.</a:t>
            </a:r>
          </a:p>
        </p:txBody>
      </p:sp>
      <p:graphicFrame>
        <p:nvGraphicFramePr>
          <p:cNvPr id="7" name="Table 6"/>
          <p:cNvGraphicFramePr>
            <a:graphicFrameLocks noGrp="1"/>
          </p:cNvGraphicFramePr>
          <p:nvPr/>
        </p:nvGraphicFramePr>
        <p:xfrm>
          <a:off x="274320" y="1691640"/>
          <a:ext cx="11430000" cy="3848100"/>
        </p:xfrm>
        <a:graphic>
          <a:graphicData uri="http://schemas.openxmlformats.org/drawingml/2006/table">
            <a:tbl>
              <a:tblPr firstRow="1" bandRow="1">
                <a:tableStyleId>{5C22544A-7EE6-4342-B048-85BDC9FD1C3A}</a:tableStyleId>
              </a:tblPr>
              <a:tblGrid>
                <a:gridCol w="457200"/>
                <a:gridCol w="1737360"/>
                <a:gridCol w="4754880"/>
                <a:gridCol w="2926080"/>
                <a:gridCol w="1554480"/>
              </a:tblGrid>
              <a:tr h="241300">
                <a:tc>
                  <a:txBody>
                    <a:bodyPr/>
                    <a:lstStyle/>
                    <a:p>
                      <a:pPr>
                        <a:defRPr sz="1000" b="1">
                          <a:solidFill>
                            <a:srgbClr val="000000"/>
                          </a:solidFill>
                          <a:latin typeface="Calibri"/>
                        </a:defRPr>
                      </a:pPr>
                      <a:r>
                        <a:t>No.</a:t>
                      </a:r>
                    </a:p>
                  </a:txBody>
                  <a:tcPr marL="54864" marR="54864" marT="18288" marB="18288">
                    <a:solidFill>
                      <a:srgbClr val="E5E7EB"/>
                    </a:solidFill>
                  </a:tcPr>
                </a:tc>
                <a:tc>
                  <a:txBody>
                    <a:bodyPr/>
                    <a:lstStyle/>
                    <a:p>
                      <a:pPr>
                        <a:defRPr sz="1000" b="1">
                          <a:solidFill>
                            <a:srgbClr val="000000"/>
                          </a:solidFill>
                          <a:latin typeface="Calibri"/>
                        </a:defRPr>
                      </a:pPr>
                      <a:r>
                        <a:t>Pelaku</a:t>
                      </a:r>
                    </a:p>
                  </a:txBody>
                  <a:tcPr marL="54864" marR="54864" marT="18288" marB="18288">
                    <a:solidFill>
                      <a:srgbClr val="E5E7EB"/>
                    </a:solidFill>
                  </a:tcPr>
                </a:tc>
                <a:tc>
                  <a:txBody>
                    <a:bodyPr/>
                    <a:lstStyle/>
                    <a:p>
                      <a:pPr>
                        <a:defRPr sz="1000" b="1">
                          <a:solidFill>
                            <a:srgbClr val="000000"/>
                          </a:solidFill>
                          <a:latin typeface="Calibri"/>
                        </a:defRPr>
                      </a:pPr>
                      <a:r>
                        <a:t>Apa yang terjadi</a:t>
                      </a:r>
                    </a:p>
                  </a:txBody>
                  <a:tcPr marL="54864" marR="54864" marT="18288" marB="18288">
                    <a:solidFill>
                      <a:srgbClr val="E5E7EB"/>
                    </a:solidFill>
                  </a:tcPr>
                </a:tc>
                <a:tc>
                  <a:txBody>
                    <a:bodyPr/>
                    <a:lstStyle/>
                    <a:p>
                      <a:pPr>
                        <a:defRPr sz="1000" b="1">
                          <a:solidFill>
                            <a:srgbClr val="000000"/>
                          </a:solidFill>
                          <a:latin typeface="Calibri"/>
                        </a:defRPr>
                      </a:pPr>
                      <a:r>
                        <a:t>Keputusan / aturan</a:t>
                      </a:r>
                    </a:p>
                  </a:txBody>
                  <a:tcPr marL="54864" marR="54864" marT="18288" marB="18288">
                    <a:solidFill>
                      <a:srgbClr val="E5E7EB"/>
                    </a:solidFill>
                  </a:tcPr>
                </a:tc>
                <a:tc>
                  <a:txBody>
                    <a:bodyPr/>
                    <a:lstStyle/>
                    <a:p>
                      <a:pPr>
                        <a:defRPr sz="1000" b="1">
                          <a:solidFill>
                            <a:srgbClr val="000000"/>
                          </a:solidFill>
                          <a:latin typeface="Calibri"/>
                        </a:defRPr>
                      </a:pPr>
                      <a:r>
                        <a:t>Hasil</a:t>
                      </a:r>
                    </a:p>
                  </a:txBody>
                  <a:tcPr marL="54864" marR="54864" marT="18288" marB="18288">
                    <a:solidFill>
                      <a:srgbClr val="E5E7EB"/>
                    </a:solidFill>
                  </a:tcPr>
                </a:tc>
              </a:tr>
              <a:tr h="698500">
                <a:tc>
                  <a:txBody>
                    <a:bodyPr/>
                    <a:lstStyle/>
                    <a:p>
                      <a:pPr>
                        <a:defRPr sz="1000" b="0">
                          <a:solidFill>
                            <a:srgbClr val="000000"/>
                          </a:solidFill>
                          <a:latin typeface="Calibri"/>
                        </a:defRPr>
                      </a:pPr>
                      <a:r>
                        <a:t>0</a:t>
                      </a:r>
                    </a:p>
                  </a:txBody>
                  <a:tcPr marL="54864" marR="54864" marT="18288" marB="18288">
                    <a:solidFill>
                      <a:srgbClr val="FFFFFF"/>
                    </a:solidFill>
                  </a:tcPr>
                </a:tc>
                <a:tc>
                  <a:txBody>
                    <a:bodyPr/>
                    <a:lstStyle/>
                    <a:p>
                      <a:pPr>
                        <a:defRPr sz="1000" b="0">
                          <a:solidFill>
                            <a:srgbClr val="000000"/>
                          </a:solidFill>
                          <a:latin typeface="Calibri"/>
                        </a:defRPr>
                      </a:pPr>
                      <a:r>
                        <a:t>Marketing &amp; Ads Agent</a:t>
                      </a:r>
                    </a:p>
                  </a:txBody>
                  <a:tcPr marL="54864" marR="54864" marT="18288" marB="18288">
                    <a:solidFill>
                      <a:srgbClr val="FFFFFF"/>
                    </a:solidFill>
                  </a:tcPr>
                </a:tc>
                <a:tc>
                  <a:txBody>
                    <a:bodyPr/>
                    <a:lstStyle/>
                    <a:p>
                      <a:pPr>
                        <a:defRPr sz="1000" b="0">
                          <a:solidFill>
                            <a:srgbClr val="000000"/>
                          </a:solidFill>
                          <a:latin typeface="Calibri"/>
                        </a:defRPr>
                      </a:pPr>
                      <a:r>
                        <a:t>Membagi anggaran iklan ke kanal (Google, LinkedIn, marketplace, e-mail/WhatsApp, konten), membuat materi iklan, dan hanya mengiklankan produk yang kapasitasnya tersedia (sinyal dari Order Agent).</a:t>
                      </a:r>
                    </a:p>
                  </a:txBody>
                  <a:tcPr marL="54864" marR="54864" marT="18288" marB="18288">
                    <a:solidFill>
                      <a:srgbClr val="FFFFFF"/>
                    </a:solidFill>
                  </a:tcPr>
                </a:tc>
                <a:tc>
                  <a:txBody>
                    <a:bodyPr/>
                    <a:lstStyle/>
                    <a:p>
                      <a:pPr>
                        <a:defRPr sz="1000" b="0">
                          <a:solidFill>
                            <a:srgbClr val="000000"/>
                          </a:solidFill>
                          <a:latin typeface="Calibri"/>
                        </a:defRPr>
                      </a:pPr>
                      <a:r>
                        <a:t>Klaim harus sesuai spesifikasi dan sertifikat nyata; materi baru disetujui manusia.</a:t>
                      </a:r>
                    </a:p>
                  </a:txBody>
                  <a:tcPr marL="54864" marR="54864" marT="18288" marB="18288">
                    <a:solidFill>
                      <a:srgbClr val="FFFFFF"/>
                    </a:solidFill>
                  </a:tcPr>
                </a:tc>
                <a:tc>
                  <a:txBody>
                    <a:bodyPr/>
                    <a:lstStyle/>
                    <a:p>
                      <a:pPr>
                        <a:defRPr sz="1000" b="0">
                          <a:solidFill>
                            <a:srgbClr val="000000"/>
                          </a:solidFill>
                          <a:latin typeface="Calibri"/>
                        </a:defRPr>
                      </a:pPr>
                      <a:r>
                        <a:t>Calon pembeli mengirim RFQ.</a:t>
                      </a:r>
                    </a:p>
                  </a:txBody>
                  <a:tcPr marL="54864" marR="54864" marT="18288" marB="18288">
                    <a:solidFill>
                      <a:srgbClr val="FFFFFF"/>
                    </a:solidFill>
                  </a:tcPr>
                </a:tc>
              </a:tr>
              <a:tr h="393700">
                <a:tc>
                  <a:txBody>
                    <a:bodyPr/>
                    <a:lstStyle/>
                    <a:p>
                      <a:pPr>
                        <a:defRPr sz="1000" b="0">
                          <a:solidFill>
                            <a:srgbClr val="000000"/>
                          </a:solidFill>
                          <a:latin typeface="Calibri"/>
                        </a:defRPr>
                      </a:pPr>
                      <a:r>
                        <a:t>1</a:t>
                      </a:r>
                    </a:p>
                  </a:txBody>
                  <a:tcPr marL="54864" marR="54864" marT="18288" marB="18288">
                    <a:solidFill>
                      <a:srgbClr val="FFFFFF"/>
                    </a:solidFill>
                  </a:tcPr>
                </a:tc>
                <a:tc>
                  <a:txBody>
                    <a:bodyPr/>
                    <a:lstStyle/>
                    <a:p>
                      <a:pPr>
                        <a:defRPr sz="1000" b="0">
                          <a:solidFill>
                            <a:srgbClr val="000000"/>
                          </a:solidFill>
                          <a:latin typeface="Calibri"/>
                        </a:defRPr>
                      </a:pPr>
                      <a:r>
                        <a:t>Pembeli</a:t>
                      </a:r>
                    </a:p>
                  </a:txBody>
                  <a:tcPr marL="54864" marR="54864" marT="18288" marB="18288">
                    <a:solidFill>
                      <a:srgbClr val="FFFFFF"/>
                    </a:solidFill>
                  </a:tcPr>
                </a:tc>
                <a:tc>
                  <a:txBody>
                    <a:bodyPr/>
                    <a:lstStyle/>
                    <a:p>
                      <a:pPr>
                        <a:defRPr sz="1000" b="0">
                          <a:solidFill>
                            <a:srgbClr val="000000"/>
                          </a:solidFill>
                          <a:latin typeface="Calibri"/>
                        </a:defRPr>
                      </a:pPr>
                      <a:r>
                        <a:t>Mengirim RFQ lewat portal atau WhatsApp: produk, kuantitas, pelabuhan tujuan, tenggat kirim.</a:t>
                      </a:r>
                    </a:p>
                  </a:txBody>
                  <a:tcPr marL="54864" marR="54864" marT="18288" marB="18288">
                    <a:solidFill>
                      <a:srgbClr val="FFFFFF"/>
                    </a:solidFill>
                  </a:tcPr>
                </a:tc>
                <a:tc>
                  <a:txBody>
                    <a:bodyPr/>
                    <a:lstStyle/>
                    <a:p>
                      <a:pPr>
                        <a:defRPr sz="1000" b="0">
                          <a:solidFill>
                            <a:srgbClr val="000000"/>
                          </a:solidFill>
                          <a:latin typeface="Calibri"/>
                        </a:defRPr>
                      </a:pPr>
                      <a:r>
                        <a:t>Isian wajib diperiksa (Bagian 5.3).</a:t>
                      </a:r>
                    </a:p>
                  </a:txBody>
                  <a:tcPr marL="54864" marR="54864" marT="18288" marB="18288">
                    <a:solidFill>
                      <a:srgbClr val="FFFFFF"/>
                    </a:solidFill>
                  </a:tcPr>
                </a:tc>
                <a:tc>
                  <a:txBody>
                    <a:bodyPr/>
                    <a:lstStyle/>
                    <a:p>
                      <a:pPr>
                        <a:defRPr sz="1000" b="0">
                          <a:solidFill>
                            <a:srgbClr val="000000"/>
                          </a:solidFill>
                          <a:latin typeface="Calibri"/>
                        </a:defRPr>
                      </a:pPr>
                      <a:r>
                        <a:t>RFQ tercatat dengan id unik.</a:t>
                      </a:r>
                    </a:p>
                  </a:txBody>
                  <a:tcPr marL="54864" marR="54864" marT="18288" marB="18288">
                    <a:solidFill>
                      <a:srgbClr val="FFFFFF"/>
                    </a:solidFill>
                  </a:tcPr>
                </a:tc>
              </a:tr>
              <a:tr h="546100">
                <a:tc>
                  <a:txBody>
                    <a:bodyPr/>
                    <a:lstStyle/>
                    <a:p>
                      <a:pPr>
                        <a:defRPr sz="1000" b="0">
                          <a:solidFill>
                            <a:srgbClr val="000000"/>
                          </a:solidFill>
                          <a:latin typeface="Calibri"/>
                        </a:defRPr>
                      </a:pPr>
                      <a:r>
                        <a:t>2</a:t>
                      </a:r>
                    </a:p>
                  </a:txBody>
                  <a:tcPr marL="54864" marR="54864" marT="18288" marB="18288">
                    <a:solidFill>
                      <a:srgbClr val="FFFFFF"/>
                    </a:solidFill>
                  </a:tcPr>
                </a:tc>
                <a:tc>
                  <a:txBody>
                    <a:bodyPr/>
                    <a:lstStyle/>
                    <a:p>
                      <a:pPr>
                        <a:defRPr sz="1000" b="0">
                          <a:solidFill>
                            <a:srgbClr val="000000"/>
                          </a:solidFill>
                          <a:latin typeface="Calibri"/>
                        </a:defRPr>
                      </a:pPr>
                      <a:r>
                        <a:t>Sales Agent (Virtual SDR)</a:t>
                      </a:r>
                    </a:p>
                  </a:txBody>
                  <a:tcPr marL="54864" marR="54864" marT="18288" marB="18288">
                    <a:solidFill>
                      <a:srgbClr val="FFFFFF"/>
                    </a:solidFill>
                  </a:tcPr>
                </a:tc>
                <a:tc>
                  <a:txBody>
                    <a:bodyPr/>
                    <a:lstStyle/>
                    <a:p>
                      <a:pPr>
                        <a:defRPr sz="1000" b="0">
                          <a:solidFill>
                            <a:srgbClr val="000000"/>
                          </a:solidFill>
                          <a:latin typeface="Calibri"/>
                        </a:defRPr>
                      </a:pPr>
                      <a:r>
                        <a:t>Mengkualifikasi pembeli, menegosiasikan harga dan syarat dengan konsesi bertahap, membuat Letter of Intent.</a:t>
                      </a:r>
                    </a:p>
                  </a:txBody>
                  <a:tcPr marL="54864" marR="54864" marT="18288" marB="18288">
                    <a:solidFill>
                      <a:srgbClr val="FFFFFF"/>
                    </a:solidFill>
                  </a:tcPr>
                </a:tc>
                <a:tc>
                  <a:txBody>
                    <a:bodyPr/>
                    <a:lstStyle/>
                    <a:p>
                      <a:pPr>
                        <a:defRPr sz="1000" b="0">
                          <a:solidFill>
                            <a:srgbClr val="000000"/>
                          </a:solidFill>
                          <a:latin typeface="Calibri"/>
                        </a:defRPr>
                      </a:pPr>
                      <a:r>
                        <a:t>Harga tidak boleh di bawah batas kebijakan; di luar batas dieskalasi ke manusia.</a:t>
                      </a:r>
                    </a:p>
                  </a:txBody>
                  <a:tcPr marL="54864" marR="54864" marT="18288" marB="18288">
                    <a:solidFill>
                      <a:srgbClr val="FFFFFF"/>
                    </a:solidFill>
                  </a:tcPr>
                </a:tc>
                <a:tc>
                  <a:txBody>
                    <a:bodyPr/>
                    <a:lstStyle/>
                    <a:p>
                      <a:pPr>
                        <a:defRPr sz="1000" b="0">
                          <a:solidFill>
                            <a:srgbClr val="000000"/>
                          </a:solidFill>
                          <a:latin typeface="Calibri"/>
                        </a:defRPr>
                      </a:pPr>
                      <a:r>
                        <a:t>LoI dan harga sepakat.</a:t>
                      </a:r>
                    </a:p>
                  </a:txBody>
                  <a:tcPr marL="54864" marR="54864" marT="18288" marB="18288">
                    <a:solidFill>
                      <a:srgbClr val="FFFFFF"/>
                    </a:solidFill>
                  </a:tcPr>
                </a:tc>
              </a:tr>
              <a:tr h="393700">
                <a:tc>
                  <a:txBody>
                    <a:bodyPr/>
                    <a:lstStyle/>
                    <a:p>
                      <a:pPr>
                        <a:defRPr sz="1000" b="0">
                          <a:solidFill>
                            <a:srgbClr val="000000"/>
                          </a:solidFill>
                          <a:latin typeface="Calibri"/>
                        </a:defRPr>
                      </a:pPr>
                      <a:r>
                        <a:t>3</a:t>
                      </a:r>
                    </a:p>
                  </a:txBody>
                  <a:tcPr marL="54864" marR="54864" marT="18288" marB="18288">
                    <a:solidFill>
                      <a:srgbClr val="FFFFFF"/>
                    </a:solidFill>
                  </a:tcPr>
                </a:tc>
                <a:tc>
                  <a:txBody>
                    <a:bodyPr/>
                    <a:lstStyle/>
                    <a:p>
                      <a:pPr>
                        <a:defRPr sz="1000" b="0">
                          <a:solidFill>
                            <a:srgbClr val="000000"/>
                          </a:solidFill>
                          <a:latin typeface="Calibri"/>
                        </a:defRPr>
                      </a:pPr>
                      <a:r>
                        <a:t>Manusia (admin)</a:t>
                      </a:r>
                    </a:p>
                  </a:txBody>
                  <a:tcPr marL="54864" marR="54864" marT="18288" marB="18288">
                    <a:solidFill>
                      <a:srgbClr val="FFFFFF"/>
                    </a:solidFill>
                  </a:tcPr>
                </a:tc>
                <a:tc>
                  <a:txBody>
                    <a:bodyPr/>
                    <a:lstStyle/>
                    <a:p>
                      <a:pPr>
                        <a:defRPr sz="1000" b="0">
                          <a:solidFill>
                            <a:srgbClr val="000000"/>
                          </a:solidFill>
                          <a:latin typeface="Calibri"/>
                        </a:defRPr>
                      </a:pPr>
                      <a:r>
                        <a:t>Memverifikasi bukti down payment (human-in-the-loop, level otonomi 2).</a:t>
                      </a:r>
                    </a:p>
                  </a:txBody>
                  <a:tcPr marL="54864" marR="54864" marT="18288" marB="18288">
                    <a:solidFill>
                      <a:srgbClr val="FFFFFF"/>
                    </a:solidFill>
                  </a:tcPr>
                </a:tc>
                <a:tc>
                  <a:txBody>
                    <a:bodyPr/>
                    <a:lstStyle/>
                    <a:p>
                      <a:pPr>
                        <a:defRPr sz="1000" b="0">
                          <a:solidFill>
                            <a:srgbClr val="000000"/>
                          </a:solidFill>
                          <a:latin typeface="Calibri"/>
                        </a:defRPr>
                      </a:pPr>
                      <a:r>
                        <a:t>DP terverifikasi dalam 0,3-1,2 hari.</a:t>
                      </a:r>
                    </a:p>
                  </a:txBody>
                  <a:tcPr marL="54864" marR="54864" marT="18288" marB="18288">
                    <a:solidFill>
                      <a:srgbClr val="FFFFFF"/>
                    </a:solidFill>
                  </a:tcPr>
                </a:tc>
                <a:tc>
                  <a:txBody>
                    <a:bodyPr/>
                    <a:lstStyle/>
                    <a:p>
                      <a:pPr>
                        <a:defRPr sz="1000" b="0">
                          <a:solidFill>
                            <a:srgbClr val="000000"/>
                          </a:solidFill>
                          <a:latin typeface="Calibri"/>
                        </a:defRPr>
                      </a:pPr>
                      <a:r>
                        <a:t>Order dirilis ke produksi.</a:t>
                      </a:r>
                    </a:p>
                  </a:txBody>
                  <a:tcPr marL="54864" marR="54864" marT="18288" marB="18288">
                    <a:solidFill>
                      <a:srgbClr val="FFFFFF"/>
                    </a:solidFill>
                  </a:tcPr>
                </a:tc>
              </a:tr>
              <a:tr h="393700">
                <a:tc>
                  <a:txBody>
                    <a:bodyPr/>
                    <a:lstStyle/>
                    <a:p>
                      <a:pPr>
                        <a:defRPr sz="1000" b="0">
                          <a:solidFill>
                            <a:srgbClr val="000000"/>
                          </a:solidFill>
                          <a:latin typeface="Calibri"/>
                        </a:defRPr>
                      </a:pPr>
                      <a:r>
                        <a:t>4</a:t>
                      </a:r>
                    </a:p>
                  </a:txBody>
                  <a:tcPr marL="54864" marR="54864" marT="18288" marB="18288">
                    <a:solidFill>
                      <a:srgbClr val="FFFFFF"/>
                    </a:solidFill>
                  </a:tcPr>
                </a:tc>
                <a:tc>
                  <a:txBody>
                    <a:bodyPr/>
                    <a:lstStyle/>
                    <a:p>
                      <a:pPr>
                        <a:defRPr sz="1000" b="0">
                          <a:solidFill>
                            <a:srgbClr val="000000"/>
                          </a:solidFill>
                          <a:latin typeface="Calibri"/>
                        </a:defRPr>
                      </a:pPr>
                      <a:r>
                        <a:t>Order Agent</a:t>
                      </a:r>
                    </a:p>
                  </a:txBody>
                  <a:tcPr marL="54864" marR="54864" marT="18288" marB="18288">
                    <a:solidFill>
                      <a:srgbClr val="FFFFFF"/>
                    </a:solidFill>
                  </a:tcPr>
                </a:tc>
                <a:tc>
                  <a:txBody>
                    <a:bodyPr/>
                    <a:lstStyle/>
                    <a:p>
                      <a:pPr>
                        <a:defRPr sz="1000" b="0">
                          <a:solidFill>
                            <a:srgbClr val="000000"/>
                          </a:solidFill>
                          <a:latin typeface="Calibri"/>
                        </a:defRPr>
                      </a:pPr>
                      <a:r>
                        <a:t>Melepas order dan menyiarkan permintaan tawaran (CFP) ke produsen dengan kuantitas ditambah cadangan 15%.</a:t>
                      </a:r>
                    </a:p>
                  </a:txBody>
                  <a:tcPr marL="54864" marR="54864" marT="18288" marB="18288">
                    <a:solidFill>
                      <a:srgbClr val="FFFFFF"/>
                    </a:solidFill>
                  </a:tcPr>
                </a:tc>
                <a:tc>
                  <a:txBody>
                    <a:bodyPr/>
                    <a:lstStyle/>
                    <a:p>
                      <a:pPr>
                        <a:defRPr sz="1000" b="0">
                          <a:solidFill>
                            <a:srgbClr val="000000"/>
                          </a:solidFill>
                          <a:latin typeface="Calibri"/>
                        </a:defRPr>
                      </a:pPr>
                      <a:r>
                        <a:t>Batas 30% per produsen; produsen bermutu di bawah 0,60 diblokir.</a:t>
                      </a:r>
                    </a:p>
                  </a:txBody>
                  <a:tcPr marL="54864" marR="54864" marT="18288" marB="18288">
                    <a:solidFill>
                      <a:srgbClr val="FFFFFF"/>
                    </a:solidFill>
                  </a:tcPr>
                </a:tc>
                <a:tc>
                  <a:txBody>
                    <a:bodyPr/>
                    <a:lstStyle/>
                    <a:p>
                      <a:pPr>
                        <a:defRPr sz="1000" b="0">
                          <a:solidFill>
                            <a:srgbClr val="000000"/>
                          </a:solidFill>
                          <a:latin typeface="Calibri"/>
                        </a:defRPr>
                      </a:pPr>
                      <a:r>
                        <a:t>CFP terkirim (template WhatsApp).</a:t>
                      </a:r>
                    </a:p>
                  </a:txBody>
                  <a:tcPr marL="54864" marR="54864" marT="18288" marB="18288">
                    <a:solidFill>
                      <a:srgbClr val="FFFFFF"/>
                    </a:solidFill>
                  </a:tcPr>
                </a:tc>
              </a:tr>
              <a:tr h="393700">
                <a:tc>
                  <a:txBody>
                    <a:bodyPr/>
                    <a:lstStyle/>
                    <a:p>
                      <a:pPr>
                        <a:defRPr sz="1000" b="0">
                          <a:solidFill>
                            <a:srgbClr val="000000"/>
                          </a:solidFill>
                          <a:latin typeface="Calibri"/>
                        </a:defRPr>
                      </a:pPr>
                      <a:r>
                        <a:t>5</a:t>
                      </a:r>
                    </a:p>
                  </a:txBody>
                  <a:tcPr marL="54864" marR="54864" marT="18288" marB="18288">
                    <a:solidFill>
                      <a:srgbClr val="FFFFFF"/>
                    </a:solidFill>
                  </a:tcPr>
                </a:tc>
                <a:tc>
                  <a:txBody>
                    <a:bodyPr/>
                    <a:lstStyle/>
                    <a:p>
                      <a:pPr>
                        <a:defRPr sz="1000" b="0">
                          <a:solidFill>
                            <a:srgbClr val="000000"/>
                          </a:solidFill>
                          <a:latin typeface="Calibri"/>
                        </a:defRPr>
                      </a:pPr>
                      <a:r>
                        <a:t>Compliance Agent</a:t>
                      </a:r>
                    </a:p>
                  </a:txBody>
                  <a:tcPr marL="54864" marR="54864" marT="18288" marB="18288">
                    <a:solidFill>
                      <a:srgbClr val="FFFFFF"/>
                    </a:solidFill>
                  </a:tcPr>
                </a:tc>
                <a:tc>
                  <a:txBody>
                    <a:bodyPr/>
                    <a:lstStyle/>
                    <a:p>
                      <a:pPr>
                        <a:defRPr sz="1000" b="0">
                          <a:solidFill>
                            <a:srgbClr val="000000"/>
                          </a:solidFill>
                          <a:latin typeface="Calibri"/>
                        </a:defRPr>
                      </a:pPr>
                      <a:r>
                        <a:t>Paralel dengan produksi: klasifikasi HS (ML teks) dan menyusun dokumen ekspor.</a:t>
                      </a:r>
                    </a:p>
                  </a:txBody>
                  <a:tcPr marL="54864" marR="54864" marT="18288" marB="18288">
                    <a:solidFill>
                      <a:srgbClr val="FFFFFF"/>
                    </a:solidFill>
                  </a:tcPr>
                </a:tc>
                <a:tc>
                  <a:txBody>
                    <a:bodyPr/>
                    <a:lstStyle/>
                    <a:p>
                      <a:pPr>
                        <a:defRPr sz="1000" b="0">
                          <a:solidFill>
                            <a:srgbClr val="000000"/>
                          </a:solidFill>
                          <a:latin typeface="Calibri"/>
                        </a:defRPr>
                      </a:pPr>
                      <a:r>
                        <a:t>Bila keyakinan HS di bawah 0,6, diserahkan ke tim Compliance.</a:t>
                      </a:r>
                    </a:p>
                  </a:txBody>
                  <a:tcPr marL="54864" marR="54864" marT="18288" marB="18288">
                    <a:solidFill>
                      <a:srgbClr val="FFFFFF"/>
                    </a:solidFill>
                  </a:tcPr>
                </a:tc>
                <a:tc>
                  <a:txBody>
                    <a:bodyPr/>
                    <a:lstStyle/>
                    <a:p>
                      <a:pPr>
                        <a:defRPr sz="1000" b="0">
                          <a:solidFill>
                            <a:srgbClr val="000000"/>
                          </a:solidFill>
                          <a:latin typeface="Calibri"/>
                        </a:defRPr>
                      </a:pPr>
                      <a:r>
                        <a:t>Dokumen siap sebelum barang tiba.</a:t>
                      </a:r>
                    </a:p>
                  </a:txBody>
                  <a:tcPr marL="54864" marR="54864" marT="18288" marB="18288">
                    <a:solidFill>
                      <a:srgbClr val="FFFFFF"/>
                    </a:solidFill>
                  </a:tcPr>
                </a:tc>
              </a:tr>
              <a:tr h="393700">
                <a:tc>
                  <a:txBody>
                    <a:bodyPr/>
                    <a:lstStyle/>
                    <a:p>
                      <a:pPr>
                        <a:defRPr sz="1000" b="0">
                          <a:solidFill>
                            <a:srgbClr val="000000"/>
                          </a:solidFill>
                          <a:latin typeface="Calibri"/>
                        </a:defRPr>
                      </a:pPr>
                      <a:r>
                        <a:t>6</a:t>
                      </a:r>
                    </a:p>
                  </a:txBody>
                  <a:tcPr marL="54864" marR="54864" marT="18288" marB="18288">
                    <a:solidFill>
                      <a:srgbClr val="FFFFFF"/>
                    </a:solidFill>
                  </a:tcPr>
                </a:tc>
                <a:tc>
                  <a:txBody>
                    <a:bodyPr/>
                    <a:lstStyle/>
                    <a:p>
                      <a:pPr>
                        <a:defRPr sz="1000" b="0">
                          <a:solidFill>
                            <a:srgbClr val="000000"/>
                          </a:solidFill>
                          <a:latin typeface="Calibri"/>
                        </a:defRPr>
                      </a:pPr>
                      <a:r>
                        <a:t>Producer Agent</a:t>
                      </a:r>
                    </a:p>
                  </a:txBody>
                  <a:tcPr marL="54864" marR="54864" marT="18288" marB="18288">
                    <a:solidFill>
                      <a:srgbClr val="FFFFFF"/>
                    </a:solidFill>
                  </a:tcPr>
                </a:tc>
                <a:tc>
                  <a:txBody>
                    <a:bodyPr/>
                    <a:lstStyle/>
                    <a:p>
                      <a:pPr>
                        <a:defRPr sz="1000" b="0">
                          <a:solidFill>
                            <a:srgbClr val="000000"/>
                          </a:solidFill>
                          <a:latin typeface="Calibri"/>
                        </a:defRPr>
                      </a:pPr>
                      <a:r>
                        <a:t>Menawar: berapa kg, harga, kapan siap, berdasarkan kapasitas nyata hari itu. Di dunia nyata produsen membalas lewat WhatsApp.</a:t>
                      </a:r>
                    </a:p>
                  </a:txBody>
                  <a:tcPr marL="54864" marR="54864" marT="18288" marB="18288">
                    <a:solidFill>
                      <a:srgbClr val="FFFFFF"/>
                    </a:solidFill>
                  </a:tcPr>
                </a:tc>
                <a:tc>
                  <a:txBody>
                    <a:bodyPr/>
                    <a:lstStyle/>
                    <a:p>
                      <a:pPr>
                        <a:defRPr sz="1000" b="0">
                          <a:solidFill>
                            <a:srgbClr val="000000"/>
                          </a:solidFill>
                          <a:latin typeface="Calibri"/>
                        </a:defRPr>
                      </a:pPr>
                      <a:r>
                        <a:t>Tawaran lebih dari 6 jam diabaikan.</a:t>
                      </a:r>
                    </a:p>
                  </a:txBody>
                  <a:tcPr marL="54864" marR="54864" marT="18288" marB="18288">
                    <a:solidFill>
                      <a:srgbClr val="FFFFFF"/>
                    </a:solidFill>
                  </a:tcPr>
                </a:tc>
                <a:tc>
                  <a:txBody>
                    <a:bodyPr/>
                    <a:lstStyle/>
                    <a:p>
                      <a:pPr>
                        <a:defRPr sz="1000" b="0">
                          <a:solidFill>
                            <a:srgbClr val="000000"/>
                          </a:solidFill>
                          <a:latin typeface="Calibri"/>
                        </a:defRPr>
                      </a:pPr>
                      <a:r>
                        <a:t>Daftar tawaran.</a:t>
                      </a:r>
                    </a:p>
                  </a:txBody>
                  <a:tcPr marL="54864" marR="54864" marT="18288" marB="18288">
                    <a:solidFill>
                      <a:srgbClr val="FFFFFF"/>
                    </a:solidFill>
                  </a:tcPr>
                </a:tc>
              </a:tr>
              <a:tr h="393700">
                <a:tc>
                  <a:txBody>
                    <a:bodyPr/>
                    <a:lstStyle/>
                    <a:p>
                      <a:pPr>
                        <a:defRPr sz="1000" b="0">
                          <a:solidFill>
                            <a:srgbClr val="000000"/>
                          </a:solidFill>
                          <a:latin typeface="Calibri"/>
                        </a:defRPr>
                      </a:pPr>
                      <a:r>
                        <a:t>7</a:t>
                      </a:r>
                    </a:p>
                  </a:txBody>
                  <a:tcPr marL="54864" marR="54864" marT="18288" marB="18288">
                    <a:solidFill>
                      <a:srgbClr val="FFFFFF"/>
                    </a:solidFill>
                  </a:tcPr>
                </a:tc>
                <a:tc>
                  <a:txBody>
                    <a:bodyPr/>
                    <a:lstStyle/>
                    <a:p>
                      <a:pPr>
                        <a:defRPr sz="1000" b="0">
                          <a:solidFill>
                            <a:srgbClr val="000000"/>
                          </a:solidFill>
                          <a:latin typeface="Calibri"/>
                        </a:defRPr>
                      </a:pPr>
                      <a:r>
                        <a:t>Order Agent</a:t>
                      </a:r>
                    </a:p>
                  </a:txBody>
                  <a:tcPr marL="54864" marR="54864" marT="18288" marB="18288">
                    <a:solidFill>
                      <a:srgbClr val="FFFFFF"/>
                    </a:solidFill>
                  </a:tcPr>
                </a:tc>
                <a:tc>
                  <a:txBody>
                    <a:bodyPr/>
                    <a:lstStyle/>
                    <a:p>
                      <a:pPr>
                        <a:defRPr sz="1000" b="0">
                          <a:solidFill>
                            <a:srgbClr val="000000"/>
                          </a:solidFill>
                          <a:latin typeface="Calibri"/>
                        </a:defRPr>
                      </a:pPr>
                      <a:r>
                        <a:t>Memberi kuota menurut skor tawaran (harga, waktu, skor mutu) dengan batas konsentrasi.</a:t>
                      </a:r>
                    </a:p>
                  </a:txBody>
                  <a:tcPr marL="54864" marR="54864" marT="18288" marB="18288">
                    <a:solidFill>
                      <a:srgbClr val="FFFFFF"/>
                    </a:solidFill>
                  </a:tcPr>
                </a:tc>
                <a:tc>
                  <a:txBody>
                    <a:bodyPr/>
                    <a:lstStyle/>
                    <a:p>
                      <a:pPr>
                        <a:defRPr sz="1000" b="0">
                          <a:solidFill>
                            <a:srgbClr val="000000"/>
                          </a:solidFill>
                          <a:latin typeface="Calibri"/>
                        </a:defRPr>
                      </a:pPr>
                      <a:r>
                        <a:t>Dua putaran: target 6 hari, lalu seluruh jendela waktu.</a:t>
                      </a:r>
                    </a:p>
                  </a:txBody>
                  <a:tcPr marL="54864" marR="54864" marT="18288" marB="18288">
                    <a:solidFill>
                      <a:srgbClr val="FFFFFF"/>
                    </a:solidFill>
                  </a:tcPr>
                </a:tc>
                <a:tc>
                  <a:txBody>
                    <a:bodyPr/>
                    <a:lstStyle/>
                    <a:p>
                      <a:pPr>
                        <a:defRPr sz="1000" b="0">
                          <a:solidFill>
                            <a:srgbClr val="000000"/>
                          </a:solidFill>
                          <a:latin typeface="Calibri"/>
                        </a:defRPr>
                      </a:pPr>
                      <a:r>
                        <a:t>Kontrak per produsen.</a:t>
                      </a:r>
                    </a:p>
                  </a:txBody>
                  <a:tcPr marL="54864" marR="54864" marT="18288" marB="18288">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100" b="1">
                <a:solidFill>
                  <a:srgbClr val="000000"/>
                </a:solidFill>
                <a:latin typeface="Calibri"/>
              </a:defRPr>
            </a:pPr>
            <a:r>
              <a:t>5.1 Alur end-to-end: penjelasan langkah 9-14 dan cara membacanya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15</a:t>
            </a:r>
          </a:p>
        </p:txBody>
      </p:sp>
      <p:graphicFrame>
        <p:nvGraphicFramePr>
          <p:cNvPr id="6" name="Table 5"/>
          <p:cNvGraphicFramePr>
            <a:graphicFrameLocks noGrp="1"/>
          </p:cNvGraphicFramePr>
          <p:nvPr/>
        </p:nvGraphicFramePr>
        <p:xfrm>
          <a:off x="274320" y="960120"/>
          <a:ext cx="11430000" cy="3131816"/>
        </p:xfrm>
        <a:graphic>
          <a:graphicData uri="http://schemas.openxmlformats.org/drawingml/2006/table">
            <a:tbl>
              <a:tblPr firstRow="1" bandRow="1">
                <a:tableStyleId>{5C22544A-7EE6-4342-B048-85BDC9FD1C3A}</a:tableStyleId>
              </a:tblPr>
              <a:tblGrid>
                <a:gridCol w="457200"/>
                <a:gridCol w="1737360"/>
                <a:gridCol w="4754880"/>
                <a:gridCol w="2926080"/>
                <a:gridCol w="1554480"/>
              </a:tblGrid>
              <a:tr h="218439">
                <a:tc>
                  <a:txBody>
                    <a:bodyPr/>
                    <a:lstStyle/>
                    <a:p>
                      <a:pPr>
                        <a:defRPr sz="850" b="1">
                          <a:solidFill>
                            <a:srgbClr val="000000"/>
                          </a:solidFill>
                          <a:latin typeface="Calibri"/>
                        </a:defRPr>
                      </a:pPr>
                      <a:r>
                        <a:t>No.</a:t>
                      </a:r>
                    </a:p>
                  </a:txBody>
                  <a:tcPr marL="54864" marR="54864" marT="18288" marB="18288">
                    <a:solidFill>
                      <a:srgbClr val="E5E7EB"/>
                    </a:solidFill>
                  </a:tcPr>
                </a:tc>
                <a:tc>
                  <a:txBody>
                    <a:bodyPr/>
                    <a:lstStyle/>
                    <a:p>
                      <a:pPr>
                        <a:defRPr sz="850" b="1">
                          <a:solidFill>
                            <a:srgbClr val="000000"/>
                          </a:solidFill>
                          <a:latin typeface="Calibri"/>
                        </a:defRPr>
                      </a:pPr>
                      <a:r>
                        <a:t>Pelaku</a:t>
                      </a:r>
                    </a:p>
                  </a:txBody>
                  <a:tcPr marL="54864" marR="54864" marT="18288" marB="18288">
                    <a:solidFill>
                      <a:srgbClr val="E5E7EB"/>
                    </a:solidFill>
                  </a:tcPr>
                </a:tc>
                <a:tc>
                  <a:txBody>
                    <a:bodyPr/>
                    <a:lstStyle/>
                    <a:p>
                      <a:pPr>
                        <a:defRPr sz="850" b="1">
                          <a:solidFill>
                            <a:srgbClr val="000000"/>
                          </a:solidFill>
                          <a:latin typeface="Calibri"/>
                        </a:defRPr>
                      </a:pPr>
                      <a:r>
                        <a:t>Apa yang terjadi</a:t>
                      </a:r>
                    </a:p>
                  </a:txBody>
                  <a:tcPr marL="54864" marR="54864" marT="18288" marB="18288">
                    <a:solidFill>
                      <a:srgbClr val="E5E7EB"/>
                    </a:solidFill>
                  </a:tcPr>
                </a:tc>
                <a:tc>
                  <a:txBody>
                    <a:bodyPr/>
                    <a:lstStyle/>
                    <a:p>
                      <a:pPr>
                        <a:defRPr sz="850" b="1">
                          <a:solidFill>
                            <a:srgbClr val="000000"/>
                          </a:solidFill>
                          <a:latin typeface="Calibri"/>
                        </a:defRPr>
                      </a:pPr>
                      <a:r>
                        <a:t>Keputusan / aturan</a:t>
                      </a:r>
                    </a:p>
                  </a:txBody>
                  <a:tcPr marL="54864" marR="54864" marT="18288" marB="18288">
                    <a:solidFill>
                      <a:srgbClr val="E5E7EB"/>
                    </a:solidFill>
                  </a:tcPr>
                </a:tc>
                <a:tc>
                  <a:txBody>
                    <a:bodyPr/>
                    <a:lstStyle/>
                    <a:p>
                      <a:pPr>
                        <a:defRPr sz="850" b="1">
                          <a:solidFill>
                            <a:srgbClr val="000000"/>
                          </a:solidFill>
                          <a:latin typeface="Calibri"/>
                        </a:defRPr>
                      </a:pPr>
                      <a:r>
                        <a:t>Hasil</a:t>
                      </a:r>
                    </a:p>
                  </a:txBody>
                  <a:tcPr marL="54864" marR="54864" marT="18288" marB="18288">
                    <a:solidFill>
                      <a:srgbClr val="E5E7EB"/>
                    </a:solidFill>
                  </a:tcPr>
                </a:tc>
              </a:tr>
              <a:tr h="347980">
                <a:tc>
                  <a:txBody>
                    <a:bodyPr/>
                    <a:lstStyle/>
                    <a:p>
                      <a:pPr>
                        <a:defRPr sz="850" b="0">
                          <a:solidFill>
                            <a:srgbClr val="000000"/>
                          </a:solidFill>
                          <a:latin typeface="Calibri"/>
                        </a:defRPr>
                      </a:pPr>
                      <a:r>
                        <a:t>8</a:t>
                      </a:r>
                    </a:p>
                  </a:txBody>
                  <a:tcPr marL="54864" marR="54864" marT="18288" marB="18288">
                    <a:solidFill>
                      <a:srgbClr val="FFFFFF"/>
                    </a:solidFill>
                  </a:tcPr>
                </a:tc>
                <a:tc>
                  <a:txBody>
                    <a:bodyPr/>
                    <a:lstStyle/>
                    <a:p>
                      <a:pPr>
                        <a:defRPr sz="850" b="0">
                          <a:solidFill>
                            <a:srgbClr val="000000"/>
                          </a:solidFill>
                          <a:latin typeface="Calibri"/>
                        </a:defRPr>
                      </a:pPr>
                      <a:r>
                        <a:t>Produsen (fisik)</a:t>
                      </a:r>
                    </a:p>
                  </a:txBody>
                  <a:tcPr marL="54864" marR="54864" marT="18288" marB="18288">
                    <a:solidFill>
                      <a:srgbClr val="FFFFFF"/>
                    </a:solidFill>
                  </a:tcPr>
                </a:tc>
                <a:tc>
                  <a:txBody>
                    <a:bodyPr/>
                    <a:lstStyle/>
                    <a:p>
                      <a:pPr>
                        <a:defRPr sz="850" b="0">
                          <a:solidFill>
                            <a:srgbClr val="000000"/>
                          </a:solidFill>
                          <a:latin typeface="Calibri"/>
                        </a:defRPr>
                      </a:pPr>
                      <a:r>
                        <a:t>Memproduksi arang dan mengirim ke gudang. Ini pekerjaan manusia; agen hanya memantau.</a:t>
                      </a:r>
                    </a:p>
                  </a:txBody>
                  <a:tcPr marL="54864" marR="54864" marT="18288" marB="18288">
                    <a:solidFill>
                      <a:srgbClr val="FFFFFF"/>
                    </a:solidFill>
                  </a:tcPr>
                </a:tc>
                <a:tc>
                  <a:txBody>
                    <a:bodyPr/>
                    <a:lstStyle/>
                    <a:p>
                      <a:pPr>
                        <a:defRPr sz="850" b="0">
                          <a:solidFill>
                            <a:srgbClr val="000000"/>
                          </a:solidFill>
                          <a:latin typeface="Calibri"/>
                        </a:defRPr>
                      </a:pPr>
                      <a:r>
                        <a:t>Gagal kirim menurunkan skor mutu.</a:t>
                      </a:r>
                    </a:p>
                  </a:txBody>
                  <a:tcPr marL="54864" marR="54864" marT="18288" marB="18288">
                    <a:solidFill>
                      <a:srgbClr val="FFFFFF"/>
                    </a:solidFill>
                  </a:tcPr>
                </a:tc>
                <a:tc>
                  <a:txBody>
                    <a:bodyPr/>
                    <a:lstStyle/>
                    <a:p>
                      <a:pPr>
                        <a:defRPr sz="850" b="0">
                          <a:solidFill>
                            <a:srgbClr val="000000"/>
                          </a:solidFill>
                          <a:latin typeface="Calibri"/>
                        </a:defRPr>
                      </a:pPr>
                      <a:r>
                        <a:t>Barang tiba.</a:t>
                      </a:r>
                    </a:p>
                  </a:txBody>
                  <a:tcPr marL="54864" marR="54864" marT="18288" marB="18288">
                    <a:solidFill>
                      <a:srgbClr val="FFFFFF"/>
                    </a:solidFill>
                  </a:tcPr>
                </a:tc>
              </a:tr>
              <a:tr h="218439">
                <a:tc>
                  <a:txBody>
                    <a:bodyPr/>
                    <a:lstStyle/>
                    <a:p>
                      <a:pPr>
                        <a:defRPr sz="850" b="0">
                          <a:solidFill>
                            <a:srgbClr val="000000"/>
                          </a:solidFill>
                          <a:latin typeface="Calibri"/>
                        </a:defRPr>
                      </a:pPr>
                      <a:r>
                        <a:t>9</a:t>
                      </a:r>
                    </a:p>
                  </a:txBody>
                  <a:tcPr marL="54864" marR="54864" marT="18288" marB="18288">
                    <a:solidFill>
                      <a:srgbClr val="FFFFFF"/>
                    </a:solidFill>
                  </a:tcPr>
                </a:tc>
                <a:tc>
                  <a:txBody>
                    <a:bodyPr/>
                    <a:lstStyle/>
                    <a:p>
                      <a:pPr>
                        <a:defRPr sz="850" b="0">
                          <a:solidFill>
                            <a:srgbClr val="000000"/>
                          </a:solidFill>
                          <a:latin typeface="Calibri"/>
                        </a:defRPr>
                      </a:pPr>
                      <a:r>
                        <a:t>QC Agent</a:t>
                      </a:r>
                    </a:p>
                  </a:txBody>
                  <a:tcPr marL="54864" marR="54864" marT="18288" marB="18288">
                    <a:solidFill>
                      <a:srgbClr val="FFFFFF"/>
                    </a:solidFill>
                  </a:tcPr>
                </a:tc>
                <a:tc>
                  <a:txBody>
                    <a:bodyPr/>
                    <a:lstStyle/>
                    <a:p>
                      <a:pPr>
                        <a:defRPr sz="850" b="0">
                          <a:solidFill>
                            <a:srgbClr val="000000"/>
                          </a:solidFill>
                          <a:latin typeface="Calibri"/>
                        </a:defRPr>
                      </a:pPr>
                      <a:r>
                        <a:t>Mencatat hasil uji mutu (Grade A/B/Reject) dan memperbarui skor mutu produsen.</a:t>
                      </a:r>
                    </a:p>
                  </a:txBody>
                  <a:tcPr marL="54864" marR="54864" marT="18288" marB="18288">
                    <a:solidFill>
                      <a:srgbClr val="FFFFFF"/>
                    </a:solidFill>
                  </a:tcPr>
                </a:tc>
                <a:tc>
                  <a:txBody>
                    <a:bodyPr/>
                    <a:lstStyle/>
                    <a:p>
                      <a:pPr>
                        <a:defRPr sz="850" b="0">
                          <a:solidFill>
                            <a:srgbClr val="000000"/>
                          </a:solidFill>
                          <a:latin typeface="Calibri"/>
                        </a:defRPr>
                      </a:pPr>
                      <a:r>
                        <a:t>Premium butuh tingkat kelolosan minimal 0,85.</a:t>
                      </a:r>
                    </a:p>
                  </a:txBody>
                  <a:tcPr marL="54864" marR="54864" marT="18288" marB="18288">
                    <a:solidFill>
                      <a:srgbClr val="FFFFFF"/>
                    </a:solidFill>
                  </a:tcPr>
                </a:tc>
                <a:tc>
                  <a:txBody>
                    <a:bodyPr/>
                    <a:lstStyle/>
                    <a:p>
                      <a:pPr>
                        <a:defRPr sz="850" b="0">
                          <a:solidFill>
                            <a:srgbClr val="000000"/>
                          </a:solidFill>
                          <a:latin typeface="Calibri"/>
                        </a:defRPr>
                      </a:pPr>
                      <a:r>
                        <a:t>kg lolos uji mutu.</a:t>
                      </a:r>
                    </a:p>
                  </a:txBody>
                  <a:tcPr marL="54864" marR="54864" marT="18288" marB="18288">
                    <a:solidFill>
                      <a:srgbClr val="FFFFFF"/>
                    </a:solidFill>
                  </a:tcPr>
                </a:tc>
              </a:tr>
              <a:tr h="347980">
                <a:tc>
                  <a:txBody>
                    <a:bodyPr/>
                    <a:lstStyle/>
                    <a:p>
                      <a:pPr>
                        <a:defRPr sz="850" b="0">
                          <a:solidFill>
                            <a:srgbClr val="000000"/>
                          </a:solidFill>
                          <a:latin typeface="Calibri"/>
                        </a:defRPr>
                      </a:pPr>
                      <a:r>
                        <a:t>*</a:t>
                      </a:r>
                    </a:p>
                  </a:txBody>
                  <a:tcPr marL="54864" marR="54864" marT="18288" marB="18288">
                    <a:solidFill>
                      <a:srgbClr val="FFFFFF"/>
                    </a:solidFill>
                  </a:tcPr>
                </a:tc>
                <a:tc>
                  <a:txBody>
                    <a:bodyPr/>
                    <a:lstStyle/>
                    <a:p>
                      <a:pPr>
                        <a:defRPr sz="850" b="0">
                          <a:solidFill>
                            <a:srgbClr val="000000"/>
                          </a:solidFill>
                          <a:latin typeface="Calibri"/>
                        </a:defRPr>
                      </a:pPr>
                      <a:r>
                        <a:t>Order Agent (keputusan)</a:t>
                      </a:r>
                    </a:p>
                  </a:txBody>
                  <a:tcPr marL="54864" marR="54864" marT="18288" marB="18288">
                    <a:solidFill>
                      <a:srgbClr val="FFFFFF"/>
                    </a:solidFill>
                  </a:tcPr>
                </a:tc>
                <a:tc>
                  <a:txBody>
                    <a:bodyPr/>
                    <a:lstStyle/>
                    <a:p>
                      <a:pPr>
                        <a:defRPr sz="850" b="0">
                          <a:solidFill>
                            <a:srgbClr val="000000"/>
                          </a:solidFill>
                          <a:latin typeface="Calibri"/>
                        </a:defRPr>
                      </a:pPr>
                      <a:r>
                        <a:t>Apakah total kg lolos cukup? Bila belum: CFP susulan ke produsen lain (re-kontrak, cadangan 5%, maksimal 4 putaran).</a:t>
                      </a:r>
                    </a:p>
                  </a:txBody>
                  <a:tcPr marL="54864" marR="54864" marT="18288" marB="18288">
                    <a:solidFill>
                      <a:srgbClr val="FFFFFF"/>
                    </a:solidFill>
                  </a:tcPr>
                </a:tc>
                <a:tc>
                  <a:txBody>
                    <a:bodyPr/>
                    <a:lstStyle/>
                    <a:p>
                      <a:pPr>
                        <a:defRPr sz="850" b="0">
                          <a:solidFill>
                            <a:srgbClr val="000000"/>
                          </a:solidFill>
                          <a:latin typeface="Calibri"/>
                        </a:defRPr>
                      </a:pPr>
                      <a:r>
                        <a:t>Bila cukup, lanjut ke gudang.</a:t>
                      </a:r>
                    </a:p>
                  </a:txBody>
                  <a:tcPr marL="54864" marR="54864" marT="18288" marB="18288">
                    <a:solidFill>
                      <a:srgbClr val="FFFFFF"/>
                    </a:solidFill>
                  </a:tcPr>
                </a:tc>
                <a:tc>
                  <a:txBody>
                    <a:bodyPr/>
                    <a:lstStyle/>
                    <a:p>
                      <a:pPr>
                        <a:defRPr sz="850" b="0">
                          <a:solidFill>
                            <a:srgbClr val="000000"/>
                          </a:solidFill>
                          <a:latin typeface="Calibri"/>
                        </a:defRPr>
                      </a:pPr>
                      <a:r>
                        <a:t>Pemenuhan atau putaran baru.</a:t>
                      </a:r>
                    </a:p>
                  </a:txBody>
                  <a:tcPr marL="54864" marR="54864" marT="18288" marB="18288">
                    <a:solidFill>
                      <a:srgbClr val="FFFFFF"/>
                    </a:solidFill>
                  </a:tcPr>
                </a:tc>
              </a:tr>
              <a:tr h="347980">
                <a:tc>
                  <a:txBody>
                    <a:bodyPr/>
                    <a:lstStyle/>
                    <a:p>
                      <a:pPr>
                        <a:defRPr sz="850" b="0">
                          <a:solidFill>
                            <a:srgbClr val="000000"/>
                          </a:solidFill>
                          <a:latin typeface="Calibri"/>
                        </a:defRPr>
                      </a:pPr>
                      <a:r>
                        <a:t>10</a:t>
                      </a:r>
                    </a:p>
                  </a:txBody>
                  <a:tcPr marL="54864" marR="54864" marT="18288" marB="18288">
                    <a:solidFill>
                      <a:srgbClr val="FFFFFF"/>
                    </a:solidFill>
                  </a:tcPr>
                </a:tc>
                <a:tc>
                  <a:txBody>
                    <a:bodyPr/>
                    <a:lstStyle/>
                    <a:p>
                      <a:pPr>
                        <a:defRPr sz="850" b="0">
                          <a:solidFill>
                            <a:srgbClr val="000000"/>
                          </a:solidFill>
                          <a:latin typeface="Calibri"/>
                        </a:defRPr>
                      </a:pPr>
                      <a:r>
                        <a:t>Warehouse Line Agent</a:t>
                      </a:r>
                    </a:p>
                  </a:txBody>
                  <a:tcPr marL="54864" marR="54864" marT="18288" marB="18288">
                    <a:solidFill>
                      <a:srgbClr val="FFFFFF"/>
                    </a:solidFill>
                  </a:tcPr>
                </a:tc>
                <a:tc>
                  <a:txBody>
                    <a:bodyPr/>
                    <a:lstStyle/>
                    <a:p>
                      <a:pPr>
                        <a:defRPr sz="850" b="0">
                          <a:solidFill>
                            <a:srgbClr val="000000"/>
                          </a:solidFill>
                          <a:latin typeface="Calibri"/>
                        </a:defRPr>
                      </a:pPr>
                      <a:r>
                        <a:t>Mengatur tiga tahap (uji lab dan sortir, packing, stuffing) pada mesin dan staf gudang; mengurutkan job menurut kemendesakan dan memantau kondisi mesin.</a:t>
                      </a:r>
                    </a:p>
                  </a:txBody>
                  <a:tcPr marL="54864" marR="54864" marT="18288" marB="18288">
                    <a:solidFill>
                      <a:srgbClr val="FFFFFF"/>
                    </a:solidFill>
                  </a:tcPr>
                </a:tc>
                <a:tc>
                  <a:txBody>
                    <a:bodyPr/>
                    <a:lstStyle/>
                    <a:p>
                      <a:pPr>
                        <a:defRPr sz="850" b="0">
                          <a:solidFill>
                            <a:srgbClr val="000000"/>
                          </a:solidFill>
                          <a:latin typeface="Calibri"/>
                        </a:defRPr>
                      </a:pPr>
                      <a:r>
                        <a:t>Lembur bila kritis (Learning Agent, anggaran 12 tahap).</a:t>
                      </a:r>
                    </a:p>
                  </a:txBody>
                  <a:tcPr marL="54864" marR="54864" marT="18288" marB="18288">
                    <a:solidFill>
                      <a:srgbClr val="FFFFFF"/>
                    </a:solidFill>
                  </a:tcPr>
                </a:tc>
                <a:tc>
                  <a:txBody>
                    <a:bodyPr/>
                    <a:lstStyle/>
                    <a:p>
                      <a:pPr>
                        <a:defRPr sz="850" b="0">
                          <a:solidFill>
                            <a:srgbClr val="000000"/>
                          </a:solidFill>
                          <a:latin typeface="Calibri"/>
                        </a:defRPr>
                      </a:pPr>
                      <a:r>
                        <a:t>Kontainer siap.</a:t>
                      </a:r>
                    </a:p>
                  </a:txBody>
                  <a:tcPr marL="54864" marR="54864" marT="18288" marB="18288">
                    <a:solidFill>
                      <a:srgbClr val="FFFFFF"/>
                    </a:solidFill>
                  </a:tcPr>
                </a:tc>
              </a:tr>
              <a:tr h="347980">
                <a:tc>
                  <a:txBody>
                    <a:bodyPr/>
                    <a:lstStyle/>
                    <a:p>
                      <a:pPr>
                        <a:defRPr sz="850" b="0">
                          <a:solidFill>
                            <a:srgbClr val="000000"/>
                          </a:solidFill>
                          <a:latin typeface="Calibri"/>
                        </a:defRPr>
                      </a:pPr>
                      <a:r>
                        <a:t>11</a:t>
                      </a:r>
                    </a:p>
                  </a:txBody>
                  <a:tcPr marL="54864" marR="54864" marT="18288" marB="18288">
                    <a:solidFill>
                      <a:srgbClr val="FFFFFF"/>
                    </a:solidFill>
                  </a:tcPr>
                </a:tc>
                <a:tc>
                  <a:txBody>
                    <a:bodyPr/>
                    <a:lstStyle/>
                    <a:p>
                      <a:pPr>
                        <a:defRPr sz="850" b="0">
                          <a:solidFill>
                            <a:srgbClr val="000000"/>
                          </a:solidFill>
                          <a:latin typeface="Calibri"/>
                        </a:defRPr>
                      </a:pPr>
                      <a:r>
                        <a:t>Freight Agent</a:t>
                      </a:r>
                    </a:p>
                  </a:txBody>
                  <a:tcPr marL="54864" marR="54864" marT="18288" marB="18288">
                    <a:solidFill>
                      <a:srgbClr val="FFFFFF"/>
                    </a:solidFill>
                  </a:tcPr>
                </a:tc>
                <a:tc>
                  <a:txBody>
                    <a:bodyPr/>
                    <a:lstStyle/>
                    <a:p>
                      <a:pPr>
                        <a:defRPr sz="850" b="0">
                          <a:solidFill>
                            <a:srgbClr val="000000"/>
                          </a:solidFill>
                          <a:latin typeface="Calibri"/>
                        </a:defRPr>
                      </a:pPr>
                      <a:r>
                        <a:t>Lelang antar carrier; memilih dengan skor gabungan (harga, waktu transit, keandalan, peluang ditinggal kapal).</a:t>
                      </a:r>
                    </a:p>
                  </a:txBody>
                  <a:tcPr marL="54864" marR="54864" marT="18288" marB="18288">
                    <a:solidFill>
                      <a:srgbClr val="FFFFFF"/>
                    </a:solidFill>
                  </a:tcPr>
                </a:tc>
                <a:tc>
                  <a:txBody>
                    <a:bodyPr/>
                    <a:lstStyle/>
                    <a:p>
                      <a:pPr>
                        <a:defRPr sz="850" b="0">
                          <a:solidFill>
                            <a:srgbClr val="000000"/>
                          </a:solidFill>
                          <a:latin typeface="Calibri"/>
                        </a:defRPr>
                      </a:pPr>
                      <a:r>
                        <a:t>Tanpa air freight; carrier dipilih menurut skor.</a:t>
                      </a:r>
                    </a:p>
                  </a:txBody>
                  <a:tcPr marL="54864" marR="54864" marT="18288" marB="18288">
                    <a:solidFill>
                      <a:srgbClr val="FFFFFF"/>
                    </a:solidFill>
                  </a:tcPr>
                </a:tc>
                <a:tc>
                  <a:txBody>
                    <a:bodyPr/>
                    <a:lstStyle/>
                    <a:p>
                      <a:pPr>
                        <a:defRPr sz="850" b="0">
                          <a:solidFill>
                            <a:srgbClr val="000000"/>
                          </a:solidFill>
                          <a:latin typeface="Calibri"/>
                        </a:defRPr>
                      </a:pPr>
                      <a:r>
                        <a:t>Booking kapal.</a:t>
                      </a:r>
                    </a:p>
                  </a:txBody>
                  <a:tcPr marL="54864" marR="54864" marT="18288" marB="18288">
                    <a:solidFill>
                      <a:srgbClr val="FFFFFF"/>
                    </a:solidFill>
                  </a:tcPr>
                </a:tc>
              </a:tr>
              <a:tr h="477519">
                <a:tc>
                  <a:txBody>
                    <a:bodyPr/>
                    <a:lstStyle/>
                    <a:p>
                      <a:pPr>
                        <a:defRPr sz="850" b="0">
                          <a:solidFill>
                            <a:srgbClr val="000000"/>
                          </a:solidFill>
                          <a:latin typeface="Calibri"/>
                        </a:defRPr>
                      </a:pPr>
                      <a:r>
                        <a:t>12</a:t>
                      </a:r>
                    </a:p>
                  </a:txBody>
                  <a:tcPr marL="54864" marR="54864" marT="18288" marB="18288">
                    <a:solidFill>
                      <a:srgbClr val="FFFFFF"/>
                    </a:solidFill>
                  </a:tcPr>
                </a:tc>
                <a:tc>
                  <a:txBody>
                    <a:bodyPr/>
                    <a:lstStyle/>
                    <a:p>
                      <a:pPr>
                        <a:defRPr sz="850" b="0">
                          <a:solidFill>
                            <a:srgbClr val="000000"/>
                          </a:solidFill>
                          <a:latin typeface="Calibri"/>
                        </a:defRPr>
                      </a:pPr>
                      <a:r>
                        <a:t>Scout Agent (mobile)</a:t>
                      </a:r>
                    </a:p>
                  </a:txBody>
                  <a:tcPr marL="54864" marR="54864" marT="18288" marB="18288">
                    <a:solidFill>
                      <a:srgbClr val="FFFFFF"/>
                    </a:solidFill>
                  </a:tcPr>
                </a:tc>
                <a:tc>
                  <a:txBody>
                    <a:bodyPr/>
                    <a:lstStyle/>
                    <a:p>
                      <a:pPr>
                        <a:defRPr sz="850" b="0">
                          <a:solidFill>
                            <a:srgbClr val="000000"/>
                          </a:solidFill>
                          <a:latin typeface="Calibri"/>
                        </a:defRPr>
                      </a:pPr>
                      <a:r>
                        <a:t>Berpindah ke sistem carrier atau pelabuhan membaca jadwal secara lokal, kembali membawa sekitar 2 KB.</a:t>
                      </a:r>
                    </a:p>
                  </a:txBody>
                  <a:tcPr marL="54864" marR="54864" marT="18288" marB="18288">
                    <a:solidFill>
                      <a:srgbClr val="FFFFFF"/>
                    </a:solidFill>
                  </a:tcPr>
                </a:tc>
                <a:tc>
                  <a:txBody>
                    <a:bodyPr/>
                    <a:lstStyle/>
                    <a:p>
                      <a:pPr>
                        <a:defRPr sz="850" b="0">
                          <a:solidFill>
                            <a:srgbClr val="000000"/>
                          </a:solidFill>
                          <a:latin typeface="Calibri"/>
                        </a:defRPr>
                      </a:pPr>
                      <a:r>
                        <a:t>Migrasi hanya bila kepercayaan minimal 0,80 dan risiko maksimal 0,20; jika tidak, tarik data jarak jauh.</a:t>
                      </a:r>
                    </a:p>
                  </a:txBody>
                  <a:tcPr marL="54864" marR="54864" marT="18288" marB="18288">
                    <a:solidFill>
                      <a:srgbClr val="FFFFFF"/>
                    </a:solidFill>
                  </a:tcPr>
                </a:tc>
                <a:tc>
                  <a:txBody>
                    <a:bodyPr/>
                    <a:lstStyle/>
                    <a:p>
                      <a:pPr>
                        <a:defRPr sz="850" b="0">
                          <a:solidFill>
                            <a:srgbClr val="000000"/>
                          </a:solidFill>
                          <a:latin typeface="Calibri"/>
                        </a:defRPr>
                      </a:pPr>
                      <a:r>
                        <a:t>Jadwal terverifikasi.</a:t>
                      </a:r>
                    </a:p>
                  </a:txBody>
                  <a:tcPr marL="54864" marR="54864" marT="18288" marB="18288">
                    <a:solidFill>
                      <a:srgbClr val="FFFFFF"/>
                    </a:solidFill>
                  </a:tcPr>
                </a:tc>
              </a:tr>
              <a:tr h="347980">
                <a:tc>
                  <a:txBody>
                    <a:bodyPr/>
                    <a:lstStyle/>
                    <a:p>
                      <a:pPr>
                        <a:defRPr sz="850" b="0">
                          <a:solidFill>
                            <a:srgbClr val="000000"/>
                          </a:solidFill>
                          <a:latin typeface="Calibri"/>
                        </a:defRPr>
                      </a:pPr>
                      <a:r>
                        <a:t>13</a:t>
                      </a:r>
                    </a:p>
                  </a:txBody>
                  <a:tcPr marL="54864" marR="54864" marT="18288" marB="18288">
                    <a:solidFill>
                      <a:srgbClr val="FFFFFF"/>
                    </a:solidFill>
                  </a:tcPr>
                </a:tc>
                <a:tc>
                  <a:txBody>
                    <a:bodyPr/>
                    <a:lstStyle/>
                    <a:p>
                      <a:pPr>
                        <a:defRPr sz="850" b="0">
                          <a:solidFill>
                            <a:srgbClr val="000000"/>
                          </a:solidFill>
                          <a:latin typeface="Calibri"/>
                        </a:defRPr>
                      </a:pPr>
                      <a:r>
                        <a:t>Manusia + Governance</a:t>
                      </a:r>
                    </a:p>
                  </a:txBody>
                  <a:tcPr marL="54864" marR="54864" marT="18288" marB="18288">
                    <a:solidFill>
                      <a:srgbClr val="FFFFFF"/>
                    </a:solidFill>
                  </a:tcPr>
                </a:tc>
                <a:tc>
                  <a:txBody>
                    <a:bodyPr/>
                    <a:lstStyle/>
                    <a:p>
                      <a:pPr>
                        <a:defRPr sz="850" b="0">
                          <a:solidFill>
                            <a:srgbClr val="000000"/>
                          </a:solidFill>
                          <a:latin typeface="Calibri"/>
                        </a:defRPr>
                      </a:pPr>
                      <a:r>
                        <a:t>Persetujuan ekspor akhir: dokumen, biaya, dan risiko ditinjau ringkas.</a:t>
                      </a:r>
                    </a:p>
                  </a:txBody>
                  <a:tcPr marL="54864" marR="54864" marT="18288" marB="18288">
                    <a:solidFill>
                      <a:srgbClr val="FFFFFF"/>
                    </a:solidFill>
                  </a:tcPr>
                </a:tc>
                <a:tc>
                  <a:txBody>
                    <a:bodyPr/>
                    <a:lstStyle/>
                    <a:p>
                      <a:pPr>
                        <a:defRPr sz="850" b="0">
                          <a:solidFill>
                            <a:srgbClr val="000000"/>
                          </a:solidFill>
                          <a:latin typeface="Calibri"/>
                        </a:defRPr>
                      </a:pPr>
                      <a:r>
                        <a:t>Level 2-3 menurut nilai order (di atas USD 30 ribu wajib persetujuan).</a:t>
                      </a:r>
                    </a:p>
                  </a:txBody>
                  <a:tcPr marL="54864" marR="54864" marT="18288" marB="18288">
                    <a:solidFill>
                      <a:srgbClr val="FFFFFF"/>
                    </a:solidFill>
                  </a:tcPr>
                </a:tc>
                <a:tc>
                  <a:txBody>
                    <a:bodyPr/>
                    <a:lstStyle/>
                    <a:p>
                      <a:pPr>
                        <a:defRPr sz="850" b="0">
                          <a:solidFill>
                            <a:srgbClr val="000000"/>
                          </a:solidFill>
                          <a:latin typeface="Calibri"/>
                        </a:defRPr>
                      </a:pPr>
                      <a:r>
                        <a:t>Izin berangkat.</a:t>
                      </a:r>
                    </a:p>
                  </a:txBody>
                  <a:tcPr marL="54864" marR="54864" marT="18288" marB="18288">
                    <a:solidFill>
                      <a:srgbClr val="FFFFFF"/>
                    </a:solidFill>
                  </a:tcPr>
                </a:tc>
              </a:tr>
              <a:tr h="477519">
                <a:tc>
                  <a:txBody>
                    <a:bodyPr/>
                    <a:lstStyle/>
                    <a:p>
                      <a:pPr>
                        <a:defRPr sz="850" b="0">
                          <a:solidFill>
                            <a:srgbClr val="000000"/>
                          </a:solidFill>
                          <a:latin typeface="Calibri"/>
                        </a:defRPr>
                      </a:pPr>
                      <a:r>
                        <a:t>14</a:t>
                      </a:r>
                    </a:p>
                  </a:txBody>
                  <a:tcPr marL="54864" marR="54864" marT="18288" marB="18288">
                    <a:solidFill>
                      <a:srgbClr val="FFFFFF"/>
                    </a:solidFill>
                  </a:tcPr>
                </a:tc>
                <a:tc>
                  <a:txBody>
                    <a:bodyPr/>
                    <a:lstStyle/>
                    <a:p>
                      <a:pPr>
                        <a:defRPr sz="850" b="0">
                          <a:solidFill>
                            <a:srgbClr val="000000"/>
                          </a:solidFill>
                          <a:latin typeface="Calibri"/>
                        </a:defRPr>
                      </a:pPr>
                      <a:r>
                        <a:t>Pembeli</a:t>
                      </a:r>
                    </a:p>
                  </a:txBody>
                  <a:tcPr marL="54864" marR="54864" marT="18288" marB="18288">
                    <a:solidFill>
                      <a:srgbClr val="FFFFFF"/>
                    </a:solidFill>
                  </a:tcPr>
                </a:tc>
                <a:tc>
                  <a:txBody>
                    <a:bodyPr/>
                    <a:lstStyle/>
                    <a:p>
                      <a:pPr>
                        <a:defRPr sz="850" b="0">
                          <a:solidFill>
                            <a:srgbClr val="000000"/>
                          </a:solidFill>
                          <a:latin typeface="Calibri"/>
                        </a:defRPr>
                      </a:pPr>
                      <a:r>
                        <a:t>Kapal berangkat dan barang diterima; hasil dicatat untuk umpan balik.</a:t>
                      </a:r>
                    </a:p>
                  </a:txBody>
                  <a:tcPr marL="54864" marR="54864" marT="18288" marB="18288">
                    <a:solidFill>
                      <a:srgbClr val="FFFFFF"/>
                    </a:solidFill>
                  </a:tcPr>
                </a:tc>
                <a:tc>
                  <a:txBody>
                    <a:bodyPr/>
                    <a:lstStyle/>
                    <a:p>
                      <a:pPr>
                        <a:defRPr sz="850" b="0">
                          <a:solidFill>
                            <a:srgbClr val="000000"/>
                          </a:solidFill>
                          <a:latin typeface="Calibri"/>
                        </a:defRPr>
                      </a:pPr>
                      <a:r>
                        <a:t>-</a:t>
                      </a:r>
                    </a:p>
                  </a:txBody>
                  <a:tcPr marL="54864" marR="54864" marT="18288" marB="18288">
                    <a:solidFill>
                      <a:srgbClr val="FFFFFF"/>
                    </a:solidFill>
                  </a:tcPr>
                </a:tc>
                <a:tc>
                  <a:txBody>
                    <a:bodyPr/>
                    <a:lstStyle/>
                    <a:p>
                      <a:pPr>
                        <a:defRPr sz="850" b="0">
                          <a:solidFill>
                            <a:srgbClr val="000000"/>
                          </a:solidFill>
                          <a:latin typeface="Calibri"/>
                        </a:defRPr>
                      </a:pPr>
                      <a:r>
                        <a:t>Order selesai; skor mutu, kepercayaan, dan tabel belajar diperbarui.</a:t>
                      </a:r>
                    </a:p>
                  </a:txBody>
                  <a:tcPr marL="54864" marR="54864" marT="18288" marB="18288">
                    <a:solidFill>
                      <a:srgbClr val="FFFFFF"/>
                    </a:solidFill>
                  </a:tcPr>
                </a:tc>
              </a:tr>
            </a:tbl>
          </a:graphicData>
        </a:graphic>
      </p:graphicFrame>
      <p:sp>
        <p:nvSpPr>
          <p:cNvPr id="7" name="TextBox 6"/>
          <p:cNvSpPr txBox="1"/>
          <p:nvPr/>
        </p:nvSpPr>
        <p:spPr>
          <a:xfrm>
            <a:off x="411480" y="4434840"/>
            <a:ext cx="11338560" cy="2011680"/>
          </a:xfrm>
          <a:prstGeom prst="rect">
            <a:avLst/>
          </a:prstGeom>
          <a:noFill/>
        </p:spPr>
        <p:txBody>
          <a:bodyPr wrap="square">
            <a:spAutoFit/>
          </a:bodyPr>
          <a:lstStyle/>
          <a:p>
            <a:pPr>
              <a:spcAft>
                <a:spcPts val="500"/>
              </a:spcAft>
              <a:defRPr sz="1100" b="0">
                <a:solidFill>
                  <a:srgbClr val="000000"/>
                </a:solidFill>
                <a:latin typeface="Calibri"/>
              </a:defRPr>
            </a:pPr>
            <a:r>
              <a:t>• Mengapa banyak agen? Produsen, carrier, dan pembeli adalah pihak otonom yang tidak bisa diperintah pusat; mereka hanya bisa diminta tawaran dan menawar.</a:t>
            </a:r>
          </a:p>
          <a:p>
            <a:pPr>
              <a:spcAft>
                <a:spcPts val="500"/>
              </a:spcAft>
              <a:defRPr sz="1100" b="0">
                <a:solidFill>
                  <a:srgbClr val="000000"/>
                </a:solidFill>
                <a:latin typeface="Calibri"/>
              </a:defRPr>
            </a:pPr>
            <a:r>
              <a:t>• Di mana kecerdasan buatan dipakai? (a) Compliance: klasifikasi HS berbasis ML; (b) Risk: regresi logistik untuk peluang ditinggal kapal; (c) Order/Producer: penawaran berbasis skor dan kapasitas nyata; (d) Learning: Q-learning untuk keputusan lembur; (e) Sales dan Marketing: LLM sebagai lapisan bahasa dan pembagi anggaran adaptif.</a:t>
            </a:r>
          </a:p>
          <a:p>
            <a:pPr>
              <a:spcAft>
                <a:spcPts val="500"/>
              </a:spcAft>
              <a:defRPr sz="1100" b="0">
                <a:solidFill>
                  <a:srgbClr val="000000"/>
                </a:solidFill>
                <a:latin typeface="Calibri"/>
              </a:defRPr>
            </a:pPr>
            <a:r>
              <a:t>• Di mana manusia terlibat? Hanya verifikasi DP, HS ragu-ragu, order bernilai tinggi, materi iklan dengan klaim baru, dan pengecualian; sisanya otomatis (Bagian 5.4).</a:t>
            </a:r>
          </a:p>
          <a:p>
            <a:pPr>
              <a:spcAft>
                <a:spcPts val="500"/>
              </a:spcAft>
              <a:defRPr sz="1100" b="0">
                <a:solidFill>
                  <a:srgbClr val="000000"/>
                </a:solidFill>
                <a:latin typeface="Calibri"/>
              </a:defRPr>
            </a:pPr>
            <a:r>
              <a:t>• Apa yang terjadi bila ada masalah? Produsen gagal kirim atau barang tidak lolos uji memicu putaran CFP baru; sistem carrier tidak tepercaya memicu penarikan data jarak jauh; pesan palsu ditolak oleh bus (Bagian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5.1 Diagram arsitektur KCMAS</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16</a:t>
            </a:r>
          </a:p>
        </p:txBody>
      </p:sp>
      <p:pic>
        <p:nvPicPr>
          <p:cNvPr id="6" name="Picture 5" descr="fig_architecture.png"/>
          <p:cNvPicPr>
            <a:picLocks noChangeAspect="1"/>
          </p:cNvPicPr>
          <p:nvPr/>
        </p:nvPicPr>
        <p:blipFill>
          <a:blip r:embed="rId2"/>
          <a:stretch>
            <a:fillRect/>
          </a:stretch>
        </p:blipFill>
        <p:spPr>
          <a:xfrm>
            <a:off x="2275733" y="914400"/>
            <a:ext cx="7610053" cy="4846320"/>
          </a:xfrm>
          <a:prstGeom prst="rect">
            <a:avLst/>
          </a:prstGeom>
        </p:spPr>
      </p:pic>
      <p:sp>
        <p:nvSpPr>
          <p:cNvPr id="7" name="TextBox 6"/>
          <p:cNvSpPr txBox="1"/>
          <p:nvPr/>
        </p:nvSpPr>
        <p:spPr>
          <a:xfrm>
            <a:off x="411480" y="5760720"/>
            <a:ext cx="11338560" cy="685800"/>
          </a:xfrm>
          <a:prstGeom prst="rect">
            <a:avLst/>
          </a:prstGeom>
          <a:noFill/>
        </p:spPr>
        <p:txBody>
          <a:bodyPr wrap="square">
            <a:spAutoFit/>
          </a:bodyPr>
          <a:lstStyle/>
          <a:p>
            <a:pPr>
              <a:spcAft>
                <a:spcPts val="400"/>
              </a:spcAft>
              <a:defRPr sz="1050" b="0">
                <a:solidFill>
                  <a:srgbClr val="000000"/>
                </a:solidFill>
                <a:latin typeface="Calibri"/>
              </a:defRPr>
            </a:pPr>
            <a:r>
              <a:t>Event bus adalah jalur pesan bersama: semua agen saling berkirim pesan hanya lewat satu tempat ini, seperti grup chat yang terstruktur. Bus memeriksa siapa pengirimnya (tanda tangan digital), apakah urutan pesannya benar (mis. 'terima' tidak boleh datang sebelum 'minta tawaran'), dan mencatat semua pesan pada log yang tidak dapat diubah diam-diam. Pada WhatsApp, isi pesan yang sama dikirim sebagai template terstruktur.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5.1 Contract Net kuota produsen dan siklus kognitif agen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17</a:t>
            </a:r>
          </a:p>
        </p:txBody>
      </p:sp>
      <p:pic>
        <p:nvPicPr>
          <p:cNvPr id="6" name="Picture 5" descr="fig_cnp_sequence.png"/>
          <p:cNvPicPr>
            <a:picLocks noChangeAspect="1"/>
          </p:cNvPicPr>
          <p:nvPr/>
        </p:nvPicPr>
        <p:blipFill>
          <a:blip r:embed="rId2"/>
          <a:stretch>
            <a:fillRect/>
          </a:stretch>
        </p:blipFill>
        <p:spPr>
          <a:xfrm>
            <a:off x="274320" y="2052936"/>
            <a:ext cx="6035040" cy="3209326"/>
          </a:xfrm>
          <a:prstGeom prst="rect">
            <a:avLst/>
          </a:prstGeom>
        </p:spPr>
      </p:pic>
      <p:pic>
        <p:nvPicPr>
          <p:cNvPr id="7" name="Picture 6" descr="fig_bdi_cycle.png"/>
          <p:cNvPicPr>
            <a:picLocks noChangeAspect="1"/>
          </p:cNvPicPr>
          <p:nvPr/>
        </p:nvPicPr>
        <p:blipFill>
          <a:blip r:embed="rId3"/>
          <a:stretch>
            <a:fillRect/>
          </a:stretch>
        </p:blipFill>
        <p:spPr>
          <a:xfrm>
            <a:off x="6328256" y="1005839"/>
            <a:ext cx="5540047" cy="2743200"/>
          </a:xfrm>
          <a:prstGeom prst="rect">
            <a:avLst/>
          </a:prstGeom>
        </p:spPr>
      </p:pic>
      <p:sp>
        <p:nvSpPr>
          <p:cNvPr id="8" name="TextBox 7"/>
          <p:cNvSpPr txBox="1"/>
          <p:nvPr/>
        </p:nvSpPr>
        <p:spPr>
          <a:xfrm>
            <a:off x="6355080" y="3840480"/>
            <a:ext cx="5486400" cy="2560320"/>
          </a:xfrm>
          <a:prstGeom prst="rect">
            <a:avLst/>
          </a:prstGeom>
          <a:noFill/>
        </p:spPr>
        <p:txBody>
          <a:bodyPr wrap="square">
            <a:spAutoFit/>
          </a:bodyPr>
          <a:lstStyle/>
          <a:p>
            <a:pPr>
              <a:spcAft>
                <a:spcPts val="400"/>
              </a:spcAft>
              <a:defRPr sz="1200" b="0">
                <a:solidFill>
                  <a:srgbClr val="000000"/>
                </a:solidFill>
                <a:latin typeface="Calibri"/>
              </a:defRPr>
            </a:pPr>
            <a:r>
              <a:t>• Alur: RFQ → LoI (SDR) → verifikasi DP (manusia) → CFP ke produsen → kuota + buffer 15% → kirim + QC → re-kontrak bila gagal/reject → lini gudang → carrier (CNP hibrida) → ekspor.</a:t>
            </a:r>
          </a:p>
          <a:p>
            <a:pPr>
              <a:spcAft>
                <a:spcPts val="400"/>
              </a:spcAft>
              <a:defRPr sz="1200" b="0">
                <a:solidFill>
                  <a:srgbClr val="000000"/>
                </a:solidFill>
                <a:latin typeface="Calibri"/>
              </a:defRPr>
            </a:pPr>
            <a:r>
              <a:t>• Tiap pesan ditandatangani HMAC, ada nonce dan audit log; FSM menolak urutan pesan yang salah.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5.1 Contoh: proses manual vs multi-agen (KrakaCoal)</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18</a:t>
            </a:r>
          </a:p>
        </p:txBody>
      </p:sp>
      <p:pic>
        <p:nvPicPr>
          <p:cNvPr id="6" name="Picture 5" descr="fig_gantt.png"/>
          <p:cNvPicPr>
            <a:picLocks noChangeAspect="1"/>
          </p:cNvPicPr>
          <p:nvPr/>
        </p:nvPicPr>
        <p:blipFill>
          <a:blip r:embed="rId2"/>
          <a:stretch>
            <a:fillRect/>
          </a:stretch>
        </p:blipFill>
        <p:spPr>
          <a:xfrm>
            <a:off x="274320" y="1308911"/>
            <a:ext cx="6766560" cy="4697377"/>
          </a:xfrm>
          <a:prstGeom prst="rect">
            <a:avLst/>
          </a:prstGeom>
        </p:spPr>
      </p:pic>
      <p:pic>
        <p:nvPicPr>
          <p:cNvPr id="7" name="Picture 6" descr="fig_sourcing_detail.png"/>
          <p:cNvPicPr>
            <a:picLocks noChangeAspect="1"/>
          </p:cNvPicPr>
          <p:nvPr/>
        </p:nvPicPr>
        <p:blipFill>
          <a:blip r:embed="rId3"/>
          <a:stretch>
            <a:fillRect/>
          </a:stretch>
        </p:blipFill>
        <p:spPr>
          <a:xfrm>
            <a:off x="7040880" y="2114386"/>
            <a:ext cx="4937760" cy="2172026"/>
          </a:xfrm>
          <a:prstGeom prst="rect">
            <a:avLst/>
          </a:prstGeom>
        </p:spPr>
      </p:pic>
      <p:sp>
        <p:nvSpPr>
          <p:cNvPr id="8" name="TextBox 7"/>
          <p:cNvSpPr txBox="1"/>
          <p:nvPr/>
        </p:nvSpPr>
        <p:spPr>
          <a:xfrm>
            <a:off x="7040880" y="5029200"/>
            <a:ext cx="4846320" cy="1371600"/>
          </a:xfrm>
          <a:prstGeom prst="rect">
            <a:avLst/>
          </a:prstGeom>
          <a:noFill/>
        </p:spPr>
        <p:txBody>
          <a:bodyPr wrap="square">
            <a:spAutoFit/>
          </a:bodyPr>
          <a:lstStyle/>
          <a:p>
            <a:pPr>
              <a:spcAft>
                <a:spcPts val="400"/>
              </a:spcAft>
              <a:defRPr sz="1100" b="0">
                <a:solidFill>
                  <a:srgbClr val="333333"/>
                </a:solidFill>
                <a:latin typeface="Calibri"/>
              </a:defRPr>
            </a:pPr>
            <a:r>
              <a:t>Kanan: order #4 (27 t): produsen yang dikontrak per putaran; merah = gagal kirim.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5.2 Agen dan komponen internal (1/2)</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19</a:t>
            </a:r>
          </a:p>
        </p:txBody>
      </p:sp>
      <p:graphicFrame>
        <p:nvGraphicFramePr>
          <p:cNvPr id="6" name="Table 5"/>
          <p:cNvGraphicFramePr>
            <a:graphicFrameLocks noGrp="1"/>
          </p:cNvGraphicFramePr>
          <p:nvPr/>
        </p:nvGraphicFramePr>
        <p:xfrm>
          <a:off x="228600" y="960120"/>
          <a:ext cx="11887200" cy="4127500"/>
        </p:xfrm>
        <a:graphic>
          <a:graphicData uri="http://schemas.openxmlformats.org/drawingml/2006/table">
            <a:tbl>
              <a:tblPr firstRow="1" bandRow="1">
                <a:tableStyleId>{5C22544A-7EE6-4342-B048-85BDC9FD1C3A}</a:tableStyleId>
              </a:tblPr>
              <a:tblGrid>
                <a:gridCol w="1463040"/>
                <a:gridCol w="1097280"/>
                <a:gridCol w="2651760"/>
                <a:gridCol w="2377440"/>
                <a:gridCol w="1737360"/>
                <a:gridCol w="1371600"/>
                <a:gridCol w="1188720"/>
              </a:tblGrid>
              <a:tr h="241300">
                <a:tc>
                  <a:txBody>
                    <a:bodyPr/>
                    <a:lstStyle/>
                    <a:p>
                      <a:pPr>
                        <a:defRPr sz="1000" b="1">
                          <a:solidFill>
                            <a:srgbClr val="000000"/>
                          </a:solidFill>
                          <a:latin typeface="Calibri"/>
                        </a:defRPr>
                      </a:pPr>
                      <a:r>
                        <a:t>Agen</a:t>
                      </a:r>
                    </a:p>
                  </a:txBody>
                  <a:tcPr marL="54864" marR="54864" marT="18288" marB="18288">
                    <a:solidFill>
                      <a:srgbClr val="E5E7EB"/>
                    </a:solidFill>
                  </a:tcPr>
                </a:tc>
                <a:tc>
                  <a:txBody>
                    <a:bodyPr/>
                    <a:lstStyle/>
                    <a:p>
                      <a:pPr>
                        <a:defRPr sz="1000" b="1">
                          <a:solidFill>
                            <a:srgbClr val="000000"/>
                          </a:solidFill>
                          <a:latin typeface="Calibri"/>
                        </a:defRPr>
                      </a:pPr>
                      <a:r>
                        <a:t>Tipe</a:t>
                      </a:r>
                    </a:p>
                  </a:txBody>
                  <a:tcPr marL="54864" marR="54864" marT="18288" marB="18288">
                    <a:solidFill>
                      <a:srgbClr val="E5E7EB"/>
                    </a:solidFill>
                  </a:tcPr>
                </a:tc>
                <a:tc>
                  <a:txBody>
                    <a:bodyPr/>
                    <a:lstStyle/>
                    <a:p>
                      <a:pPr>
                        <a:defRPr sz="1000" b="1">
                          <a:solidFill>
                            <a:srgbClr val="000000"/>
                          </a:solidFill>
                          <a:latin typeface="Calibri"/>
                        </a:defRPr>
                      </a:pPr>
                      <a:r>
                        <a:t>Belief / Desire / Intention</a:t>
                      </a:r>
                    </a:p>
                  </a:txBody>
                  <a:tcPr marL="54864" marR="54864" marT="18288" marB="18288">
                    <a:solidFill>
                      <a:srgbClr val="E5E7EB"/>
                    </a:solidFill>
                  </a:tcPr>
                </a:tc>
                <a:tc>
                  <a:txBody>
                    <a:bodyPr/>
                    <a:lstStyle/>
                    <a:p>
                      <a:pPr>
                        <a:defRPr sz="1000" b="1">
                          <a:solidFill>
                            <a:srgbClr val="000000"/>
                          </a:solidFill>
                          <a:latin typeface="Calibri"/>
                        </a:defRPr>
                      </a:pPr>
                      <a:r>
                        <a:t>Komponen internal dan tools</a:t>
                      </a:r>
                    </a:p>
                  </a:txBody>
                  <a:tcPr marL="54864" marR="54864" marT="18288" marB="18288">
                    <a:solidFill>
                      <a:srgbClr val="E5E7EB"/>
                    </a:solidFill>
                  </a:tcPr>
                </a:tc>
                <a:tc>
                  <a:txBody>
                    <a:bodyPr/>
                    <a:lstStyle/>
                    <a:p>
                      <a:pPr>
                        <a:defRPr sz="1000" b="1">
                          <a:solidFill>
                            <a:srgbClr val="000000"/>
                          </a:solidFill>
                          <a:latin typeface="Calibri"/>
                        </a:defRPr>
                      </a:pPr>
                      <a:r>
                        <a:t>Input -&gt; Output</a:t>
                      </a:r>
                    </a:p>
                  </a:txBody>
                  <a:tcPr marL="54864" marR="54864" marT="18288" marB="18288">
                    <a:solidFill>
                      <a:srgbClr val="E5E7EB"/>
                    </a:solidFill>
                  </a:tcPr>
                </a:tc>
                <a:tc>
                  <a:txBody>
                    <a:bodyPr/>
                    <a:lstStyle/>
                    <a:p>
                      <a:pPr>
                        <a:defRPr sz="1000" b="1">
                          <a:solidFill>
                            <a:srgbClr val="000000"/>
                          </a:solidFill>
                          <a:latin typeface="Calibri"/>
                        </a:defRPr>
                      </a:pPr>
                      <a:r>
                        <a:t>Metode</a:t>
                      </a:r>
                    </a:p>
                  </a:txBody>
                  <a:tcPr marL="54864" marR="54864" marT="18288" marB="18288">
                    <a:solidFill>
                      <a:srgbClr val="E5E7EB"/>
                    </a:solidFill>
                  </a:tcPr>
                </a:tc>
                <a:tc>
                  <a:txBody>
                    <a:bodyPr/>
                    <a:lstStyle/>
                    <a:p>
                      <a:pPr>
                        <a:defRPr sz="1000" b="1">
                          <a:solidFill>
                            <a:srgbClr val="000000"/>
                          </a:solidFill>
                          <a:latin typeface="Calibri"/>
                        </a:defRPr>
                      </a:pPr>
                      <a:r>
                        <a:t>Otonomi</a:t>
                      </a:r>
                    </a:p>
                  </a:txBody>
                  <a:tcPr marL="54864" marR="54864" marT="18288" marB="18288">
                    <a:solidFill>
                      <a:srgbClr val="E5E7EB"/>
                    </a:solidFill>
                  </a:tcPr>
                </a:tc>
              </a:tr>
              <a:tr h="1003300">
                <a:tc>
                  <a:txBody>
                    <a:bodyPr/>
                    <a:lstStyle/>
                    <a:p>
                      <a:pPr>
                        <a:defRPr sz="1000" b="0">
                          <a:solidFill>
                            <a:srgbClr val="000000"/>
                          </a:solidFill>
                          <a:latin typeface="Calibri"/>
                        </a:defRPr>
                      </a:pPr>
                      <a:r>
                        <a:t>Marketing &amp; Ads Agent</a:t>
                      </a:r>
                    </a:p>
                  </a:txBody>
                  <a:tcPr marL="54864" marR="54864" marT="18288" marB="18288">
                    <a:solidFill>
                      <a:srgbClr val="FFFFFF"/>
                    </a:solidFill>
                  </a:tcPr>
                </a:tc>
                <a:tc>
                  <a:txBody>
                    <a:bodyPr/>
                    <a:lstStyle/>
                    <a:p>
                      <a:pPr>
                        <a:defRPr sz="1000" b="0">
                          <a:solidFill>
                            <a:srgbClr val="000000"/>
                          </a:solidFill>
                          <a:latin typeface="Calibri"/>
                        </a:defRPr>
                      </a:pPr>
                      <a:r>
                        <a:t>Deliberatif + belajar, statis</a:t>
                      </a:r>
                    </a:p>
                  </a:txBody>
                  <a:tcPr marL="54864" marR="54864" marT="18288" marB="18288">
                    <a:solidFill>
                      <a:srgbClr val="FFFFFF"/>
                    </a:solidFill>
                  </a:tcPr>
                </a:tc>
                <a:tc>
                  <a:txBody>
                    <a:bodyPr/>
                    <a:lstStyle/>
                    <a:p>
                      <a:pPr>
                        <a:defRPr sz="1000" b="0">
                          <a:solidFill>
                            <a:srgbClr val="000000"/>
                          </a:solidFill>
                          <a:latin typeface="Calibri"/>
                        </a:defRPr>
                      </a:pPr>
                      <a:r>
                        <a:t>B: performa tiap kanal, anggaran, kapasitas tersedia. D: sebanyak mungkin RFQ berkualitas per dolar iklan. I: membagi anggaran, membuat iklan dan konten, menjeda kampanye</a:t>
                      </a:r>
                    </a:p>
                  </a:txBody>
                  <a:tcPr marL="54864" marR="54864" marT="18288" marB="18288">
                    <a:solidFill>
                      <a:srgbClr val="FFFFFF"/>
                    </a:solidFill>
                  </a:tcPr>
                </a:tc>
                <a:tc>
                  <a:txBody>
                    <a:bodyPr/>
                    <a:lstStyle/>
                    <a:p>
                      <a:pPr>
                        <a:defRPr sz="1000" b="0">
                          <a:solidFill>
                            <a:srgbClr val="000000"/>
                          </a:solidFill>
                          <a:latin typeface="Calibri"/>
                        </a:defRPr>
                      </a:pPr>
                      <a:r>
                        <a:t>Pembagi anggaran (Thompson sampling), pembuat materi iklan (LLM), pemeriksa klaim (harus sesuai spesifikasi dan sertifikat nyata), sinyal kapasitas dari Order Agent</a:t>
                      </a:r>
                    </a:p>
                  </a:txBody>
                  <a:tcPr marL="54864" marR="54864" marT="18288" marB="18288">
                    <a:solidFill>
                      <a:srgbClr val="FFFFFF"/>
                    </a:solidFill>
                  </a:tcPr>
                </a:tc>
                <a:tc>
                  <a:txBody>
                    <a:bodyPr/>
                    <a:lstStyle/>
                    <a:p>
                      <a:pPr>
                        <a:defRPr sz="1000" b="0">
                          <a:solidFill>
                            <a:srgbClr val="000000"/>
                          </a:solidFill>
                          <a:latin typeface="Calibri"/>
                        </a:defRPr>
                      </a:pPr>
                      <a:r>
                        <a:t>Kapasitas + performa kanal -&gt; kampanye, iklan; klik/RFQ -&gt; pembaruan</a:t>
                      </a:r>
                    </a:p>
                  </a:txBody>
                  <a:tcPr marL="54864" marR="54864" marT="18288" marB="18288">
                    <a:solidFill>
                      <a:srgbClr val="FFFFFF"/>
                    </a:solidFill>
                  </a:tcPr>
                </a:tc>
                <a:tc>
                  <a:txBody>
                    <a:bodyPr/>
                    <a:lstStyle/>
                    <a:p>
                      <a:pPr>
                        <a:defRPr sz="1000" b="0">
                          <a:solidFill>
                            <a:srgbClr val="000000"/>
                          </a:solidFill>
                          <a:latin typeface="Calibri"/>
                        </a:defRPr>
                      </a:pPr>
                      <a:r>
                        <a:t>Bandit multi-lengan + LLM + aturan klaim</a:t>
                      </a:r>
                    </a:p>
                  </a:txBody>
                  <a:tcPr marL="54864" marR="54864" marT="18288" marB="18288">
                    <a:solidFill>
                      <a:srgbClr val="FFFFFF"/>
                    </a:solidFill>
                  </a:tcPr>
                </a:tc>
                <a:tc>
                  <a:txBody>
                    <a:bodyPr/>
                    <a:lstStyle/>
                    <a:p>
                      <a:pPr>
                        <a:defRPr sz="1000" b="0">
                          <a:solidFill>
                            <a:srgbClr val="000000"/>
                          </a:solidFill>
                          <a:latin typeface="Calibri"/>
                        </a:defRPr>
                      </a:pPr>
                      <a:r>
                        <a:t>Supervise (materi baru disetujui manusia)</a:t>
                      </a:r>
                    </a:p>
                  </a:txBody>
                  <a:tcPr marL="54864" marR="54864" marT="18288" marB="18288">
                    <a:solidFill>
                      <a:srgbClr val="FFFFFF"/>
                    </a:solidFill>
                  </a:tcPr>
                </a:tc>
              </a:tr>
              <a:tr h="546100">
                <a:tc>
                  <a:txBody>
                    <a:bodyPr/>
                    <a:lstStyle/>
                    <a:p>
                      <a:pPr>
                        <a:defRPr sz="1000" b="0">
                          <a:solidFill>
                            <a:srgbClr val="000000"/>
                          </a:solidFill>
                          <a:latin typeface="Calibri"/>
                        </a:defRPr>
                      </a:pPr>
                      <a:r>
                        <a:t>Sales Agent (Virtual SDR)</a:t>
                      </a:r>
                    </a:p>
                  </a:txBody>
                  <a:tcPr marL="54864" marR="54864" marT="18288" marB="18288">
                    <a:solidFill>
                      <a:srgbClr val="FFFFFF"/>
                    </a:solidFill>
                  </a:tcPr>
                </a:tc>
                <a:tc>
                  <a:txBody>
                    <a:bodyPr/>
                    <a:lstStyle/>
                    <a:p>
                      <a:pPr>
                        <a:defRPr sz="1000" b="0">
                          <a:solidFill>
                            <a:srgbClr val="000000"/>
                          </a:solidFill>
                          <a:latin typeface="Calibri"/>
                        </a:defRPr>
                      </a:pPr>
                      <a:r>
                        <a:t>Deliberatif, statis</a:t>
                      </a:r>
                    </a:p>
                  </a:txBody>
                  <a:tcPr marL="54864" marR="54864" marT="18288" marB="18288">
                    <a:solidFill>
                      <a:srgbClr val="FFFFFF"/>
                    </a:solidFill>
                  </a:tcPr>
                </a:tc>
                <a:tc>
                  <a:txBody>
                    <a:bodyPr/>
                    <a:lstStyle/>
                    <a:p>
                      <a:pPr>
                        <a:defRPr sz="1000" b="0">
                          <a:solidFill>
                            <a:srgbClr val="000000"/>
                          </a:solidFill>
                          <a:latin typeface="Calibri"/>
                        </a:defRPr>
                      </a:pPr>
                      <a:r>
                        <a:t>B: RFQ, spesifikasi, batas harga. D: konversi RFQ ke LoI. I: menawar/berkonsesi atau eskalasi</a:t>
                      </a:r>
                    </a:p>
                  </a:txBody>
                  <a:tcPr marL="54864" marR="54864" marT="18288" marB="18288">
                    <a:solidFill>
                      <a:srgbClr val="FFFFFF"/>
                    </a:solidFill>
                  </a:tcPr>
                </a:tc>
                <a:tc>
                  <a:txBody>
                    <a:bodyPr/>
                    <a:lstStyle/>
                    <a:p>
                      <a:pPr>
                        <a:defRPr sz="1000" b="0">
                          <a:solidFill>
                            <a:srgbClr val="000000"/>
                          </a:solidFill>
                          <a:latin typeface="Calibri"/>
                        </a:defRPr>
                      </a:pPr>
                      <a:r>
                        <a:t>Deteksi niat, kalkulator konsesi (beta), guardrail harga, hook LLM, CRM</a:t>
                      </a:r>
                    </a:p>
                  </a:txBody>
                  <a:tcPr marL="54864" marR="54864" marT="18288" marB="18288">
                    <a:solidFill>
                      <a:srgbClr val="FFFFFF"/>
                    </a:solidFill>
                  </a:tcPr>
                </a:tc>
                <a:tc>
                  <a:txBody>
                    <a:bodyPr/>
                    <a:lstStyle/>
                    <a:p>
                      <a:pPr>
                        <a:defRPr sz="1000" b="0">
                          <a:solidFill>
                            <a:srgbClr val="000000"/>
                          </a:solidFill>
                          <a:latin typeface="Calibri"/>
                        </a:defRPr>
                      </a:pPr>
                      <a:r>
                        <a:t>RFQ -&gt; LoI / eskalasi</a:t>
                      </a:r>
                    </a:p>
                  </a:txBody>
                  <a:tcPr marL="54864" marR="54864" marT="18288" marB="18288">
                    <a:solidFill>
                      <a:srgbClr val="FFFFFF"/>
                    </a:solidFill>
                  </a:tcPr>
                </a:tc>
                <a:tc>
                  <a:txBody>
                    <a:bodyPr/>
                    <a:lstStyle/>
                    <a:p>
                      <a:pPr>
                        <a:defRPr sz="1000" b="0">
                          <a:solidFill>
                            <a:srgbClr val="000000"/>
                          </a:solidFill>
                          <a:latin typeface="Calibri"/>
                        </a:defRPr>
                      </a:pPr>
                      <a:r>
                        <a:t>LLM (opsional) + konsesi waktu-tergantung</a:t>
                      </a:r>
                    </a:p>
                  </a:txBody>
                  <a:tcPr marL="54864" marR="54864" marT="18288" marB="18288">
                    <a:solidFill>
                      <a:srgbClr val="FFFFFF"/>
                    </a:solidFill>
                  </a:tcPr>
                </a:tc>
                <a:tc>
                  <a:txBody>
                    <a:bodyPr/>
                    <a:lstStyle/>
                    <a:p>
                      <a:pPr>
                        <a:defRPr sz="1000" b="0">
                          <a:solidFill>
                            <a:srgbClr val="000000"/>
                          </a:solidFill>
                          <a:latin typeface="Calibri"/>
                        </a:defRPr>
                      </a:pPr>
                      <a:r>
                        <a:t>Supervise (LoI dalam band harga)</a:t>
                      </a:r>
                    </a:p>
                  </a:txBody>
                  <a:tcPr marL="54864" marR="54864" marT="18288" marB="18288">
                    <a:solidFill>
                      <a:srgbClr val="FFFFFF"/>
                    </a:solidFill>
                  </a:tcPr>
                </a:tc>
              </a:tr>
              <a:tr h="698500">
                <a:tc>
                  <a:txBody>
                    <a:bodyPr/>
                    <a:lstStyle/>
                    <a:p>
                      <a:pPr>
                        <a:defRPr sz="1000" b="0">
                          <a:solidFill>
                            <a:srgbClr val="000000"/>
                          </a:solidFill>
                          <a:latin typeface="Calibri"/>
                        </a:defRPr>
                      </a:pPr>
                      <a:r>
                        <a:t>Order Agent (x n)</a:t>
                      </a:r>
                    </a:p>
                  </a:txBody>
                  <a:tcPr marL="54864" marR="54864" marT="18288" marB="18288">
                    <a:solidFill>
                      <a:srgbClr val="FFFFFF"/>
                    </a:solidFill>
                  </a:tcPr>
                </a:tc>
                <a:tc>
                  <a:txBody>
                    <a:bodyPr/>
                    <a:lstStyle/>
                    <a:p>
                      <a:pPr>
                        <a:defRPr sz="1000" b="0">
                          <a:solidFill>
                            <a:srgbClr val="000000"/>
                          </a:solidFill>
                          <a:latin typeface="Calibri"/>
                        </a:defRPr>
                      </a:pPr>
                      <a:r>
                        <a:t>Hybrid, statis</a:t>
                      </a:r>
                    </a:p>
                  </a:txBody>
                  <a:tcPr marL="54864" marR="54864" marT="18288" marB="18288">
                    <a:solidFill>
                      <a:srgbClr val="FFFFFF"/>
                    </a:solidFill>
                  </a:tcPr>
                </a:tc>
                <a:tc>
                  <a:txBody>
                    <a:bodyPr/>
                    <a:lstStyle/>
                    <a:p>
                      <a:pPr>
                        <a:defRPr sz="1000" b="0">
                          <a:solidFill>
                            <a:srgbClr val="000000"/>
                          </a:solidFill>
                          <a:latin typeface="Calibri"/>
                        </a:defRPr>
                      </a:pPr>
                      <a:r>
                        <a:t>B: ETA, antrean, trust. D: terisi penuh dan berangkat &lt;= LSD dengan margin maksimum. I: memilih bid produsen/lini/carrier</a:t>
                      </a:r>
                    </a:p>
                  </a:txBody>
                  <a:tcPr marL="54864" marR="54864" marT="18288" marB="18288">
                    <a:solidFill>
                      <a:srgbClr val="FFFFFF"/>
                    </a:solidFill>
                  </a:tcPr>
                </a:tc>
                <a:tc>
                  <a:txBody>
                    <a:bodyPr/>
                    <a:lstStyle/>
                    <a:p>
                      <a:pPr>
                        <a:defRPr sz="1000" b="0">
                          <a:solidFill>
                            <a:srgbClr val="000000"/>
                          </a:solidFill>
                          <a:latin typeface="Calibri"/>
                        </a:defRPr>
                      </a:pPr>
                      <a:r>
                        <a:t>Estimator slack, klien CNP, kalkulator penalti, kebijakan expedite</a:t>
                      </a:r>
                    </a:p>
                  </a:txBody>
                  <a:tcPr marL="54864" marR="54864" marT="18288" marB="18288">
                    <a:solidFill>
                      <a:srgbClr val="FFFFFF"/>
                    </a:solidFill>
                  </a:tcPr>
                </a:tc>
                <a:tc>
                  <a:txBody>
                    <a:bodyPr/>
                    <a:lstStyle/>
                    <a:p>
                      <a:pPr>
                        <a:defRPr sz="1000" b="0">
                          <a:solidFill>
                            <a:srgbClr val="000000"/>
                          </a:solidFill>
                          <a:latin typeface="Calibri"/>
                        </a:defRPr>
                      </a:pPr>
                      <a:r>
                        <a:t>DP terverifikasi -&gt; CFP, ACCEPT/REJECT, booking</a:t>
                      </a:r>
                    </a:p>
                  </a:txBody>
                  <a:tcPr marL="54864" marR="54864" marT="18288" marB="18288">
                    <a:solidFill>
                      <a:srgbClr val="FFFFFF"/>
                    </a:solidFill>
                  </a:tcPr>
                </a:tc>
                <a:tc>
                  <a:txBody>
                    <a:bodyPr/>
                    <a:lstStyle/>
                    <a:p>
                      <a:pPr>
                        <a:defRPr sz="1000" b="0">
                          <a:solidFill>
                            <a:srgbClr val="000000"/>
                          </a:solidFill>
                          <a:latin typeface="Calibri"/>
                        </a:defRPr>
                      </a:pPr>
                      <a:r>
                        <a:t>Aturan + DSS hibrida</a:t>
                      </a:r>
                    </a:p>
                  </a:txBody>
                  <a:tcPr marL="54864" marR="54864" marT="18288" marB="18288">
                    <a:solidFill>
                      <a:srgbClr val="FFFFFF"/>
                    </a:solidFill>
                  </a:tcPr>
                </a:tc>
                <a:tc>
                  <a:txBody>
                    <a:bodyPr/>
                    <a:lstStyle/>
                    <a:p>
                      <a:pPr>
                        <a:defRPr sz="1000" b="0">
                          <a:solidFill>
                            <a:srgbClr val="000000"/>
                          </a:solidFill>
                          <a:latin typeface="Calibri"/>
                        </a:defRPr>
                      </a:pPr>
                      <a:r>
                        <a:t>Delegate (nilai &lt; batas)</a:t>
                      </a:r>
                    </a:p>
                  </a:txBody>
                  <a:tcPr marL="54864" marR="54864" marT="18288" marB="18288">
                    <a:solidFill>
                      <a:srgbClr val="FFFFFF"/>
                    </a:solidFill>
                  </a:tcPr>
                </a:tc>
              </a:tr>
              <a:tr h="546100">
                <a:tc>
                  <a:txBody>
                    <a:bodyPr/>
                    <a:lstStyle/>
                    <a:p>
                      <a:pPr>
                        <a:defRPr sz="1000" b="0">
                          <a:solidFill>
                            <a:srgbClr val="000000"/>
                          </a:solidFill>
                          <a:latin typeface="Calibri"/>
                        </a:defRPr>
                      </a:pPr>
                      <a:r>
                        <a:t>Producer Agent (UMKM, x 30-40)</a:t>
                      </a:r>
                    </a:p>
                  </a:txBody>
                  <a:tcPr marL="54864" marR="54864" marT="18288" marB="18288">
                    <a:solidFill>
                      <a:srgbClr val="FFFFFF"/>
                    </a:solidFill>
                  </a:tcPr>
                </a:tc>
                <a:tc>
                  <a:txBody>
                    <a:bodyPr/>
                    <a:lstStyle/>
                    <a:p>
                      <a:pPr>
                        <a:defRPr sz="1000" b="0">
                          <a:solidFill>
                            <a:srgbClr val="000000"/>
                          </a:solidFill>
                          <a:latin typeface="Calibri"/>
                        </a:defRPr>
                      </a:pPr>
                      <a:r>
                        <a:t>Reaktif, statis (WhatsApp)</a:t>
                      </a:r>
                    </a:p>
                  </a:txBody>
                  <a:tcPr marL="54864" marR="54864" marT="18288" marB="18288">
                    <a:solidFill>
                      <a:srgbClr val="FFFFFF"/>
                    </a:solidFill>
                  </a:tcPr>
                </a:tc>
                <a:tc>
                  <a:txBody>
                    <a:bodyPr/>
                    <a:lstStyle/>
                    <a:p>
                      <a:pPr>
                        <a:defRPr sz="1000" b="0">
                          <a:solidFill>
                            <a:srgbClr val="000000"/>
                          </a:solidFill>
                          <a:latin typeface="Calibri"/>
                        </a:defRPr>
                      </a:pPr>
                      <a:r>
                        <a:t>B: kapasitas hari ini, stok bahan. D: mendapat kuota dan modal kerja. I: menawar kg, harga, ETA</a:t>
                      </a:r>
                    </a:p>
                  </a:txBody>
                  <a:tcPr marL="54864" marR="54864" marT="18288" marB="18288">
                    <a:solidFill>
                      <a:srgbClr val="FFFFFF"/>
                    </a:solidFill>
                  </a:tcPr>
                </a:tc>
                <a:tc>
                  <a:txBody>
                    <a:bodyPr/>
                    <a:lstStyle/>
                    <a:p>
                      <a:pPr>
                        <a:defRPr sz="1000" b="0">
                          <a:solidFill>
                            <a:srgbClr val="000000"/>
                          </a:solidFill>
                          <a:latin typeface="Calibri"/>
                        </a:defRPr>
                      </a:pPr>
                      <a:r>
                        <a:t>Template WhatsApp, ketersediaan lokal u, riwayat quality score</a:t>
                      </a:r>
                    </a:p>
                  </a:txBody>
                  <a:tcPr marL="54864" marR="54864" marT="18288" marB="18288">
                    <a:solidFill>
                      <a:srgbClr val="FFFFFF"/>
                    </a:solidFill>
                  </a:tcPr>
                </a:tc>
                <a:tc>
                  <a:txBody>
                    <a:bodyPr/>
                    <a:lstStyle/>
                    <a:p>
                      <a:pPr>
                        <a:defRPr sz="1000" b="0">
                          <a:solidFill>
                            <a:srgbClr val="000000"/>
                          </a:solidFill>
                          <a:latin typeface="Calibri"/>
                        </a:defRPr>
                      </a:pPr>
                      <a:r>
                        <a:t>CFP -&gt; PROPOSE(kg, harga, ETA); INFORM(kirim)</a:t>
                      </a:r>
                    </a:p>
                  </a:txBody>
                  <a:tcPr marL="54864" marR="54864" marT="18288" marB="18288">
                    <a:solidFill>
                      <a:srgbClr val="FFFFFF"/>
                    </a:solidFill>
                  </a:tcPr>
                </a:tc>
                <a:tc>
                  <a:txBody>
                    <a:bodyPr/>
                    <a:lstStyle/>
                    <a:p>
                      <a:pPr>
                        <a:defRPr sz="1000" b="0">
                          <a:solidFill>
                            <a:srgbClr val="000000"/>
                          </a:solidFill>
                          <a:latin typeface="Calibri"/>
                        </a:defRPr>
                      </a:pPr>
                      <a:r>
                        <a:t>Aturan lokal</a:t>
                      </a:r>
                    </a:p>
                  </a:txBody>
                  <a:tcPr marL="54864" marR="54864" marT="18288" marB="18288">
                    <a:solidFill>
                      <a:srgbClr val="FFFFFF"/>
                    </a:solidFill>
                  </a:tcPr>
                </a:tc>
                <a:tc>
                  <a:txBody>
                    <a:bodyPr/>
                    <a:lstStyle/>
                    <a:p>
                      <a:pPr>
                        <a:defRPr sz="1000" b="0">
                          <a:solidFill>
                            <a:srgbClr val="000000"/>
                          </a:solidFill>
                          <a:latin typeface="Calibri"/>
                        </a:defRPr>
                      </a:pPr>
                      <a:r>
                        <a:t>Otonom (pihak eksternal)</a:t>
                      </a:r>
                    </a:p>
                  </a:txBody>
                  <a:tcPr marL="54864" marR="54864" marT="18288" marB="18288">
                    <a:solidFill>
                      <a:srgbClr val="FFFFFF"/>
                    </a:solidFill>
                  </a:tcPr>
                </a:tc>
              </a:tr>
              <a:tr h="546100">
                <a:tc>
                  <a:txBody>
                    <a:bodyPr/>
                    <a:lstStyle/>
                    <a:p>
                      <a:pPr>
                        <a:defRPr sz="1000" b="0">
                          <a:solidFill>
                            <a:srgbClr val="000000"/>
                          </a:solidFill>
                          <a:latin typeface="Calibri"/>
                        </a:defRPr>
                      </a:pPr>
                      <a:r>
                        <a:t>QC Agent (CV / lab)</a:t>
                      </a:r>
                    </a:p>
                  </a:txBody>
                  <a:tcPr marL="54864" marR="54864" marT="18288" marB="18288">
                    <a:solidFill>
                      <a:srgbClr val="FFFFFF"/>
                    </a:solidFill>
                  </a:tcPr>
                </a:tc>
                <a:tc>
                  <a:txBody>
                    <a:bodyPr/>
                    <a:lstStyle/>
                    <a:p>
                      <a:pPr>
                        <a:defRPr sz="1000" b="0">
                          <a:solidFill>
                            <a:srgbClr val="000000"/>
                          </a:solidFill>
                          <a:latin typeface="Calibri"/>
                        </a:defRPr>
                      </a:pPr>
                      <a:r>
                        <a:t>Reaktif + belajar, statis</a:t>
                      </a:r>
                    </a:p>
                  </a:txBody>
                  <a:tcPr marL="54864" marR="54864" marT="18288" marB="18288">
                    <a:solidFill>
                      <a:srgbClr val="FFFFFF"/>
                    </a:solidFill>
                  </a:tcPr>
                </a:tc>
                <a:tc>
                  <a:txBody>
                    <a:bodyPr/>
                    <a:lstStyle/>
                    <a:p>
                      <a:pPr>
                        <a:defRPr sz="1000" b="0">
                          <a:solidFill>
                            <a:srgbClr val="000000"/>
                          </a:solidFill>
                          <a:latin typeface="Calibri"/>
                        </a:defRPr>
                      </a:pPr>
                      <a:r>
                        <a:t>B: hasil klasifikasi. D: grade akurat. I: A/B/Reject dan umpan balik ke produsen</a:t>
                      </a:r>
                    </a:p>
                  </a:txBody>
                  <a:tcPr marL="54864" marR="54864" marT="18288" marB="18288">
                    <a:solidFill>
                      <a:srgbClr val="FFFFFF"/>
                    </a:solidFill>
                  </a:tcPr>
                </a:tc>
                <a:tc>
                  <a:txBody>
                    <a:bodyPr/>
                    <a:lstStyle/>
                    <a:p>
                      <a:pPr>
                        <a:defRPr sz="1000" b="0">
                          <a:solidFill>
                            <a:srgbClr val="000000"/>
                          </a:solidFill>
                          <a:latin typeface="Calibri"/>
                        </a:defRPr>
                      </a:pPr>
                      <a:r>
                        <a:t>Model CV (rencana tim) atau uji lab; estimator yield per produsen</a:t>
                      </a:r>
                    </a:p>
                  </a:txBody>
                  <a:tcPr marL="54864" marR="54864" marT="18288" marB="18288">
                    <a:solidFill>
                      <a:srgbClr val="FFFFFF"/>
                    </a:solidFill>
                  </a:tcPr>
                </a:tc>
                <a:tc>
                  <a:txBody>
                    <a:bodyPr/>
                    <a:lstStyle/>
                    <a:p>
                      <a:pPr>
                        <a:defRPr sz="1000" b="0">
                          <a:solidFill>
                            <a:srgbClr val="000000"/>
                          </a:solidFill>
                          <a:latin typeface="Calibri"/>
                        </a:defRPr>
                      </a:pPr>
                      <a:r>
                        <a:t>Sampel -&gt; grade, kg lolos</a:t>
                      </a:r>
                    </a:p>
                  </a:txBody>
                  <a:tcPr marL="54864" marR="54864" marT="18288" marB="18288">
                    <a:solidFill>
                      <a:srgbClr val="FFFFFF"/>
                    </a:solidFill>
                  </a:tcPr>
                </a:tc>
                <a:tc>
                  <a:txBody>
                    <a:bodyPr/>
                    <a:lstStyle/>
                    <a:p>
                      <a:pPr>
                        <a:defRPr sz="1000" b="0">
                          <a:solidFill>
                            <a:srgbClr val="000000"/>
                          </a:solidFill>
                          <a:latin typeface="Calibri"/>
                        </a:defRPr>
                      </a:pPr>
                      <a:r>
                        <a:t>CNN (rencana); disimulasikan statistik</a:t>
                      </a:r>
                    </a:p>
                  </a:txBody>
                  <a:tcPr marL="54864" marR="54864" marT="18288" marB="18288">
                    <a:solidFill>
                      <a:srgbClr val="FFFFFF"/>
                    </a:solidFill>
                  </a:tcPr>
                </a:tc>
                <a:tc>
                  <a:txBody>
                    <a:bodyPr/>
                    <a:lstStyle/>
                    <a:p>
                      <a:pPr>
                        <a:defRPr sz="1000" b="0">
                          <a:solidFill>
                            <a:srgbClr val="000000"/>
                          </a:solidFill>
                          <a:latin typeface="Calibri"/>
                        </a:defRPr>
                      </a:pPr>
                      <a:r>
                        <a:t>Delegate; sengketa ke manusia</a:t>
                      </a:r>
                    </a:p>
                  </a:txBody>
                  <a:tcPr marL="54864" marR="54864" marT="18288" marB="18288">
                    <a:solidFill>
                      <a:srgbClr val="FFFFFF"/>
                    </a:solidFill>
                  </a:tcPr>
                </a:tc>
              </a:tr>
              <a:tr h="546100">
                <a:tc>
                  <a:txBody>
                    <a:bodyPr/>
                    <a:lstStyle/>
                    <a:p>
                      <a:pPr>
                        <a:defRPr sz="1000" b="0">
                          <a:solidFill>
                            <a:srgbClr val="000000"/>
                          </a:solidFill>
                          <a:latin typeface="Calibri"/>
                        </a:defRPr>
                      </a:pPr>
                      <a:r>
                        <a:t>Warehouse Line Agent (x 6)</a:t>
                      </a:r>
                    </a:p>
                  </a:txBody>
                  <a:tcPr marL="54864" marR="54864" marT="18288" marB="18288">
                    <a:solidFill>
                      <a:srgbClr val="FFFFFF"/>
                    </a:solidFill>
                  </a:tcPr>
                </a:tc>
                <a:tc>
                  <a:txBody>
                    <a:bodyPr/>
                    <a:lstStyle/>
                    <a:p>
                      <a:pPr>
                        <a:defRPr sz="1000" b="0">
                          <a:solidFill>
                            <a:srgbClr val="000000"/>
                          </a:solidFill>
                          <a:latin typeface="Calibri"/>
                        </a:defRPr>
                      </a:pPr>
                      <a:r>
                        <a:t>Reaktif + deliberatif, statis</a:t>
                      </a:r>
                    </a:p>
                  </a:txBody>
                  <a:tcPr marL="54864" marR="54864" marT="18288" marB="18288">
                    <a:solidFill>
                      <a:srgbClr val="FFFFFF"/>
                    </a:solidFill>
                  </a:tcPr>
                </a:tc>
                <a:tc>
                  <a:txBody>
                    <a:bodyPr/>
                    <a:lstStyle/>
                    <a:p>
                      <a:pPr>
                        <a:defRPr sz="1000" b="0">
                          <a:solidFill>
                            <a:srgbClr val="000000"/>
                          </a:solidFill>
                          <a:latin typeface="Calibri"/>
                        </a:defRPr>
                      </a:pPr>
                      <a:r>
                        <a:t>B: antrean, kesehatan mesin. D: throughput. I: menawar ETA, memproses</a:t>
                      </a:r>
                    </a:p>
                  </a:txBody>
                  <a:tcPr marL="54864" marR="54864" marT="18288" marB="18288">
                    <a:solidFill>
                      <a:srgbClr val="FFFFFF"/>
                    </a:solidFill>
                  </a:tcPr>
                </a:tc>
                <a:tc>
                  <a:txBody>
                    <a:bodyPr/>
                    <a:lstStyle/>
                    <a:p>
                      <a:pPr>
                        <a:defRPr sz="1000" b="0">
                          <a:solidFill>
                            <a:srgbClr val="000000"/>
                          </a:solidFill>
                          <a:latin typeface="Calibri"/>
                        </a:defRPr>
                      </a:pPr>
                      <a:r>
                        <a:t>Estimator ETA, monitor kondisi (tren sensor), antrean critical ratio</a:t>
                      </a:r>
                    </a:p>
                  </a:txBody>
                  <a:tcPr marL="54864" marR="54864" marT="18288" marB="18288">
                    <a:solidFill>
                      <a:srgbClr val="FFFFFF"/>
                    </a:solidFill>
                  </a:tcPr>
                </a:tc>
                <a:tc>
                  <a:txBody>
                    <a:bodyPr/>
                    <a:lstStyle/>
                    <a:p>
                      <a:pPr>
                        <a:defRPr sz="1000" b="0">
                          <a:solidFill>
                            <a:srgbClr val="000000"/>
                          </a:solidFill>
                          <a:latin typeface="Calibri"/>
                        </a:defRPr>
                      </a:pPr>
                      <a:r>
                        <a:t>CFP -&gt; PROPOSE(ETA); INFORM(done)</a:t>
                      </a:r>
                    </a:p>
                  </a:txBody>
                  <a:tcPr marL="54864" marR="54864" marT="18288" marB="18288">
                    <a:solidFill>
                      <a:srgbClr val="FFFFFF"/>
                    </a:solidFill>
                  </a:tcPr>
                </a:tc>
                <a:tc>
                  <a:txBody>
                    <a:bodyPr/>
                    <a:lstStyle/>
                    <a:p>
                      <a:pPr>
                        <a:defRPr sz="1000" b="0">
                          <a:solidFill>
                            <a:srgbClr val="000000"/>
                          </a:solidFill>
                          <a:latin typeface="Calibri"/>
                        </a:defRPr>
                      </a:pPr>
                      <a:r>
                        <a:t>Regresi slope + aturan</a:t>
                      </a:r>
                    </a:p>
                  </a:txBody>
                  <a:tcPr marL="54864" marR="54864" marT="18288" marB="18288">
                    <a:solidFill>
                      <a:srgbClr val="FFFFFF"/>
                    </a:solidFill>
                  </a:tcPr>
                </a:tc>
                <a:tc>
                  <a:txBody>
                    <a:bodyPr/>
                    <a:lstStyle/>
                    <a:p>
                      <a:pPr>
                        <a:defRPr sz="1000" b="0">
                          <a:solidFill>
                            <a:srgbClr val="000000"/>
                          </a:solidFill>
                          <a:latin typeface="Calibri"/>
                        </a:defRPr>
                      </a:pPr>
                      <a:r>
                        <a:t>Delegate</a:t>
                      </a:r>
                    </a:p>
                  </a:txBody>
                  <a:tcPr marL="54864" marR="54864" marT="18288" marB="18288">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5.2 Agen dan komponen internal (2/2)</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20</a:t>
            </a:r>
          </a:p>
        </p:txBody>
      </p:sp>
      <p:graphicFrame>
        <p:nvGraphicFramePr>
          <p:cNvPr id="6" name="Table 5"/>
          <p:cNvGraphicFramePr>
            <a:graphicFrameLocks noGrp="1"/>
          </p:cNvGraphicFramePr>
          <p:nvPr/>
        </p:nvGraphicFramePr>
        <p:xfrm>
          <a:off x="228600" y="960120"/>
          <a:ext cx="11887200" cy="4142740"/>
        </p:xfrm>
        <a:graphic>
          <a:graphicData uri="http://schemas.openxmlformats.org/drawingml/2006/table">
            <a:tbl>
              <a:tblPr firstRow="1" bandRow="1">
                <a:tableStyleId>{5C22544A-7EE6-4342-B048-85BDC9FD1C3A}</a:tableStyleId>
              </a:tblPr>
              <a:tblGrid>
                <a:gridCol w="1463040"/>
                <a:gridCol w="1097280"/>
                <a:gridCol w="2651760"/>
                <a:gridCol w="2377440"/>
                <a:gridCol w="1737360"/>
                <a:gridCol w="1371600"/>
                <a:gridCol w="1188720"/>
              </a:tblGrid>
              <a:tr h="248920">
                <a:tc>
                  <a:txBody>
                    <a:bodyPr/>
                    <a:lstStyle/>
                    <a:p>
                      <a:pPr>
                        <a:defRPr sz="1050" b="1">
                          <a:solidFill>
                            <a:srgbClr val="000000"/>
                          </a:solidFill>
                          <a:latin typeface="Calibri"/>
                        </a:defRPr>
                      </a:pPr>
                      <a:r>
                        <a:t>Agen</a:t>
                      </a:r>
                    </a:p>
                  </a:txBody>
                  <a:tcPr marL="54864" marR="54864" marT="18288" marB="18288">
                    <a:solidFill>
                      <a:srgbClr val="E5E7EB"/>
                    </a:solidFill>
                  </a:tcPr>
                </a:tc>
                <a:tc>
                  <a:txBody>
                    <a:bodyPr/>
                    <a:lstStyle/>
                    <a:p>
                      <a:pPr>
                        <a:defRPr sz="1050" b="1">
                          <a:solidFill>
                            <a:srgbClr val="000000"/>
                          </a:solidFill>
                          <a:latin typeface="Calibri"/>
                        </a:defRPr>
                      </a:pPr>
                      <a:r>
                        <a:t>Tipe</a:t>
                      </a:r>
                    </a:p>
                  </a:txBody>
                  <a:tcPr marL="54864" marR="54864" marT="18288" marB="18288">
                    <a:solidFill>
                      <a:srgbClr val="E5E7EB"/>
                    </a:solidFill>
                  </a:tcPr>
                </a:tc>
                <a:tc>
                  <a:txBody>
                    <a:bodyPr/>
                    <a:lstStyle/>
                    <a:p>
                      <a:pPr>
                        <a:defRPr sz="1050" b="1">
                          <a:solidFill>
                            <a:srgbClr val="000000"/>
                          </a:solidFill>
                          <a:latin typeface="Calibri"/>
                        </a:defRPr>
                      </a:pPr>
                      <a:r>
                        <a:t>Belief / Desire / Intention</a:t>
                      </a:r>
                    </a:p>
                  </a:txBody>
                  <a:tcPr marL="54864" marR="54864" marT="18288" marB="18288">
                    <a:solidFill>
                      <a:srgbClr val="E5E7EB"/>
                    </a:solidFill>
                  </a:tcPr>
                </a:tc>
                <a:tc>
                  <a:txBody>
                    <a:bodyPr/>
                    <a:lstStyle/>
                    <a:p>
                      <a:pPr>
                        <a:defRPr sz="1050" b="1">
                          <a:solidFill>
                            <a:srgbClr val="000000"/>
                          </a:solidFill>
                          <a:latin typeface="Calibri"/>
                        </a:defRPr>
                      </a:pPr>
                      <a:r>
                        <a:t>Komponen internal dan tools</a:t>
                      </a:r>
                    </a:p>
                  </a:txBody>
                  <a:tcPr marL="54864" marR="54864" marT="18288" marB="18288">
                    <a:solidFill>
                      <a:srgbClr val="E5E7EB"/>
                    </a:solidFill>
                  </a:tcPr>
                </a:tc>
                <a:tc>
                  <a:txBody>
                    <a:bodyPr/>
                    <a:lstStyle/>
                    <a:p>
                      <a:pPr>
                        <a:defRPr sz="1050" b="1">
                          <a:solidFill>
                            <a:srgbClr val="000000"/>
                          </a:solidFill>
                          <a:latin typeface="Calibri"/>
                        </a:defRPr>
                      </a:pPr>
                      <a:r>
                        <a:t>Input -&gt; Output</a:t>
                      </a:r>
                    </a:p>
                  </a:txBody>
                  <a:tcPr marL="54864" marR="54864" marT="18288" marB="18288">
                    <a:solidFill>
                      <a:srgbClr val="E5E7EB"/>
                    </a:solidFill>
                  </a:tcPr>
                </a:tc>
                <a:tc>
                  <a:txBody>
                    <a:bodyPr/>
                    <a:lstStyle/>
                    <a:p>
                      <a:pPr>
                        <a:defRPr sz="1050" b="1">
                          <a:solidFill>
                            <a:srgbClr val="000000"/>
                          </a:solidFill>
                          <a:latin typeface="Calibri"/>
                        </a:defRPr>
                      </a:pPr>
                      <a:r>
                        <a:t>Metode</a:t>
                      </a:r>
                    </a:p>
                  </a:txBody>
                  <a:tcPr marL="54864" marR="54864" marT="18288" marB="18288">
                    <a:solidFill>
                      <a:srgbClr val="E5E7EB"/>
                    </a:solidFill>
                  </a:tcPr>
                </a:tc>
                <a:tc>
                  <a:txBody>
                    <a:bodyPr/>
                    <a:lstStyle/>
                    <a:p>
                      <a:pPr>
                        <a:defRPr sz="1050" b="1">
                          <a:solidFill>
                            <a:srgbClr val="000000"/>
                          </a:solidFill>
                          <a:latin typeface="Calibri"/>
                        </a:defRPr>
                      </a:pPr>
                      <a:r>
                        <a:t>Otonomi</a:t>
                      </a:r>
                    </a:p>
                  </a:txBody>
                  <a:tcPr marL="54864" marR="54864" marT="18288" marB="18288">
                    <a:solidFill>
                      <a:srgbClr val="E5E7EB"/>
                    </a:solidFill>
                  </a:tcPr>
                </a:tc>
              </a:tr>
              <a:tr h="728980">
                <a:tc>
                  <a:txBody>
                    <a:bodyPr/>
                    <a:lstStyle/>
                    <a:p>
                      <a:pPr>
                        <a:defRPr sz="1050" b="0">
                          <a:solidFill>
                            <a:srgbClr val="000000"/>
                          </a:solidFill>
                          <a:latin typeface="Calibri"/>
                        </a:defRPr>
                      </a:pPr>
                      <a:r>
                        <a:t>Compliance Agent</a:t>
                      </a:r>
                    </a:p>
                  </a:txBody>
                  <a:tcPr marL="54864" marR="54864" marT="18288" marB="18288">
                    <a:solidFill>
                      <a:srgbClr val="FFFFFF"/>
                    </a:solidFill>
                  </a:tcPr>
                </a:tc>
                <a:tc>
                  <a:txBody>
                    <a:bodyPr/>
                    <a:lstStyle/>
                    <a:p>
                      <a:pPr>
                        <a:defRPr sz="1050" b="0">
                          <a:solidFill>
                            <a:srgbClr val="000000"/>
                          </a:solidFill>
                          <a:latin typeface="Calibri"/>
                        </a:defRPr>
                      </a:pPr>
                      <a:r>
                        <a:t>Deliberatif, statis</a:t>
                      </a:r>
                    </a:p>
                  </a:txBody>
                  <a:tcPr marL="54864" marR="54864" marT="18288" marB="18288">
                    <a:solidFill>
                      <a:srgbClr val="FFFFFF"/>
                    </a:solidFill>
                  </a:tcPr>
                </a:tc>
                <a:tc>
                  <a:txBody>
                    <a:bodyPr/>
                    <a:lstStyle/>
                    <a:p>
                      <a:pPr>
                        <a:defRPr sz="1050" b="0">
                          <a:solidFill>
                            <a:srgbClr val="000000"/>
                          </a:solidFill>
                          <a:latin typeface="Calibri"/>
                        </a:defRPr>
                      </a:pPr>
                      <a:r>
                        <a:t>B: deskripsi produk, aturan dokumen. D: dokumen benar dan siap sebelum produksi selesai. I: menetapkan HS, meminta review</a:t>
                      </a:r>
                    </a:p>
                  </a:txBody>
                  <a:tcPr marL="54864" marR="54864" marT="18288" marB="18288">
                    <a:solidFill>
                      <a:srgbClr val="FFFFFF"/>
                    </a:solidFill>
                  </a:tcPr>
                </a:tc>
                <a:tc>
                  <a:txBody>
                    <a:bodyPr/>
                    <a:lstStyle/>
                    <a:p>
                      <a:pPr>
                        <a:defRPr sz="1050" b="0">
                          <a:solidFill>
                            <a:srgbClr val="000000"/>
                          </a:solidFill>
                          <a:latin typeface="Calibri"/>
                        </a:defRPr>
                      </a:pPr>
                      <a:r>
                        <a:t>TF-IDF kata+karakter, k-NN kosinus, mesin aturan lisensi/sertifikat, penilai confidence</a:t>
                      </a:r>
                    </a:p>
                  </a:txBody>
                  <a:tcPr marL="54864" marR="54864" marT="18288" marB="18288">
                    <a:solidFill>
                      <a:srgbClr val="FFFFFF"/>
                    </a:solidFill>
                  </a:tcPr>
                </a:tc>
                <a:tc>
                  <a:txBody>
                    <a:bodyPr/>
                    <a:lstStyle/>
                    <a:p>
                      <a:pPr>
                        <a:defRPr sz="1050" b="0">
                          <a:solidFill>
                            <a:srgbClr val="000000"/>
                          </a:solidFill>
                          <a:latin typeface="Calibri"/>
                        </a:defRPr>
                      </a:pPr>
                      <a:r>
                        <a:t>Deskripsi -&gt; HS + confidence; review manusia bila &lt; 0,60</a:t>
                      </a:r>
                    </a:p>
                  </a:txBody>
                  <a:tcPr marL="54864" marR="54864" marT="18288" marB="18288">
                    <a:solidFill>
                      <a:srgbClr val="FFFFFF"/>
                    </a:solidFill>
                  </a:tcPr>
                </a:tc>
                <a:tc>
                  <a:txBody>
                    <a:bodyPr/>
                    <a:lstStyle/>
                    <a:p>
                      <a:pPr>
                        <a:defRPr sz="1050" b="0">
                          <a:solidFill>
                            <a:srgbClr val="000000"/>
                          </a:solidFill>
                          <a:latin typeface="Calibri"/>
                        </a:defRPr>
                      </a:pPr>
                      <a:r>
                        <a:t>ML klasik (NLP) + aturan</a:t>
                      </a:r>
                    </a:p>
                  </a:txBody>
                  <a:tcPr marL="54864" marR="54864" marT="18288" marB="18288">
                    <a:solidFill>
                      <a:srgbClr val="FFFFFF"/>
                    </a:solidFill>
                  </a:tcPr>
                </a:tc>
                <a:tc>
                  <a:txBody>
                    <a:bodyPr/>
                    <a:lstStyle/>
                    <a:p>
                      <a:pPr>
                        <a:defRPr sz="1050" b="0">
                          <a:solidFill>
                            <a:srgbClr val="000000"/>
                          </a:solidFill>
                          <a:latin typeface="Calibri"/>
                        </a:defRPr>
                      </a:pPr>
                      <a:r>
                        <a:t>Delegate / Approve</a:t>
                      </a:r>
                    </a:p>
                  </a:txBody>
                  <a:tcPr marL="54864" marR="54864" marT="18288" marB="18288">
                    <a:solidFill>
                      <a:srgbClr val="FFFFFF"/>
                    </a:solidFill>
                  </a:tcPr>
                </a:tc>
              </a:tr>
              <a:tr h="568960">
                <a:tc>
                  <a:txBody>
                    <a:bodyPr/>
                    <a:lstStyle/>
                    <a:p>
                      <a:pPr>
                        <a:defRPr sz="1050" b="0">
                          <a:solidFill>
                            <a:srgbClr val="000000"/>
                          </a:solidFill>
                          <a:latin typeface="Calibri"/>
                        </a:defRPr>
                      </a:pPr>
                      <a:r>
                        <a:t>Risk Agent</a:t>
                      </a:r>
                    </a:p>
                  </a:txBody>
                  <a:tcPr marL="54864" marR="54864" marT="18288" marB="18288">
                    <a:solidFill>
                      <a:srgbClr val="FFFFFF"/>
                    </a:solidFill>
                  </a:tcPr>
                </a:tc>
                <a:tc>
                  <a:txBody>
                    <a:bodyPr/>
                    <a:lstStyle/>
                    <a:p>
                      <a:pPr>
                        <a:defRPr sz="1050" b="0">
                          <a:solidFill>
                            <a:srgbClr val="000000"/>
                          </a:solidFill>
                          <a:latin typeface="Calibri"/>
                        </a:defRPr>
                      </a:pPr>
                      <a:r>
                        <a:t>Deliberatif, statis</a:t>
                      </a:r>
                    </a:p>
                  </a:txBody>
                  <a:tcPr marL="54864" marR="54864" marT="18288" marB="18288">
                    <a:solidFill>
                      <a:srgbClr val="FFFFFF"/>
                    </a:solidFill>
                  </a:tcPr>
                </a:tc>
                <a:tc>
                  <a:txBody>
                    <a:bodyPr/>
                    <a:lstStyle/>
                    <a:p>
                      <a:pPr>
                        <a:defRPr sz="1050" b="0">
                          <a:solidFill>
                            <a:srgbClr val="000000"/>
                          </a:solidFill>
                          <a:latin typeface="Calibri"/>
                        </a:defRPr>
                      </a:pPr>
                      <a:r>
                        <a:t>B: fitur pelabuhan/carrier, riwayat outcome. D: estimasi risiko akurat. I: memberi p roll-over dan trust</a:t>
                      </a:r>
                    </a:p>
                  </a:txBody>
                  <a:tcPr marL="54864" marR="54864" marT="18288" marB="18288">
                    <a:solidFill>
                      <a:srgbClr val="FFFFFF"/>
                    </a:solidFill>
                  </a:tcPr>
                </a:tc>
                <a:tc>
                  <a:txBody>
                    <a:bodyPr/>
                    <a:lstStyle/>
                    <a:p>
                      <a:pPr>
                        <a:defRPr sz="1050" b="0">
                          <a:solidFill>
                            <a:srgbClr val="000000"/>
                          </a:solidFill>
                          <a:latin typeface="Calibri"/>
                        </a:defRPr>
                      </a:pPr>
                      <a:r>
                        <a:t>Regresi logistik (numpy), registri trust, kalibrasi (Brier)</a:t>
                      </a:r>
                    </a:p>
                  </a:txBody>
                  <a:tcPr marL="54864" marR="54864" marT="18288" marB="18288">
                    <a:solidFill>
                      <a:srgbClr val="FFFFFF"/>
                    </a:solidFill>
                  </a:tcPr>
                </a:tc>
                <a:tc>
                  <a:txBody>
                    <a:bodyPr/>
                    <a:lstStyle/>
                    <a:p>
                      <a:pPr>
                        <a:defRPr sz="1050" b="0">
                          <a:solidFill>
                            <a:srgbClr val="000000"/>
                          </a:solidFill>
                          <a:latin typeface="Calibri"/>
                        </a:defRPr>
                      </a:pPr>
                      <a:r>
                        <a:t>Fitur -&gt; p; outcome -&gt; trust update</a:t>
                      </a:r>
                    </a:p>
                  </a:txBody>
                  <a:tcPr marL="54864" marR="54864" marT="18288" marB="18288">
                    <a:solidFill>
                      <a:srgbClr val="FFFFFF"/>
                    </a:solidFill>
                  </a:tcPr>
                </a:tc>
                <a:tc>
                  <a:txBody>
                    <a:bodyPr/>
                    <a:lstStyle/>
                    <a:p>
                      <a:pPr>
                        <a:defRPr sz="1050" b="0">
                          <a:solidFill>
                            <a:srgbClr val="000000"/>
                          </a:solidFill>
                          <a:latin typeface="Calibri"/>
                        </a:defRPr>
                      </a:pPr>
                      <a:r>
                        <a:t>Supervised ML + trust</a:t>
                      </a:r>
                    </a:p>
                  </a:txBody>
                  <a:tcPr marL="54864" marR="54864" marT="18288" marB="18288">
                    <a:solidFill>
                      <a:srgbClr val="FFFFFF"/>
                    </a:solidFill>
                  </a:tcPr>
                </a:tc>
                <a:tc>
                  <a:txBody>
                    <a:bodyPr/>
                    <a:lstStyle/>
                    <a:p>
                      <a:pPr>
                        <a:defRPr sz="1050" b="0">
                          <a:solidFill>
                            <a:srgbClr val="000000"/>
                          </a:solidFill>
                          <a:latin typeface="Calibri"/>
                        </a:defRPr>
                      </a:pPr>
                      <a:r>
                        <a:t>Supervise</a:t>
                      </a:r>
                    </a:p>
                  </a:txBody>
                  <a:tcPr marL="54864" marR="54864" marT="18288" marB="18288">
                    <a:solidFill>
                      <a:srgbClr val="FFFFFF"/>
                    </a:solidFill>
                  </a:tcPr>
                </a:tc>
              </a:tr>
              <a:tr h="568960">
                <a:tc>
                  <a:txBody>
                    <a:bodyPr/>
                    <a:lstStyle/>
                    <a:p>
                      <a:pPr>
                        <a:defRPr sz="1050" b="0">
                          <a:solidFill>
                            <a:srgbClr val="000000"/>
                          </a:solidFill>
                          <a:latin typeface="Calibri"/>
                        </a:defRPr>
                      </a:pPr>
                      <a:r>
                        <a:t>Freight Agent</a:t>
                      </a:r>
                    </a:p>
                  </a:txBody>
                  <a:tcPr marL="54864" marR="54864" marT="18288" marB="18288">
                    <a:solidFill>
                      <a:srgbClr val="FFFFFF"/>
                    </a:solidFill>
                  </a:tcPr>
                </a:tc>
                <a:tc>
                  <a:txBody>
                    <a:bodyPr/>
                    <a:lstStyle/>
                    <a:p>
                      <a:pPr>
                        <a:defRPr sz="1050" b="0">
                          <a:solidFill>
                            <a:srgbClr val="000000"/>
                          </a:solidFill>
                          <a:latin typeface="Calibri"/>
                        </a:defRPr>
                      </a:pPr>
                      <a:r>
                        <a:t>Deliberatif, statis</a:t>
                      </a:r>
                    </a:p>
                  </a:txBody>
                  <a:tcPr marL="54864" marR="54864" marT="18288" marB="18288">
                    <a:solidFill>
                      <a:srgbClr val="FFFFFF"/>
                    </a:solidFill>
                  </a:tcPr>
                </a:tc>
                <a:tc>
                  <a:txBody>
                    <a:bodyPr/>
                    <a:lstStyle/>
                    <a:p>
                      <a:pPr>
                        <a:defRPr sz="1050" b="0">
                          <a:solidFill>
                            <a:srgbClr val="000000"/>
                          </a:solidFill>
                          <a:latin typeface="Calibri"/>
                        </a:defRPr>
                      </a:pPr>
                      <a:r>
                        <a:t>B: tarif, closing, p, trust. D: berangkat sebelum LSD dengan biaya wajar. I: memilih carrier</a:t>
                      </a:r>
                    </a:p>
                  </a:txBody>
                  <a:tcPr marL="54864" marR="54864" marT="18288" marB="18288">
                    <a:solidFill>
                      <a:srgbClr val="FFFFFF"/>
                    </a:solidFill>
                  </a:tcPr>
                </a:tc>
                <a:tc>
                  <a:txBody>
                    <a:bodyPr/>
                    <a:lstStyle/>
                    <a:p>
                      <a:pPr>
                        <a:defRPr sz="1050" b="0">
                          <a:solidFill>
                            <a:srgbClr val="000000"/>
                          </a:solidFill>
                          <a:latin typeface="Calibri"/>
                        </a:defRPr>
                      </a:pPr>
                      <a:r>
                        <a:t>CNP klien, skor hibrida h, gerbang kelayakan g</a:t>
                      </a:r>
                    </a:p>
                  </a:txBody>
                  <a:tcPr marL="54864" marR="54864" marT="18288" marB="18288">
                    <a:solidFill>
                      <a:srgbClr val="FFFFFF"/>
                    </a:solidFill>
                  </a:tcPr>
                </a:tc>
                <a:tc>
                  <a:txBody>
                    <a:bodyPr/>
                    <a:lstStyle/>
                    <a:p>
                      <a:pPr>
                        <a:defRPr sz="1050" b="0">
                          <a:solidFill>
                            <a:srgbClr val="000000"/>
                          </a:solidFill>
                          <a:latin typeface="Calibri"/>
                        </a:defRPr>
                      </a:pPr>
                      <a:r>
                        <a:t>CFP -&gt; pilih carrier</a:t>
                      </a:r>
                    </a:p>
                  </a:txBody>
                  <a:tcPr marL="54864" marR="54864" marT="18288" marB="18288">
                    <a:solidFill>
                      <a:srgbClr val="FFFFFF"/>
                    </a:solidFill>
                  </a:tcPr>
                </a:tc>
                <a:tc>
                  <a:txBody>
                    <a:bodyPr/>
                    <a:lstStyle/>
                    <a:p>
                      <a:pPr>
                        <a:defRPr sz="1050" b="0">
                          <a:solidFill>
                            <a:srgbClr val="000000"/>
                          </a:solidFill>
                          <a:latin typeface="Calibri"/>
                        </a:defRPr>
                      </a:pPr>
                      <a:r>
                        <a:t>DSS + ML + kebijakan</a:t>
                      </a:r>
                    </a:p>
                  </a:txBody>
                  <a:tcPr marL="54864" marR="54864" marT="18288" marB="18288">
                    <a:solidFill>
                      <a:srgbClr val="FFFFFF"/>
                    </a:solidFill>
                  </a:tcPr>
                </a:tc>
                <a:tc>
                  <a:txBody>
                    <a:bodyPr/>
                    <a:lstStyle/>
                    <a:p>
                      <a:pPr>
                        <a:defRPr sz="1050" b="0">
                          <a:solidFill>
                            <a:srgbClr val="000000"/>
                          </a:solidFill>
                          <a:latin typeface="Calibri"/>
                        </a:defRPr>
                      </a:pPr>
                      <a:r>
                        <a:t>Delegate; Approve bila nilai tinggi</a:t>
                      </a:r>
                    </a:p>
                  </a:txBody>
                  <a:tcPr marL="54864" marR="54864" marT="18288" marB="18288">
                    <a:solidFill>
                      <a:srgbClr val="FFFFFF"/>
                    </a:solidFill>
                  </a:tcPr>
                </a:tc>
              </a:tr>
              <a:tr h="728980">
                <a:tc>
                  <a:txBody>
                    <a:bodyPr/>
                    <a:lstStyle/>
                    <a:p>
                      <a:pPr>
                        <a:defRPr sz="1050" b="0">
                          <a:solidFill>
                            <a:srgbClr val="000000"/>
                          </a:solidFill>
                          <a:latin typeface="Calibri"/>
                        </a:defRPr>
                      </a:pPr>
                      <a:r>
                        <a:t>Learning Agent</a:t>
                      </a:r>
                    </a:p>
                  </a:txBody>
                  <a:tcPr marL="54864" marR="54864" marT="18288" marB="18288">
                    <a:solidFill>
                      <a:srgbClr val="FFFFFF"/>
                    </a:solidFill>
                  </a:tcPr>
                </a:tc>
                <a:tc>
                  <a:txBody>
                    <a:bodyPr/>
                    <a:lstStyle/>
                    <a:p>
                      <a:pPr>
                        <a:defRPr sz="1050" b="0">
                          <a:solidFill>
                            <a:srgbClr val="000000"/>
                          </a:solidFill>
                          <a:latin typeface="Calibri"/>
                        </a:defRPr>
                      </a:pPr>
                      <a:r>
                        <a:t>Learning agent (Bab 2)</a:t>
                      </a:r>
                    </a:p>
                  </a:txBody>
                  <a:tcPr marL="54864" marR="54864" marT="18288" marB="18288">
                    <a:solidFill>
                      <a:srgbClr val="FFFFFF"/>
                    </a:solidFill>
                  </a:tcPr>
                </a:tc>
                <a:tc>
                  <a:txBody>
                    <a:bodyPr/>
                    <a:lstStyle/>
                    <a:p>
                      <a:pPr>
                        <a:defRPr sz="1050" b="0">
                          <a:solidFill>
                            <a:srgbClr val="000000"/>
                          </a:solidFill>
                          <a:latin typeface="Calibri"/>
                        </a:defRPr>
                      </a:pPr>
                      <a:r>
                        <a:t>B: state (slack, nilai, tahap). D: minimalkan biaya+penalti. I: normal atau lembur</a:t>
                      </a:r>
                    </a:p>
                  </a:txBody>
                  <a:tcPr marL="54864" marR="54864" marT="18288" marB="18288">
                    <a:solidFill>
                      <a:srgbClr val="FFFFFF"/>
                    </a:solidFill>
                  </a:tcPr>
                </a:tc>
                <a:tc>
                  <a:txBody>
                    <a:bodyPr/>
                    <a:lstStyle/>
                    <a:p>
                      <a:pPr>
                        <a:defRPr sz="1050" b="0">
                          <a:solidFill>
                            <a:srgbClr val="000000"/>
                          </a:solidFill>
                          <a:latin typeface="Calibri"/>
                        </a:defRPr>
                      </a:pPr>
                      <a:r>
                        <a:t>Performance element, critic, learning element (Q), problem generator (epsilon), guardrail anggaran</a:t>
                      </a:r>
                    </a:p>
                  </a:txBody>
                  <a:tcPr marL="54864" marR="54864" marT="18288" marB="18288">
                    <a:solidFill>
                      <a:srgbClr val="FFFFFF"/>
                    </a:solidFill>
                  </a:tcPr>
                </a:tc>
                <a:tc>
                  <a:txBody>
                    <a:bodyPr/>
                    <a:lstStyle/>
                    <a:p>
                      <a:pPr>
                        <a:defRPr sz="1050" b="0">
                          <a:solidFill>
                            <a:srgbClr val="000000"/>
                          </a:solidFill>
                          <a:latin typeface="Calibri"/>
                        </a:defRPr>
                      </a:pPr>
                      <a:r>
                        <a:t>State -&gt; aksi; outcome -&gt; update Q</a:t>
                      </a:r>
                    </a:p>
                  </a:txBody>
                  <a:tcPr marL="54864" marR="54864" marT="18288" marB="18288">
                    <a:solidFill>
                      <a:srgbClr val="FFFFFF"/>
                    </a:solidFill>
                  </a:tcPr>
                </a:tc>
                <a:tc>
                  <a:txBody>
                    <a:bodyPr/>
                    <a:lstStyle/>
                    <a:p>
                      <a:pPr>
                        <a:defRPr sz="1050" b="0">
                          <a:solidFill>
                            <a:srgbClr val="000000"/>
                          </a:solidFill>
                          <a:latin typeface="Calibri"/>
                        </a:defRPr>
                      </a:pPr>
                      <a:r>
                        <a:t>Q-learning tabular (RL)</a:t>
                      </a:r>
                    </a:p>
                  </a:txBody>
                  <a:tcPr marL="54864" marR="54864" marT="18288" marB="18288">
                    <a:solidFill>
                      <a:srgbClr val="FFFFFF"/>
                    </a:solidFill>
                  </a:tcPr>
                </a:tc>
                <a:tc>
                  <a:txBody>
                    <a:bodyPr/>
                    <a:lstStyle/>
                    <a:p>
                      <a:pPr>
                        <a:defRPr sz="1050" b="0">
                          <a:solidFill>
                            <a:srgbClr val="000000"/>
                          </a:solidFill>
                          <a:latin typeface="Calibri"/>
                        </a:defRPr>
                      </a:pPr>
                      <a:r>
                        <a:t>Supervise, batas anggaran</a:t>
                      </a:r>
                    </a:p>
                  </a:txBody>
                  <a:tcPr marL="54864" marR="54864" marT="18288" marB="18288">
                    <a:solidFill>
                      <a:srgbClr val="FFFFFF"/>
                    </a:solidFill>
                  </a:tcPr>
                </a:tc>
              </a:tr>
              <a:tr h="728980">
                <a:tc>
                  <a:txBody>
                    <a:bodyPr/>
                    <a:lstStyle/>
                    <a:p>
                      <a:pPr>
                        <a:defRPr sz="1050" b="0">
                          <a:solidFill>
                            <a:srgbClr val="000000"/>
                          </a:solidFill>
                          <a:latin typeface="Calibri"/>
                        </a:defRPr>
                      </a:pPr>
                      <a:r>
                        <a:t>Governance &amp; Security Agent</a:t>
                      </a:r>
                    </a:p>
                  </a:txBody>
                  <a:tcPr marL="54864" marR="54864" marT="18288" marB="18288">
                    <a:solidFill>
                      <a:srgbClr val="FFFFFF"/>
                    </a:solidFill>
                  </a:tcPr>
                </a:tc>
                <a:tc>
                  <a:txBody>
                    <a:bodyPr/>
                    <a:lstStyle/>
                    <a:p>
                      <a:pPr>
                        <a:defRPr sz="1050" b="0">
                          <a:solidFill>
                            <a:srgbClr val="000000"/>
                          </a:solidFill>
                          <a:latin typeface="Calibri"/>
                        </a:defRPr>
                      </a:pPr>
                      <a:r>
                        <a:t>Deliberatif, statis (bidang kontrol)</a:t>
                      </a:r>
                    </a:p>
                  </a:txBody>
                  <a:tcPr marL="54864" marR="54864" marT="18288" marB="18288">
                    <a:solidFill>
                      <a:srgbClr val="FFFFFF"/>
                    </a:solidFill>
                  </a:tcPr>
                </a:tc>
                <a:tc>
                  <a:txBody>
                    <a:bodyPr/>
                    <a:lstStyle/>
                    <a:p>
                      <a:pPr>
                        <a:defRPr sz="1050" b="0">
                          <a:solidFill>
                            <a:srgbClr val="000000"/>
                          </a:solidFill>
                          <a:latin typeface="Calibri"/>
                        </a:defRPr>
                      </a:pPr>
                      <a:r>
                        <a:t>B: kebijakan, identitas, quality score/trust, level otonomi. D: keputusan sah dan dapat diaudit. I: izinkan/tolak/eskalasi</a:t>
                      </a:r>
                    </a:p>
                  </a:txBody>
                  <a:tcPr marL="54864" marR="54864" marT="18288" marB="18288">
                    <a:solidFill>
                      <a:srgbClr val="FFFFFF"/>
                    </a:solidFill>
                  </a:tcPr>
                </a:tc>
                <a:tc>
                  <a:txBody>
                    <a:bodyPr/>
                    <a:lstStyle/>
                    <a:p>
                      <a:pPr>
                        <a:defRPr sz="1050" b="0">
                          <a:solidFill>
                            <a:srgbClr val="000000"/>
                          </a:solidFill>
                          <a:latin typeface="Calibri"/>
                        </a:defRPr>
                      </a:pPr>
                      <a:r>
                        <a:t>Policy engine, capability, HMAC + nonce, FSM protokol, audit log rantai-hash, batas konsentrasi</a:t>
                      </a:r>
                    </a:p>
                  </a:txBody>
                  <a:tcPr marL="54864" marR="54864" marT="18288" marB="18288">
                    <a:solidFill>
                      <a:srgbClr val="FFFFFF"/>
                    </a:solidFill>
                  </a:tcPr>
                </a:tc>
                <a:tc>
                  <a:txBody>
                    <a:bodyPr/>
                    <a:lstStyle/>
                    <a:p>
                      <a:pPr>
                        <a:defRPr sz="1050" b="0">
                          <a:solidFill>
                            <a:srgbClr val="000000"/>
                          </a:solidFill>
                          <a:latin typeface="Calibri"/>
                        </a:defRPr>
                      </a:pPr>
                      <a:r>
                        <a:t>Pesan/aksi -&gt; allow/deny/level 1-4</a:t>
                      </a:r>
                    </a:p>
                  </a:txBody>
                  <a:tcPr marL="54864" marR="54864" marT="18288" marB="18288">
                    <a:solidFill>
                      <a:srgbClr val="FFFFFF"/>
                    </a:solidFill>
                  </a:tcPr>
                </a:tc>
                <a:tc>
                  <a:txBody>
                    <a:bodyPr/>
                    <a:lstStyle/>
                    <a:p>
                      <a:pPr>
                        <a:defRPr sz="1050" b="0">
                          <a:solidFill>
                            <a:srgbClr val="000000"/>
                          </a:solidFill>
                          <a:latin typeface="Calibri"/>
                        </a:defRPr>
                      </a:pPr>
                      <a:r>
                        <a:t>Rule-based (deterministik)</a:t>
                      </a:r>
                    </a:p>
                  </a:txBody>
                  <a:tcPr marL="54864" marR="54864" marT="18288" marB="18288">
                    <a:solidFill>
                      <a:srgbClr val="FFFFFF"/>
                    </a:solidFill>
                  </a:tcPr>
                </a:tc>
                <a:tc>
                  <a:txBody>
                    <a:bodyPr/>
                    <a:lstStyle/>
                    <a:p>
                      <a:pPr>
                        <a:defRPr sz="1050" b="0">
                          <a:solidFill>
                            <a:srgbClr val="000000"/>
                          </a:solidFill>
                          <a:latin typeface="Calibri"/>
                        </a:defRPr>
                      </a:pPr>
                      <a:r>
                        <a:t>Delegate</a:t>
                      </a:r>
                    </a:p>
                  </a:txBody>
                  <a:tcPr marL="54864" marR="54864" marT="18288" marB="18288">
                    <a:solidFill>
                      <a:srgbClr val="FFFFFF"/>
                    </a:solidFill>
                  </a:tcPr>
                </a:tc>
              </a:tr>
              <a:tr h="568960">
                <a:tc>
                  <a:txBody>
                    <a:bodyPr/>
                    <a:lstStyle/>
                    <a:p>
                      <a:pPr>
                        <a:defRPr sz="1050" b="0">
                          <a:solidFill>
                            <a:srgbClr val="000000"/>
                          </a:solidFill>
                          <a:latin typeface="Calibri"/>
                        </a:defRPr>
                      </a:pPr>
                      <a:r>
                        <a:t>Scout Agent</a:t>
                      </a:r>
                    </a:p>
                  </a:txBody>
                  <a:tcPr marL="54864" marR="54864" marT="18288" marB="18288">
                    <a:solidFill>
                      <a:srgbClr val="FFFFFF"/>
                    </a:solidFill>
                  </a:tcPr>
                </a:tc>
                <a:tc>
                  <a:txBody>
                    <a:bodyPr/>
                    <a:lstStyle/>
                    <a:p>
                      <a:pPr>
                        <a:defRPr sz="1050" b="0">
                          <a:solidFill>
                            <a:srgbClr val="000000"/>
                          </a:solidFill>
                          <a:latin typeface="Calibri"/>
                        </a:defRPr>
                      </a:pPr>
                      <a:r>
                        <a:t>Mobile, deliberatif</a:t>
                      </a:r>
                    </a:p>
                  </a:txBody>
                  <a:tcPr marL="54864" marR="54864" marT="18288" marB="18288">
                    <a:solidFill>
                      <a:srgbClr val="FFFFFF"/>
                    </a:solidFill>
                  </a:tcPr>
                </a:tc>
                <a:tc>
                  <a:txBody>
                    <a:bodyPr/>
                    <a:lstStyle/>
                    <a:p>
                      <a:pPr>
                        <a:defRPr sz="1050" b="0">
                          <a:solidFill>
                            <a:srgbClr val="000000"/>
                          </a:solidFill>
                          <a:latin typeface="Calibri"/>
                        </a:defRPr>
                      </a:pPr>
                      <a:r>
                        <a:t>B: host dan trust. D: jadwal terkini dengan trafik minimal. I: migrasi jika aman</a:t>
                      </a:r>
                    </a:p>
                  </a:txBody>
                  <a:tcPr marL="54864" marR="54864" marT="18288" marB="18288">
                    <a:solidFill>
                      <a:srgbClr val="FFFFFF"/>
                    </a:solidFill>
                  </a:tcPr>
                </a:tc>
                <a:tc>
                  <a:txBody>
                    <a:bodyPr/>
                    <a:lstStyle/>
                    <a:p>
                      <a:pPr>
                        <a:defRPr sz="1050" b="0">
                          <a:solidFill>
                            <a:srgbClr val="000000"/>
                          </a:solidFill>
                          <a:latin typeface="Calibri"/>
                        </a:defRPr>
                      </a:pPr>
                      <a:r>
                        <a:t>Serialisasi state, verifikasi hash/HMAC, pemilih host, sandbox</a:t>
                      </a:r>
                    </a:p>
                  </a:txBody>
                  <a:tcPr marL="54864" marR="54864" marT="18288" marB="18288">
                    <a:solidFill>
                      <a:srgbClr val="FFFFFF"/>
                    </a:solidFill>
                  </a:tcPr>
                </a:tc>
                <a:tc>
                  <a:txBody>
                    <a:bodyPr/>
                    <a:lstStyle/>
                    <a:p>
                      <a:pPr>
                        <a:defRPr sz="1050" b="0">
                          <a:solidFill>
                            <a:srgbClr val="000000"/>
                          </a:solidFill>
                          <a:latin typeface="Calibri"/>
                        </a:defRPr>
                      </a:pPr>
                      <a:r>
                        <a:t>Host tepercaya -&gt; closing time (2 KB)</a:t>
                      </a:r>
                    </a:p>
                  </a:txBody>
                  <a:tcPr marL="54864" marR="54864" marT="18288" marB="18288">
                    <a:solidFill>
                      <a:srgbClr val="FFFFFF"/>
                    </a:solidFill>
                  </a:tcPr>
                </a:tc>
                <a:tc>
                  <a:txBody>
                    <a:bodyPr/>
                    <a:lstStyle/>
                    <a:p>
                      <a:pPr>
                        <a:defRPr sz="1050" b="0">
                          <a:solidFill>
                            <a:srgbClr val="000000"/>
                          </a:solidFill>
                          <a:latin typeface="Calibri"/>
                        </a:defRPr>
                      </a:pPr>
                      <a:r>
                        <a:t>Aturan + skor komposit</a:t>
                      </a:r>
                    </a:p>
                  </a:txBody>
                  <a:tcPr marL="54864" marR="54864" marT="18288" marB="18288">
                    <a:solidFill>
                      <a:srgbClr val="FFFFFF"/>
                    </a:solidFill>
                  </a:tcPr>
                </a:tc>
                <a:tc>
                  <a:txBody>
                    <a:bodyPr/>
                    <a:lstStyle/>
                    <a:p>
                      <a:pPr>
                        <a:defRPr sz="1050" b="0">
                          <a:solidFill>
                            <a:srgbClr val="000000"/>
                          </a:solidFill>
                          <a:latin typeface="Calibri"/>
                        </a:defRPr>
                      </a:pPr>
                      <a:r>
                        <a:t>Supervise</a:t>
                      </a:r>
                    </a:p>
                  </a:txBody>
                  <a:tcPr marL="54864" marR="54864" marT="18288" marB="18288">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5.2 Peta agen ke kode (berkas di src/kraka_mas)</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21</a:t>
            </a:r>
          </a:p>
        </p:txBody>
      </p:sp>
      <p:graphicFrame>
        <p:nvGraphicFramePr>
          <p:cNvPr id="6" name="Table 5"/>
          <p:cNvGraphicFramePr>
            <a:graphicFrameLocks noGrp="1"/>
          </p:cNvGraphicFramePr>
          <p:nvPr/>
        </p:nvGraphicFramePr>
        <p:xfrm>
          <a:off x="274320" y="960120"/>
          <a:ext cx="11887200" cy="4925060"/>
        </p:xfrm>
        <a:graphic>
          <a:graphicData uri="http://schemas.openxmlformats.org/drawingml/2006/table">
            <a:tbl>
              <a:tblPr firstRow="1" bandRow="1">
                <a:tableStyleId>{5C22544A-7EE6-4342-B048-85BDC9FD1C3A}</a:tableStyleId>
              </a:tblPr>
              <a:tblGrid>
                <a:gridCol w="2377440"/>
                <a:gridCol w="2377440"/>
                <a:gridCol w="4206240"/>
                <a:gridCol w="2926080"/>
              </a:tblGrid>
              <a:tr h="248920">
                <a:tc>
                  <a:txBody>
                    <a:bodyPr/>
                    <a:lstStyle/>
                    <a:p>
                      <a:pPr>
                        <a:defRPr sz="1050" b="1">
                          <a:solidFill>
                            <a:srgbClr val="000000"/>
                          </a:solidFill>
                          <a:latin typeface="Calibri"/>
                        </a:defRPr>
                      </a:pPr>
                      <a:r>
                        <a:t>Agen</a:t>
                      </a:r>
                    </a:p>
                  </a:txBody>
                  <a:tcPr marL="54864" marR="54864" marT="18288" marB="18288">
                    <a:solidFill>
                      <a:srgbClr val="E5E7EB"/>
                    </a:solidFill>
                  </a:tcPr>
                </a:tc>
                <a:tc>
                  <a:txBody>
                    <a:bodyPr/>
                    <a:lstStyle/>
                    <a:p>
                      <a:pPr>
                        <a:defRPr sz="1050" b="1">
                          <a:solidFill>
                            <a:srgbClr val="000000"/>
                          </a:solidFill>
                          <a:latin typeface="Calibri"/>
                        </a:defRPr>
                      </a:pPr>
                      <a:r>
                        <a:t>Berkas kode</a:t>
                      </a:r>
                    </a:p>
                  </a:txBody>
                  <a:tcPr marL="54864" marR="54864" marT="18288" marB="18288">
                    <a:solidFill>
                      <a:srgbClr val="E5E7EB"/>
                    </a:solidFill>
                  </a:tcPr>
                </a:tc>
                <a:tc>
                  <a:txBody>
                    <a:bodyPr/>
                    <a:lstStyle/>
                    <a:p>
                      <a:pPr>
                        <a:defRPr sz="1050" b="1">
                          <a:solidFill>
                            <a:srgbClr val="000000"/>
                          </a:solidFill>
                          <a:latin typeface="Calibri"/>
                        </a:defRPr>
                      </a:pPr>
                      <a:r>
                        <a:t>Fungsi / kelas utama</a:t>
                      </a:r>
                    </a:p>
                  </a:txBody>
                  <a:tcPr marL="54864" marR="54864" marT="18288" marB="18288">
                    <a:solidFill>
                      <a:srgbClr val="E5E7EB"/>
                    </a:solidFill>
                  </a:tcPr>
                </a:tc>
                <a:tc>
                  <a:txBody>
                    <a:bodyPr/>
                    <a:lstStyle/>
                    <a:p>
                      <a:pPr>
                        <a:defRPr sz="1050" b="1">
                          <a:solidFill>
                            <a:srgbClr val="000000"/>
                          </a:solidFill>
                          <a:latin typeface="Calibri"/>
                        </a:defRPr>
                      </a:pPr>
                      <a:r>
                        <a:t>Diuji oleh</a:t>
                      </a:r>
                    </a:p>
                  </a:txBody>
                  <a:tcPr marL="54864" marR="54864" marT="18288" marB="18288">
                    <a:solidFill>
                      <a:srgbClr val="E5E7EB"/>
                    </a:solidFill>
                  </a:tcPr>
                </a:tc>
              </a:tr>
              <a:tr h="408940">
                <a:tc>
                  <a:txBody>
                    <a:bodyPr/>
                    <a:lstStyle/>
                    <a:p>
                      <a:pPr>
                        <a:defRPr sz="1050" b="0">
                          <a:solidFill>
                            <a:srgbClr val="000000"/>
                          </a:solidFill>
                          <a:latin typeface="Calibri"/>
                        </a:defRPr>
                      </a:pPr>
                      <a:r>
                        <a:t>Marketing &amp; Ads Agent</a:t>
                      </a:r>
                    </a:p>
                  </a:txBody>
                  <a:tcPr marL="54864" marR="54864" marT="18288" marB="18288">
                    <a:solidFill>
                      <a:srgbClr val="FFFFFF"/>
                    </a:solidFill>
                  </a:tcPr>
                </a:tc>
                <a:tc>
                  <a:txBody>
                    <a:bodyPr/>
                    <a:lstStyle/>
                    <a:p>
                      <a:pPr>
                        <a:defRPr sz="1050" b="0">
                          <a:solidFill>
                            <a:srgbClr val="000000"/>
                          </a:solidFill>
                          <a:latin typeface="Calibri"/>
                        </a:defRPr>
                      </a:pPr>
                      <a:r>
                        <a:t>marketing.py</a:t>
                      </a:r>
                    </a:p>
                  </a:txBody>
                  <a:tcPr marL="54864" marR="54864" marT="18288" marB="18288">
                    <a:solidFill>
                      <a:srgbClr val="FFFFFF"/>
                    </a:solidFill>
                  </a:tcPr>
                </a:tc>
                <a:tc>
                  <a:txBody>
                    <a:bodyPr/>
                    <a:lstStyle/>
                    <a:p>
                      <a:pPr>
                        <a:defRPr sz="1050" b="0">
                          <a:solidFill>
                            <a:srgbClr val="000000"/>
                          </a:solidFill>
                          <a:latin typeface="Calibri"/>
                        </a:defRPr>
                      </a:pPr>
                      <a:r>
                        <a:t>run_once (pembagi anggaran Thompson sampling), run, run_all</a:t>
                      </a:r>
                    </a:p>
                  </a:txBody>
                  <a:tcPr marL="54864" marR="54864" marT="18288" marB="18288">
                    <a:solidFill>
                      <a:srgbClr val="FFFFFF"/>
                    </a:solidFill>
                  </a:tcPr>
                </a:tc>
                <a:tc>
                  <a:txBody>
                    <a:bodyPr/>
                    <a:lstStyle/>
                    <a:p>
                      <a:pPr>
                        <a:defRPr sz="1050" b="0">
                          <a:solidFill>
                            <a:srgbClr val="000000"/>
                          </a:solidFill>
                          <a:latin typeface="Calibri"/>
                        </a:defRPr>
                      </a:pPr>
                      <a:r>
                        <a:t>keluaran outputs/marketing.json</a:t>
                      </a:r>
                    </a:p>
                  </a:txBody>
                  <a:tcPr marL="54864" marR="54864" marT="18288" marB="18288">
                    <a:solidFill>
                      <a:srgbClr val="FFFFFF"/>
                    </a:solidFill>
                  </a:tcPr>
                </a:tc>
              </a:tr>
              <a:tr h="408940">
                <a:tc>
                  <a:txBody>
                    <a:bodyPr/>
                    <a:lstStyle/>
                    <a:p>
                      <a:pPr>
                        <a:defRPr sz="1050" b="0">
                          <a:solidFill>
                            <a:srgbClr val="000000"/>
                          </a:solidFill>
                          <a:latin typeface="Calibri"/>
                        </a:defRPr>
                      </a:pPr>
                      <a:r>
                        <a:t>Sales Agent (Virtual SDR)</a:t>
                      </a:r>
                    </a:p>
                  </a:txBody>
                  <a:tcPr marL="54864" marR="54864" marT="18288" marB="18288">
                    <a:solidFill>
                      <a:srgbClr val="FFFFFF"/>
                    </a:solidFill>
                  </a:tcPr>
                </a:tc>
                <a:tc>
                  <a:txBody>
                    <a:bodyPr/>
                    <a:lstStyle/>
                    <a:p>
                      <a:pPr>
                        <a:defRPr sz="1050" b="0">
                          <a:solidFill>
                            <a:srgbClr val="000000"/>
                          </a:solidFill>
                          <a:latin typeface="Calibri"/>
                        </a:defRPr>
                      </a:pPr>
                      <a:r>
                        <a:t>sales.py, negotiation.py</a:t>
                      </a:r>
                    </a:p>
                  </a:txBody>
                  <a:tcPr marL="54864" marR="54864" marT="18288" marB="18288">
                    <a:solidFill>
                      <a:srgbClr val="FFFFFF"/>
                    </a:solidFill>
                  </a:tcPr>
                </a:tc>
                <a:tc>
                  <a:txBody>
                    <a:bodyPr/>
                    <a:lstStyle/>
                    <a:p>
                      <a:pPr>
                        <a:defRPr sz="1050" b="0">
                          <a:solidFill>
                            <a:srgbClr val="000000"/>
                          </a:solidFill>
                          <a:latin typeface="Calibri"/>
                        </a:defRPr>
                      </a:pPr>
                      <a:r>
                        <a:t>run, worked_negotiation; concession, negotiate, nash_bargaining</a:t>
                      </a:r>
                    </a:p>
                  </a:txBody>
                  <a:tcPr marL="54864" marR="54864" marT="18288" marB="18288">
                    <a:solidFill>
                      <a:srgbClr val="FFFFFF"/>
                    </a:solidFill>
                  </a:tcPr>
                </a:tc>
                <a:tc>
                  <a:txBody>
                    <a:bodyPr/>
                    <a:lstStyle/>
                    <a:p>
                      <a:pPr>
                        <a:defRPr sz="1050" b="0">
                          <a:solidFill>
                            <a:srgbClr val="000000"/>
                          </a:solidFill>
                          <a:latin typeface="Calibri"/>
                        </a:defRPr>
                      </a:pPr>
                      <a:r>
                        <a:t>test_sdr_faster_and_converts_more</a:t>
                      </a:r>
                    </a:p>
                  </a:txBody>
                  <a:tcPr marL="54864" marR="54864" marT="18288" marB="18288">
                    <a:solidFill>
                      <a:srgbClr val="FFFFFF"/>
                    </a:solidFill>
                  </a:tcPr>
                </a:tc>
              </a:tr>
              <a:tr h="408940">
                <a:tc>
                  <a:txBody>
                    <a:bodyPr/>
                    <a:lstStyle/>
                    <a:p>
                      <a:pPr>
                        <a:defRPr sz="1050" b="0">
                          <a:solidFill>
                            <a:srgbClr val="000000"/>
                          </a:solidFill>
                          <a:latin typeface="Calibri"/>
                        </a:defRPr>
                      </a:pPr>
                      <a:r>
                        <a:t>Order Agent</a:t>
                      </a:r>
                    </a:p>
                  </a:txBody>
                  <a:tcPr marL="54864" marR="54864" marT="18288" marB="18288">
                    <a:solidFill>
                      <a:srgbClr val="FFFFFF"/>
                    </a:solidFill>
                  </a:tcPr>
                </a:tc>
                <a:tc>
                  <a:txBody>
                    <a:bodyPr/>
                    <a:lstStyle/>
                    <a:p>
                      <a:pPr>
                        <a:defRPr sz="1050" b="0">
                          <a:solidFill>
                            <a:srgbClr val="000000"/>
                          </a:solidFill>
                          <a:latin typeface="Calibri"/>
                        </a:defRPr>
                      </a:pPr>
                      <a:r>
                        <a:t>consortium.py, sim.py</a:t>
                      </a:r>
                    </a:p>
                  </a:txBody>
                  <a:tcPr marL="54864" marR="54864" marT="18288" marB="18288">
                    <a:solidFill>
                      <a:srgbClr val="FFFFFF"/>
                    </a:solidFill>
                  </a:tcPr>
                </a:tc>
                <a:tc>
                  <a:txBody>
                    <a:bodyPr/>
                    <a:lstStyle/>
                    <a:p>
                      <a:pPr>
                        <a:defRPr sz="1050" b="0">
                          <a:solidFill>
                            <a:srgbClr val="000000"/>
                          </a:solidFill>
                          <a:latin typeface="Calibri"/>
                        </a:defRPr>
                      </a:pPr>
                      <a:r>
                        <a:t>Sourcing.run (putaran CFP), Sim.book (pemilihan carrier), Sim.start_docs</a:t>
                      </a:r>
                    </a:p>
                  </a:txBody>
                  <a:tcPr marL="54864" marR="54864" marT="18288" marB="18288">
                    <a:solidFill>
                      <a:srgbClr val="FFFFFF"/>
                    </a:solidFill>
                  </a:tcPr>
                </a:tc>
                <a:tc>
                  <a:txBody>
                    <a:bodyPr/>
                    <a:lstStyle/>
                    <a:p>
                      <a:pPr>
                        <a:defRPr sz="1050" b="0">
                          <a:solidFill>
                            <a:srgbClr val="000000"/>
                          </a:solidFill>
                          <a:latin typeface="Calibri"/>
                        </a:defRPr>
                      </a:pPr>
                      <a:r>
                        <a:t>test_all_orders_ship_and_accounting_consistent</a:t>
                      </a:r>
                    </a:p>
                  </a:txBody>
                  <a:tcPr marL="54864" marR="54864" marT="18288" marB="18288">
                    <a:solidFill>
                      <a:srgbClr val="FFFFFF"/>
                    </a:solidFill>
                  </a:tcPr>
                </a:tc>
              </a:tr>
              <a:tr h="408940">
                <a:tc>
                  <a:txBody>
                    <a:bodyPr/>
                    <a:lstStyle/>
                    <a:p>
                      <a:pPr>
                        <a:defRPr sz="1050" b="0">
                          <a:solidFill>
                            <a:srgbClr val="000000"/>
                          </a:solidFill>
                          <a:latin typeface="Calibri"/>
                        </a:defRPr>
                      </a:pPr>
                      <a:r>
                        <a:t>Producer Agent</a:t>
                      </a:r>
                    </a:p>
                  </a:txBody>
                  <a:tcPr marL="54864" marR="54864" marT="18288" marB="18288">
                    <a:solidFill>
                      <a:srgbClr val="FFFFFF"/>
                    </a:solidFill>
                  </a:tcPr>
                </a:tc>
                <a:tc>
                  <a:txBody>
                    <a:bodyPr/>
                    <a:lstStyle/>
                    <a:p>
                      <a:pPr>
                        <a:defRPr sz="1050" b="0">
                          <a:solidFill>
                            <a:srgbClr val="000000"/>
                          </a:solidFill>
                          <a:latin typeface="Calibri"/>
                        </a:defRPr>
                      </a:pPr>
                      <a:r>
                        <a:t>consortium.py, data.py</a:t>
                      </a:r>
                    </a:p>
                  </a:txBody>
                  <a:tcPr marL="54864" marR="54864" marT="18288" marB="18288">
                    <a:solidFill>
                      <a:srgbClr val="FFFFFF"/>
                    </a:solidFill>
                  </a:tcPr>
                </a:tc>
                <a:tc>
                  <a:txBody>
                    <a:bodyPr/>
                    <a:lstStyle/>
                    <a:p>
                      <a:pPr>
                        <a:defRPr sz="1050" b="0">
                          <a:solidFill>
                            <a:srgbClr val="000000"/>
                          </a:solidFill>
                          <a:latin typeface="Calibri"/>
                        </a:defRPr>
                      </a:pPr>
                      <a:r>
                        <a:t>Sourcing._allocate (tawaran, skor, kuota); make_scenario (produsen sintetis)</a:t>
                      </a:r>
                    </a:p>
                  </a:txBody>
                  <a:tcPr marL="54864" marR="54864" marT="18288" marB="18288">
                    <a:solidFill>
                      <a:srgbClr val="FFFFFF"/>
                    </a:solidFill>
                  </a:tcPr>
                </a:tc>
                <a:tc>
                  <a:txBody>
                    <a:bodyPr/>
                    <a:lstStyle/>
                    <a:p>
                      <a:pPr>
                        <a:defRPr sz="1050" b="0">
                          <a:solidFill>
                            <a:srgbClr val="000000"/>
                          </a:solidFill>
                          <a:latin typeface="Calibri"/>
                        </a:defRPr>
                      </a:pPr>
                      <a:r>
                        <a:t>test_no_producer_exceeds_concentration_cap</a:t>
                      </a:r>
                    </a:p>
                  </a:txBody>
                  <a:tcPr marL="54864" marR="54864" marT="18288" marB="18288">
                    <a:solidFill>
                      <a:srgbClr val="FFFFFF"/>
                    </a:solidFill>
                  </a:tcPr>
                </a:tc>
              </a:tr>
              <a:tr h="248920">
                <a:tc>
                  <a:txBody>
                    <a:bodyPr/>
                    <a:lstStyle/>
                    <a:p>
                      <a:pPr>
                        <a:defRPr sz="1050" b="0">
                          <a:solidFill>
                            <a:srgbClr val="000000"/>
                          </a:solidFill>
                          <a:latin typeface="Calibri"/>
                        </a:defRPr>
                      </a:pPr>
                      <a:r>
                        <a:t>QC Agent</a:t>
                      </a:r>
                    </a:p>
                  </a:txBody>
                  <a:tcPr marL="54864" marR="54864" marT="18288" marB="18288">
                    <a:solidFill>
                      <a:srgbClr val="FFFFFF"/>
                    </a:solidFill>
                  </a:tcPr>
                </a:tc>
                <a:tc>
                  <a:txBody>
                    <a:bodyPr/>
                    <a:lstStyle/>
                    <a:p>
                      <a:pPr>
                        <a:defRPr sz="1050" b="0">
                          <a:solidFill>
                            <a:srgbClr val="000000"/>
                          </a:solidFill>
                          <a:latin typeface="Calibri"/>
                        </a:defRPr>
                      </a:pPr>
                      <a:r>
                        <a:t>consortium.py</a:t>
                      </a:r>
                    </a:p>
                  </a:txBody>
                  <a:tcPr marL="54864" marR="54864" marT="18288" marB="18288">
                    <a:solidFill>
                      <a:srgbClr val="FFFFFF"/>
                    </a:solidFill>
                  </a:tcPr>
                </a:tc>
                <a:tc>
                  <a:txBody>
                    <a:bodyPr/>
                    <a:lstStyle/>
                    <a:p>
                      <a:pPr>
                        <a:defRPr sz="1050" b="0">
                          <a:solidFill>
                            <a:srgbClr val="000000"/>
                          </a:solidFill>
                          <a:latin typeface="Calibri"/>
                        </a:defRPr>
                      </a:pPr>
                      <a:r>
                        <a:t>Sourcing.run (hasil uji dan pembaruan skor mutu)</a:t>
                      </a:r>
                    </a:p>
                  </a:txBody>
                  <a:tcPr marL="54864" marR="54864" marT="18288" marB="18288">
                    <a:solidFill>
                      <a:srgbClr val="FFFFFF"/>
                    </a:solidFill>
                  </a:tcPr>
                </a:tc>
                <a:tc>
                  <a:txBody>
                    <a:bodyPr/>
                    <a:lstStyle/>
                    <a:p>
                      <a:pPr>
                        <a:defRPr sz="1050" b="0">
                          <a:solidFill>
                            <a:srgbClr val="000000"/>
                          </a:solidFill>
                          <a:latin typeface="Calibri"/>
                        </a:defRPr>
                      </a:pPr>
                      <a:r>
                        <a:t>test_trust_and_reliability_formulas</a:t>
                      </a:r>
                    </a:p>
                  </a:txBody>
                  <a:tcPr marL="54864" marR="54864" marT="18288" marB="18288">
                    <a:solidFill>
                      <a:srgbClr val="FFFFFF"/>
                    </a:solidFill>
                  </a:tcPr>
                </a:tc>
              </a:tr>
              <a:tr h="408940">
                <a:tc>
                  <a:txBody>
                    <a:bodyPr/>
                    <a:lstStyle/>
                    <a:p>
                      <a:pPr>
                        <a:defRPr sz="1050" b="0">
                          <a:solidFill>
                            <a:srgbClr val="000000"/>
                          </a:solidFill>
                          <a:latin typeface="Calibri"/>
                        </a:defRPr>
                      </a:pPr>
                      <a:r>
                        <a:t>Warehouse Line Agent</a:t>
                      </a:r>
                    </a:p>
                  </a:txBody>
                  <a:tcPr marL="54864" marR="54864" marT="18288" marB="18288">
                    <a:solidFill>
                      <a:srgbClr val="FFFFFF"/>
                    </a:solidFill>
                  </a:tcPr>
                </a:tc>
                <a:tc>
                  <a:txBody>
                    <a:bodyPr/>
                    <a:lstStyle/>
                    <a:p>
                      <a:pPr>
                        <a:defRPr sz="1050" b="0">
                          <a:solidFill>
                            <a:srgbClr val="000000"/>
                          </a:solidFill>
                          <a:latin typeface="Calibri"/>
                        </a:defRPr>
                      </a:pPr>
                      <a:r>
                        <a:t>sim.py, ml.py</a:t>
                      </a:r>
                    </a:p>
                  </a:txBody>
                  <a:tcPr marL="54864" marR="54864" marT="18288" marB="18288">
                    <a:solidFill>
                      <a:srgbClr val="FFFFFF"/>
                    </a:solidFill>
                  </a:tcPr>
                </a:tc>
                <a:tc>
                  <a:txBody>
                    <a:bodyPr/>
                    <a:lstStyle/>
                    <a:p>
                      <a:pPr>
                        <a:defRPr sz="1050" b="0">
                          <a:solidFill>
                            <a:srgbClr val="000000"/>
                          </a:solidFill>
                          <a:latin typeface="Calibri"/>
                        </a:defRPr>
                      </a:pPr>
                      <a:r>
                        <a:t>Sim.dispatch, Sim.pick_next, Sim.step_machines; health_slope</a:t>
                      </a:r>
                    </a:p>
                  </a:txBody>
                  <a:tcPr marL="54864" marR="54864" marT="18288" marB="18288">
                    <a:solidFill>
                      <a:srgbClr val="FFFFFF"/>
                    </a:solidFill>
                  </a:tcPr>
                </a:tc>
                <a:tc>
                  <a:txBody>
                    <a:bodyPr/>
                    <a:lstStyle/>
                    <a:p>
                      <a:pPr>
                        <a:defRPr sz="1050" b="0">
                          <a:solidFill>
                            <a:srgbClr val="000000"/>
                          </a:solidFill>
                          <a:latin typeface="Calibri"/>
                        </a:defRPr>
                      </a:pPr>
                      <a:r>
                        <a:t>test_health_slope_positive_trend</a:t>
                      </a:r>
                    </a:p>
                  </a:txBody>
                  <a:tcPr marL="54864" marR="54864" marT="18288" marB="18288">
                    <a:solidFill>
                      <a:srgbClr val="FFFFFF"/>
                    </a:solidFill>
                  </a:tcPr>
                </a:tc>
              </a:tr>
              <a:tr h="248920">
                <a:tc>
                  <a:txBody>
                    <a:bodyPr/>
                    <a:lstStyle/>
                    <a:p>
                      <a:pPr>
                        <a:defRPr sz="1050" b="0">
                          <a:solidFill>
                            <a:srgbClr val="000000"/>
                          </a:solidFill>
                          <a:latin typeface="Calibri"/>
                        </a:defRPr>
                      </a:pPr>
                      <a:r>
                        <a:t>Compliance Agent</a:t>
                      </a:r>
                    </a:p>
                  </a:txBody>
                  <a:tcPr marL="54864" marR="54864" marT="18288" marB="18288">
                    <a:solidFill>
                      <a:srgbClr val="FFFFFF"/>
                    </a:solidFill>
                  </a:tcPr>
                </a:tc>
                <a:tc>
                  <a:txBody>
                    <a:bodyPr/>
                    <a:lstStyle/>
                    <a:p>
                      <a:pPr>
                        <a:defRPr sz="1050" b="0">
                          <a:solidFill>
                            <a:srgbClr val="000000"/>
                          </a:solidFill>
                          <a:latin typeface="Calibri"/>
                        </a:defRPr>
                      </a:pPr>
                      <a:r>
                        <a:t>ml.py, sim.py</a:t>
                      </a:r>
                    </a:p>
                  </a:txBody>
                  <a:tcPr marL="54864" marR="54864" marT="18288" marB="18288">
                    <a:solidFill>
                      <a:srgbClr val="FFFFFF"/>
                    </a:solidFill>
                  </a:tcPr>
                </a:tc>
                <a:tc>
                  <a:txBody>
                    <a:bodyPr/>
                    <a:lstStyle/>
                    <a:p>
                      <a:pPr>
                        <a:defRPr sz="1050" b="0">
                          <a:solidFill>
                            <a:srgbClr val="000000"/>
                          </a:solidFill>
                          <a:latin typeface="Calibri"/>
                        </a:defRPr>
                      </a:pPr>
                      <a:r>
                        <a:t>HSClassifier, train_hs, selective_curve; Sim.hs_predict</a:t>
                      </a:r>
                    </a:p>
                  </a:txBody>
                  <a:tcPr marL="54864" marR="54864" marT="18288" marB="18288">
                    <a:solidFill>
                      <a:srgbClr val="FFFFFF"/>
                    </a:solidFill>
                  </a:tcPr>
                </a:tc>
                <a:tc>
                  <a:txBody>
                    <a:bodyPr/>
                    <a:lstStyle/>
                    <a:p>
                      <a:pPr>
                        <a:defRPr sz="1050" b="0">
                          <a:solidFill>
                            <a:srgbClr val="000000"/>
                          </a:solidFill>
                          <a:latin typeface="Calibri"/>
                        </a:defRPr>
                      </a:pPr>
                      <a:r>
                        <a:t>test_hs_catalog_contains_charcoal_and_tempe</a:t>
                      </a:r>
                    </a:p>
                  </a:txBody>
                  <a:tcPr marL="54864" marR="54864" marT="18288" marB="18288">
                    <a:solidFill>
                      <a:srgbClr val="FFFFFF"/>
                    </a:solidFill>
                  </a:tcPr>
                </a:tc>
              </a:tr>
              <a:tr h="248920">
                <a:tc>
                  <a:txBody>
                    <a:bodyPr/>
                    <a:lstStyle/>
                    <a:p>
                      <a:pPr>
                        <a:defRPr sz="1050" b="0">
                          <a:solidFill>
                            <a:srgbClr val="000000"/>
                          </a:solidFill>
                          <a:latin typeface="Calibri"/>
                        </a:defRPr>
                      </a:pPr>
                      <a:r>
                        <a:t>Risk Agent</a:t>
                      </a:r>
                    </a:p>
                  </a:txBody>
                  <a:tcPr marL="54864" marR="54864" marT="18288" marB="18288">
                    <a:solidFill>
                      <a:srgbClr val="FFFFFF"/>
                    </a:solidFill>
                  </a:tcPr>
                </a:tc>
                <a:tc>
                  <a:txBody>
                    <a:bodyPr/>
                    <a:lstStyle/>
                    <a:p>
                      <a:pPr>
                        <a:defRPr sz="1050" b="0">
                          <a:solidFill>
                            <a:srgbClr val="000000"/>
                          </a:solidFill>
                          <a:latin typeface="Calibri"/>
                        </a:defRPr>
                      </a:pPr>
                      <a:r>
                        <a:t>ml.py, data.py</a:t>
                      </a:r>
                    </a:p>
                  </a:txBody>
                  <a:tcPr marL="54864" marR="54864" marT="18288" marB="18288">
                    <a:solidFill>
                      <a:srgbClr val="FFFFFF"/>
                    </a:solidFill>
                  </a:tcPr>
                </a:tc>
                <a:tc>
                  <a:txBody>
                    <a:bodyPr/>
                    <a:lstStyle/>
                    <a:p>
                      <a:pPr>
                        <a:defRPr sz="1050" b="0">
                          <a:solidFill>
                            <a:srgbClr val="000000"/>
                          </a:solidFill>
                          <a:latin typeface="Calibri"/>
                        </a:defRPr>
                      </a:pPr>
                      <a:r>
                        <a:t>LogisticModel, train_risk; roll_prob</a:t>
                      </a:r>
                    </a:p>
                  </a:txBody>
                  <a:tcPr marL="54864" marR="54864" marT="18288" marB="18288">
                    <a:solidFill>
                      <a:srgbClr val="FFFFFF"/>
                    </a:solidFill>
                  </a:tcPr>
                </a:tc>
                <a:tc>
                  <a:txBody>
                    <a:bodyPr/>
                    <a:lstStyle/>
                    <a:p>
                      <a:pPr>
                        <a:defRPr sz="1050" b="0">
                          <a:solidFill>
                            <a:srgbClr val="000000"/>
                          </a:solidFill>
                          <a:latin typeface="Calibri"/>
                        </a:defRPr>
                      </a:pPr>
                      <a:r>
                        <a:t>test_roll_prob_monotone</a:t>
                      </a:r>
                    </a:p>
                  </a:txBody>
                  <a:tcPr marL="54864" marR="54864" marT="18288" marB="18288">
                    <a:solidFill>
                      <a:srgbClr val="FFFFFF"/>
                    </a:solidFill>
                  </a:tcPr>
                </a:tc>
              </a:tr>
              <a:tr h="248920">
                <a:tc>
                  <a:txBody>
                    <a:bodyPr/>
                    <a:lstStyle/>
                    <a:p>
                      <a:pPr>
                        <a:defRPr sz="1050" b="0">
                          <a:solidFill>
                            <a:srgbClr val="000000"/>
                          </a:solidFill>
                          <a:latin typeface="Calibri"/>
                        </a:defRPr>
                      </a:pPr>
                      <a:r>
                        <a:t>Freight Agent</a:t>
                      </a:r>
                    </a:p>
                  </a:txBody>
                  <a:tcPr marL="54864" marR="54864" marT="18288" marB="18288">
                    <a:solidFill>
                      <a:srgbClr val="FFFFFF"/>
                    </a:solidFill>
                  </a:tcPr>
                </a:tc>
                <a:tc>
                  <a:txBody>
                    <a:bodyPr/>
                    <a:lstStyle/>
                    <a:p>
                      <a:pPr>
                        <a:defRPr sz="1050" b="0">
                          <a:solidFill>
                            <a:srgbClr val="000000"/>
                          </a:solidFill>
                          <a:latin typeface="Calibri"/>
                        </a:defRPr>
                      </a:pPr>
                      <a:r>
                        <a:t>sim.py</a:t>
                      </a:r>
                    </a:p>
                  </a:txBody>
                  <a:tcPr marL="54864" marR="54864" marT="18288" marB="18288">
                    <a:solidFill>
                      <a:srgbClr val="FFFFFF"/>
                    </a:solidFill>
                  </a:tcPr>
                </a:tc>
                <a:tc>
                  <a:txBody>
                    <a:bodyPr/>
                    <a:lstStyle/>
                    <a:p>
                      <a:pPr>
                        <a:defRPr sz="1050" b="0">
                          <a:solidFill>
                            <a:srgbClr val="000000"/>
                          </a:solidFill>
                          <a:latin typeface="Calibri"/>
                        </a:defRPr>
                      </a:pPr>
                      <a:r>
                        <a:t>Sim.options, Sim.phat, Sim.book (lelang carrier)</a:t>
                      </a:r>
                    </a:p>
                  </a:txBody>
                  <a:tcPr marL="54864" marR="54864" marT="18288" marB="18288">
                    <a:solidFill>
                      <a:srgbClr val="FFFFFF"/>
                    </a:solidFill>
                  </a:tcPr>
                </a:tc>
                <a:tc>
                  <a:txBody>
                    <a:bodyPr/>
                    <a:lstStyle/>
                    <a:p>
                      <a:pPr>
                        <a:defRPr sz="1050" b="0">
                          <a:solidFill>
                            <a:srgbClr val="000000"/>
                          </a:solidFill>
                          <a:latin typeface="Calibri"/>
                        </a:defRPr>
                      </a:pPr>
                      <a:r>
                        <a:t>test_next_closing_and_penalty</a:t>
                      </a:r>
                    </a:p>
                  </a:txBody>
                  <a:tcPr marL="54864" marR="54864" marT="18288" marB="18288">
                    <a:solidFill>
                      <a:srgbClr val="FFFFFF"/>
                    </a:solidFill>
                  </a:tcPr>
                </a:tc>
              </a:tr>
              <a:tr h="248920">
                <a:tc>
                  <a:txBody>
                    <a:bodyPr/>
                    <a:lstStyle/>
                    <a:p>
                      <a:pPr>
                        <a:defRPr sz="1050" b="0">
                          <a:solidFill>
                            <a:srgbClr val="000000"/>
                          </a:solidFill>
                          <a:latin typeface="Calibri"/>
                        </a:defRPr>
                      </a:pPr>
                      <a:r>
                        <a:t>Learning Agent</a:t>
                      </a:r>
                    </a:p>
                  </a:txBody>
                  <a:tcPr marL="54864" marR="54864" marT="18288" marB="18288">
                    <a:solidFill>
                      <a:srgbClr val="FFFFFF"/>
                    </a:solidFill>
                  </a:tcPr>
                </a:tc>
                <a:tc>
                  <a:txBody>
                    <a:bodyPr/>
                    <a:lstStyle/>
                    <a:p>
                      <a:pPr>
                        <a:defRPr sz="1050" b="0">
                          <a:solidFill>
                            <a:srgbClr val="000000"/>
                          </a:solidFill>
                          <a:latin typeface="Calibri"/>
                        </a:defRPr>
                      </a:pPr>
                      <a:r>
                        <a:t>rl.py, rl_sim.py, sim.py</a:t>
                      </a:r>
                    </a:p>
                  </a:txBody>
                  <a:tcPr marL="54864" marR="54864" marT="18288" marB="18288">
                    <a:solidFill>
                      <a:srgbClr val="FFFFFF"/>
                    </a:solidFill>
                  </a:tcPr>
                </a:tc>
                <a:tc>
                  <a:txBody>
                    <a:bodyPr/>
                    <a:lstStyle/>
                    <a:p>
                      <a:pPr>
                        <a:defRPr sz="1050" b="0">
                          <a:solidFill>
                            <a:srgbClr val="000000"/>
                          </a:solidFill>
                          <a:latin typeface="Calibri"/>
                        </a:defRPr>
                      </a:pPr>
                      <a:r>
                        <a:t>train_q, train_in_sim; Sim._expedite</a:t>
                      </a:r>
                    </a:p>
                  </a:txBody>
                  <a:tcPr marL="54864" marR="54864" marT="18288" marB="18288">
                    <a:solidFill>
                      <a:srgbClr val="FFFFFF"/>
                    </a:solidFill>
                  </a:tcPr>
                </a:tc>
                <a:tc>
                  <a:txBody>
                    <a:bodyPr/>
                    <a:lstStyle/>
                    <a:p>
                      <a:pPr>
                        <a:defRPr sz="1050" b="0">
                          <a:solidFill>
                            <a:srgbClr val="000000"/>
                          </a:solidFill>
                          <a:latin typeface="Calibri"/>
                        </a:defRPr>
                      </a:pPr>
                      <a:r>
                        <a:t>test_q_learning_lecture_example</a:t>
                      </a:r>
                    </a:p>
                  </a:txBody>
                  <a:tcPr marL="54864" marR="54864" marT="18288" marB="18288">
                    <a:solidFill>
                      <a:srgbClr val="FFFFFF"/>
                    </a:solidFill>
                  </a:tcPr>
                </a:tc>
              </a:tr>
              <a:tr h="568960">
                <a:tc>
                  <a:txBody>
                    <a:bodyPr/>
                    <a:lstStyle/>
                    <a:p>
                      <a:pPr>
                        <a:defRPr sz="1050" b="0">
                          <a:solidFill>
                            <a:srgbClr val="000000"/>
                          </a:solidFill>
                          <a:latin typeface="Calibri"/>
                        </a:defRPr>
                      </a:pPr>
                      <a:r>
                        <a:t>Governance &amp; Security Agent</a:t>
                      </a:r>
                    </a:p>
                  </a:txBody>
                  <a:tcPr marL="54864" marR="54864" marT="18288" marB="18288">
                    <a:solidFill>
                      <a:srgbClr val="FFFFFF"/>
                    </a:solidFill>
                  </a:tcPr>
                </a:tc>
                <a:tc>
                  <a:txBody>
                    <a:bodyPr/>
                    <a:lstStyle/>
                    <a:p>
                      <a:pPr>
                        <a:defRPr sz="1050" b="0">
                          <a:solidFill>
                            <a:srgbClr val="000000"/>
                          </a:solidFill>
                          <a:latin typeface="Calibri"/>
                        </a:defRPr>
                      </a:pPr>
                      <a:r>
                        <a:t>messaging.py, sim.py</a:t>
                      </a:r>
                    </a:p>
                  </a:txBody>
                  <a:tcPr marL="54864" marR="54864" marT="18288" marB="18288">
                    <a:solidFill>
                      <a:srgbClr val="FFFFFF"/>
                    </a:solidFill>
                  </a:tcPr>
                </a:tc>
                <a:tc>
                  <a:txBody>
                    <a:bodyPr/>
                    <a:lstStyle/>
                    <a:p>
                      <a:pPr>
                        <a:defRPr sz="1050" b="0">
                          <a:solidFill>
                            <a:srgbClr val="000000"/>
                          </a:solidFill>
                          <a:latin typeface="Calibri"/>
                        </a:defRPr>
                      </a:pPr>
                      <a:r>
                        <a:t>MessageBus (tanda tangan, nonce, kapabilitas, urutan pesan, audit log)</a:t>
                      </a:r>
                    </a:p>
                  </a:txBody>
                  <a:tcPr marL="54864" marR="54864" marT="18288" marB="18288">
                    <a:solidFill>
                      <a:srgbClr val="FFFFFF"/>
                    </a:solidFill>
                  </a:tcPr>
                </a:tc>
                <a:tc>
                  <a:txBody>
                    <a:bodyPr/>
                    <a:lstStyle/>
                    <a:p>
                      <a:pPr>
                        <a:defRPr sz="1050" b="0">
                          <a:solidFill>
                            <a:srgbClr val="000000"/>
                          </a:solidFill>
                          <a:latin typeface="Calibri"/>
                        </a:defRPr>
                      </a:pPr>
                      <a:r>
                        <a:t>test_signature_tamper_rejected, test_replay_rejected, test_audit_chain_detects_tampering</a:t>
                      </a:r>
                    </a:p>
                  </a:txBody>
                  <a:tcPr marL="54864" marR="54864" marT="18288" marB="18288">
                    <a:solidFill>
                      <a:srgbClr val="FFFFFF"/>
                    </a:solidFill>
                  </a:tcPr>
                </a:tc>
              </a:tr>
              <a:tr h="408940">
                <a:tc>
                  <a:txBody>
                    <a:bodyPr/>
                    <a:lstStyle/>
                    <a:p>
                      <a:pPr>
                        <a:defRPr sz="1050" b="0">
                          <a:solidFill>
                            <a:srgbClr val="000000"/>
                          </a:solidFill>
                          <a:latin typeface="Calibri"/>
                        </a:defRPr>
                      </a:pPr>
                      <a:r>
                        <a:t>Scout Agent (mobile)</a:t>
                      </a:r>
                    </a:p>
                  </a:txBody>
                  <a:tcPr marL="54864" marR="54864" marT="18288" marB="18288">
                    <a:solidFill>
                      <a:srgbClr val="FFFFFF"/>
                    </a:solidFill>
                  </a:tcPr>
                </a:tc>
                <a:tc>
                  <a:txBody>
                    <a:bodyPr/>
                    <a:lstStyle/>
                    <a:p>
                      <a:pPr>
                        <a:defRPr sz="1050" b="0">
                          <a:solidFill>
                            <a:srgbClr val="000000"/>
                          </a:solidFill>
                          <a:latin typeface="Calibri"/>
                        </a:defRPr>
                      </a:pPr>
                      <a:r>
                        <a:t>mobile.py</a:t>
                      </a:r>
                    </a:p>
                  </a:txBody>
                  <a:tcPr marL="54864" marR="54864" marT="18288" marB="18288">
                    <a:solidFill>
                      <a:srgbClr val="FFFFFF"/>
                    </a:solidFill>
                  </a:tcPr>
                </a:tc>
                <a:tc>
                  <a:txBody>
                    <a:bodyPr/>
                    <a:lstStyle/>
                    <a:p>
                      <a:pPr>
                        <a:defRPr sz="1050" b="0">
                          <a:solidFill>
                            <a:srgbClr val="000000"/>
                          </a:solidFill>
                          <a:latin typeface="Calibri"/>
                        </a:defRPr>
                      </a:pPr>
                      <a:r>
                        <a:t>ScoutState, serialize, verify, query_carrier</a:t>
                      </a:r>
                    </a:p>
                  </a:txBody>
                  <a:tcPr marL="54864" marR="54864" marT="18288" marB="18288">
                    <a:solidFill>
                      <a:srgbClr val="FFFFFF"/>
                    </a:solidFill>
                  </a:tcPr>
                </a:tc>
                <a:tc>
                  <a:txBody>
                    <a:bodyPr/>
                    <a:lstStyle/>
                    <a:p>
                      <a:pPr>
                        <a:defRPr sz="1050" b="0">
                          <a:solidFill>
                            <a:srgbClr val="000000"/>
                          </a:solidFill>
                          <a:latin typeface="Calibri"/>
                        </a:defRPr>
                      </a:pPr>
                      <a:r>
                        <a:t>test_migration_rules, test_tampered_state_falls_back_to_remote_pull</a:t>
                      </a:r>
                    </a:p>
                  </a:txBody>
                  <a:tcPr marL="54864" marR="54864" marT="18288" marB="18288">
                    <a:solidFill>
                      <a:srgbClr val="FFFFFF"/>
                    </a:solidFill>
                  </a:tcPr>
                </a:tc>
              </a:tr>
              <a:tr h="408940">
                <a:tc>
                  <a:txBody>
                    <a:bodyPr/>
                    <a:lstStyle/>
                    <a:p>
                      <a:pPr>
                        <a:defRPr sz="1050" b="0">
                          <a:solidFill>
                            <a:srgbClr val="000000"/>
                          </a:solidFill>
                          <a:latin typeface="Calibri"/>
                        </a:defRPr>
                      </a:pPr>
                      <a:r>
                        <a:t>Simulator dan eksperimen</a:t>
                      </a:r>
                    </a:p>
                  </a:txBody>
                  <a:tcPr marL="54864" marR="54864" marT="18288" marB="18288">
                    <a:solidFill>
                      <a:srgbClr val="FFFFFF"/>
                    </a:solidFill>
                  </a:tcPr>
                </a:tc>
                <a:tc>
                  <a:txBody>
                    <a:bodyPr/>
                    <a:lstStyle/>
                    <a:p>
                      <a:pPr>
                        <a:defRPr sz="1050" b="0">
                          <a:solidFill>
                            <a:srgbClr val="000000"/>
                          </a:solidFill>
                          <a:latin typeface="Calibri"/>
                        </a:defRPr>
                      </a:pPr>
                      <a:r>
                        <a:t>sim.py, experiments.py, demo.py</a:t>
                      </a:r>
                    </a:p>
                  </a:txBody>
                  <a:tcPr marL="54864" marR="54864" marT="18288" marB="18288">
                    <a:solidFill>
                      <a:srgbClr val="FFFFFF"/>
                    </a:solidFill>
                  </a:tcPr>
                </a:tc>
                <a:tc>
                  <a:txBody>
                    <a:bodyPr/>
                    <a:lstStyle/>
                    <a:p>
                      <a:pPr>
                        <a:defRPr sz="1050" b="0">
                          <a:solidFill>
                            <a:srgbClr val="000000"/>
                          </a:solidFill>
                          <a:latin typeface="Calibri"/>
                        </a:defRPr>
                      </a:pPr>
                      <a:r>
                        <a:t>Sim.run, Sim.summary; python -m kraka_mas.experiments; python -m kraka_mas.demo</a:t>
                      </a:r>
                    </a:p>
                  </a:txBody>
                  <a:tcPr marL="54864" marR="54864" marT="18288" marB="18288">
                    <a:solidFill>
                      <a:srgbClr val="FFFFFF"/>
                    </a:solidFill>
                  </a:tcPr>
                </a:tc>
                <a:tc>
                  <a:txBody>
                    <a:bodyPr/>
                    <a:lstStyle/>
                    <a:p>
                      <a:pPr>
                        <a:defRPr sz="1050" b="0">
                          <a:solidFill>
                            <a:srgbClr val="000000"/>
                          </a:solidFill>
                          <a:latin typeface="Calibri"/>
                        </a:defRPr>
                      </a:pPr>
                      <a:r>
                        <a:t>test_deterministic</a:t>
                      </a:r>
                    </a:p>
                  </a:txBody>
                  <a:tcPr marL="54864" marR="54864" marT="18288" marB="18288">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5.2 AI, ML, DL, RL, atau LLM? Alasan pemilihan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22</a:t>
            </a:r>
          </a:p>
        </p:txBody>
      </p:sp>
      <p:graphicFrame>
        <p:nvGraphicFramePr>
          <p:cNvPr id="6" name="Table 5"/>
          <p:cNvGraphicFramePr>
            <a:graphicFrameLocks noGrp="1"/>
          </p:cNvGraphicFramePr>
          <p:nvPr/>
        </p:nvGraphicFramePr>
        <p:xfrm>
          <a:off x="228600" y="960120"/>
          <a:ext cx="11887200" cy="4485633"/>
        </p:xfrm>
        <a:graphic>
          <a:graphicData uri="http://schemas.openxmlformats.org/drawingml/2006/table">
            <a:tbl>
              <a:tblPr firstRow="1" bandRow="1">
                <a:tableStyleId>{5C22544A-7EE6-4342-B048-85BDC9FD1C3A}</a:tableStyleId>
              </a:tblPr>
              <a:tblGrid>
                <a:gridCol w="1645920"/>
                <a:gridCol w="2103120"/>
                <a:gridCol w="1188720"/>
                <a:gridCol w="3566160"/>
                <a:gridCol w="3383280"/>
              </a:tblGrid>
              <a:tr h="233679">
                <a:tc>
                  <a:txBody>
                    <a:bodyPr/>
                    <a:lstStyle/>
                    <a:p>
                      <a:pPr>
                        <a:defRPr sz="950" b="1">
                          <a:solidFill>
                            <a:srgbClr val="000000"/>
                          </a:solidFill>
                          <a:latin typeface="Calibri"/>
                        </a:defRPr>
                      </a:pPr>
                      <a:r>
                        <a:t>Komponen</a:t>
                      </a:r>
                    </a:p>
                  </a:txBody>
                  <a:tcPr marL="54864" marR="54864" marT="18288" marB="18288">
                    <a:solidFill>
                      <a:srgbClr val="E5E7EB"/>
                    </a:solidFill>
                  </a:tcPr>
                </a:tc>
                <a:tc>
                  <a:txBody>
                    <a:bodyPr/>
                    <a:lstStyle/>
                    <a:p>
                      <a:pPr>
                        <a:defRPr sz="950" b="1">
                          <a:solidFill>
                            <a:srgbClr val="000000"/>
                          </a:solidFill>
                          <a:latin typeface="Calibri"/>
                        </a:defRPr>
                      </a:pPr>
                      <a:r>
                        <a:t>Metode</a:t>
                      </a:r>
                    </a:p>
                  </a:txBody>
                  <a:tcPr marL="54864" marR="54864" marT="18288" marB="18288">
                    <a:solidFill>
                      <a:srgbClr val="E5E7EB"/>
                    </a:solidFill>
                  </a:tcPr>
                </a:tc>
                <a:tc>
                  <a:txBody>
                    <a:bodyPr/>
                    <a:lstStyle/>
                    <a:p>
                      <a:pPr>
                        <a:defRPr sz="950" b="1">
                          <a:solidFill>
                            <a:srgbClr val="000000"/>
                          </a:solidFill>
                          <a:latin typeface="Calibri"/>
                        </a:defRPr>
                      </a:pPr>
                      <a:r>
                        <a:t>Kelas</a:t>
                      </a:r>
                    </a:p>
                  </a:txBody>
                  <a:tcPr marL="54864" marR="54864" marT="18288" marB="18288">
                    <a:solidFill>
                      <a:srgbClr val="E5E7EB"/>
                    </a:solidFill>
                  </a:tcPr>
                </a:tc>
                <a:tc>
                  <a:txBody>
                    <a:bodyPr/>
                    <a:lstStyle/>
                    <a:p>
                      <a:pPr>
                        <a:defRPr sz="950" b="1">
                          <a:solidFill>
                            <a:srgbClr val="000000"/>
                          </a:solidFill>
                          <a:latin typeface="Calibri"/>
                        </a:defRPr>
                      </a:pPr>
                      <a:r>
                        <a:t>Alasan pemilihan</a:t>
                      </a:r>
                    </a:p>
                  </a:txBody>
                  <a:tcPr marL="54864" marR="54864" marT="18288" marB="18288">
                    <a:solidFill>
                      <a:srgbClr val="E5E7EB"/>
                    </a:solidFill>
                  </a:tcPr>
                </a:tc>
                <a:tc>
                  <a:txBody>
                    <a:bodyPr/>
                    <a:lstStyle/>
                    <a:p>
                      <a:pPr>
                        <a:defRPr sz="950" b="1">
                          <a:solidFill>
                            <a:srgbClr val="000000"/>
                          </a:solidFill>
                          <a:latin typeface="Calibri"/>
                        </a:defRPr>
                      </a:pPr>
                      <a:r>
                        <a:t>Mengapa bukan DL/LLM (sekarang)</a:t>
                      </a:r>
                    </a:p>
                  </a:txBody>
                  <a:tcPr marL="54864" marR="54864" marT="18288" marB="18288">
                    <a:solidFill>
                      <a:srgbClr val="E5E7EB"/>
                    </a:solidFill>
                  </a:tcPr>
                </a:tc>
              </a:tr>
              <a:tr h="378460">
                <a:tc>
                  <a:txBody>
                    <a:bodyPr/>
                    <a:lstStyle/>
                    <a:p>
                      <a:pPr>
                        <a:defRPr sz="950" b="0">
                          <a:solidFill>
                            <a:srgbClr val="000000"/>
                          </a:solidFill>
                          <a:latin typeface="Calibri"/>
                        </a:defRPr>
                      </a:pPr>
                      <a:r>
                        <a:t>Alokasi kuota produsen</a:t>
                      </a:r>
                    </a:p>
                  </a:txBody>
                  <a:tcPr marL="54864" marR="54864" marT="18288" marB="18288">
                    <a:solidFill>
                      <a:srgbClr val="FFFFFF"/>
                    </a:solidFill>
                  </a:tcPr>
                </a:tc>
                <a:tc>
                  <a:txBody>
                    <a:bodyPr/>
                    <a:lstStyle/>
                    <a:p>
                      <a:pPr>
                        <a:defRPr sz="950" b="0">
                          <a:solidFill>
                            <a:srgbClr val="000000"/>
                          </a:solidFill>
                          <a:latin typeface="Calibri"/>
                        </a:defRPr>
                      </a:pPr>
                      <a:r>
                        <a:t>Contract Net + skor berbobot + buffer + governance</a:t>
                      </a:r>
                    </a:p>
                  </a:txBody>
                  <a:tcPr marL="54864" marR="54864" marT="18288" marB="18288">
                    <a:solidFill>
                      <a:srgbClr val="FFFFFF"/>
                    </a:solidFill>
                  </a:tcPr>
                </a:tc>
                <a:tc>
                  <a:txBody>
                    <a:bodyPr/>
                    <a:lstStyle/>
                    <a:p>
                      <a:pPr>
                        <a:defRPr sz="950" b="0">
                          <a:solidFill>
                            <a:srgbClr val="000000"/>
                          </a:solidFill>
                          <a:latin typeface="Calibri"/>
                        </a:defRPr>
                      </a:pPr>
                      <a:r>
                        <a:t>AI klasik / DSS</a:t>
                      </a:r>
                    </a:p>
                  </a:txBody>
                  <a:tcPr marL="54864" marR="54864" marT="18288" marB="18288">
                    <a:solidFill>
                      <a:srgbClr val="FFFFFF"/>
                    </a:solidFill>
                  </a:tcPr>
                </a:tc>
                <a:tc>
                  <a:txBody>
                    <a:bodyPr/>
                    <a:lstStyle/>
                    <a:p>
                      <a:pPr>
                        <a:defRPr sz="950" b="0">
                          <a:solidFill>
                            <a:srgbClr val="000000"/>
                          </a:solidFill>
                          <a:latin typeface="Calibri"/>
                        </a:defRPr>
                      </a:pPr>
                      <a:r>
                        <a:t>Keputusan dapat dijelaskan ke produsen dan buyer; kendala keras (kapasitas, konsentrasi, kualitas)</a:t>
                      </a:r>
                    </a:p>
                  </a:txBody>
                  <a:tcPr marL="54864" marR="54864" marT="18288" marB="18288">
                    <a:solidFill>
                      <a:srgbClr val="FFFFFF"/>
                    </a:solidFill>
                  </a:tcPr>
                </a:tc>
                <a:tc>
                  <a:txBody>
                    <a:bodyPr/>
                    <a:lstStyle/>
                    <a:p>
                      <a:pPr>
                        <a:defRPr sz="950" b="0">
                          <a:solidFill>
                            <a:srgbClr val="000000"/>
                          </a:solidFill>
                          <a:latin typeface="Calibri"/>
                        </a:defRPr>
                      </a:pPr>
                      <a:r>
                        <a:t>Data historis produsen belum ada; optimasi eksplisit lebih tepat daripada model black-box</a:t>
                      </a:r>
                    </a:p>
                  </a:txBody>
                  <a:tcPr marL="54864" marR="54864" marT="18288" marB="18288">
                    <a:solidFill>
                      <a:srgbClr val="FFFFFF"/>
                    </a:solidFill>
                  </a:tcPr>
                </a:tc>
              </a:tr>
              <a:tr h="233679">
                <a:tc>
                  <a:txBody>
                    <a:bodyPr/>
                    <a:lstStyle/>
                    <a:p>
                      <a:pPr>
                        <a:defRPr sz="950" b="0">
                          <a:solidFill>
                            <a:srgbClr val="000000"/>
                          </a:solidFill>
                          <a:latin typeface="Calibri"/>
                        </a:defRPr>
                      </a:pPr>
                      <a:r>
                        <a:t>Quality score produsen</a:t>
                      </a:r>
                    </a:p>
                  </a:txBody>
                  <a:tcPr marL="54864" marR="54864" marT="18288" marB="18288">
                    <a:solidFill>
                      <a:srgbClr val="FFFFFF"/>
                    </a:solidFill>
                  </a:tcPr>
                </a:tc>
                <a:tc>
                  <a:txBody>
                    <a:bodyPr/>
                    <a:lstStyle/>
                    <a:p>
                      <a:pPr>
                        <a:defRPr sz="950" b="0">
                          <a:solidFill>
                            <a:srgbClr val="000000"/>
                          </a:solidFill>
                          <a:latin typeface="Calibri"/>
                        </a:defRPr>
                      </a:pPr>
                      <a:r>
                        <a:t>Pembaruan eksponensial (trust)</a:t>
                      </a:r>
                    </a:p>
                  </a:txBody>
                  <a:tcPr marL="54864" marR="54864" marT="18288" marB="18288">
                    <a:solidFill>
                      <a:srgbClr val="FFFFFF"/>
                    </a:solidFill>
                  </a:tcPr>
                </a:tc>
                <a:tc>
                  <a:txBody>
                    <a:bodyPr/>
                    <a:lstStyle/>
                    <a:p>
                      <a:pPr>
                        <a:defRPr sz="950" b="0">
                          <a:solidFill>
                            <a:srgbClr val="000000"/>
                          </a:solidFill>
                          <a:latin typeface="Calibri"/>
                        </a:defRPr>
                      </a:pPr>
                      <a:r>
                        <a:t>Statistik online</a:t>
                      </a:r>
                    </a:p>
                  </a:txBody>
                  <a:tcPr marL="54864" marR="54864" marT="18288" marB="18288">
                    <a:solidFill>
                      <a:srgbClr val="FFFFFF"/>
                    </a:solidFill>
                  </a:tcPr>
                </a:tc>
                <a:tc>
                  <a:txBody>
                    <a:bodyPr/>
                    <a:lstStyle/>
                    <a:p>
                      <a:pPr>
                        <a:defRPr sz="950" b="0">
                          <a:solidFill>
                            <a:srgbClr val="000000"/>
                          </a:solidFill>
                          <a:latin typeface="Calibri"/>
                        </a:defRPr>
                      </a:pPr>
                      <a:r>
                        <a:t>Insentif kualitas organik; sederhana dan transparan</a:t>
                      </a:r>
                    </a:p>
                  </a:txBody>
                  <a:tcPr marL="54864" marR="54864" marT="18288" marB="18288">
                    <a:solidFill>
                      <a:srgbClr val="FFFFFF"/>
                    </a:solidFill>
                  </a:tcPr>
                </a:tc>
                <a:tc>
                  <a:txBody>
                    <a:bodyPr/>
                    <a:lstStyle/>
                    <a:p>
                      <a:pPr>
                        <a:defRPr sz="950" b="0">
                          <a:solidFill>
                            <a:srgbClr val="000000"/>
                          </a:solidFill>
                          <a:latin typeface="Calibri"/>
                        </a:defRPr>
                      </a:pPr>
                      <a:r>
                        <a:t>Tidak butuh model kompleks</a:t>
                      </a:r>
                    </a:p>
                  </a:txBody>
                  <a:tcPr marL="54864" marR="54864" marT="18288" marB="18288">
                    <a:solidFill>
                      <a:srgbClr val="FFFFFF"/>
                    </a:solidFill>
                  </a:tcPr>
                </a:tc>
              </a:tr>
              <a:tr h="378460">
                <a:tc>
                  <a:txBody>
                    <a:bodyPr/>
                    <a:lstStyle/>
                    <a:p>
                      <a:pPr>
                        <a:defRPr sz="950" b="0">
                          <a:solidFill>
                            <a:srgbClr val="000000"/>
                          </a:solidFill>
                          <a:latin typeface="Calibri"/>
                        </a:defRPr>
                      </a:pPr>
                      <a:r>
                        <a:t>Klasifikasi HS lintas komoditas</a:t>
                      </a:r>
                    </a:p>
                  </a:txBody>
                  <a:tcPr marL="54864" marR="54864" marT="18288" marB="18288">
                    <a:solidFill>
                      <a:srgbClr val="FFFFFF"/>
                    </a:solidFill>
                  </a:tcPr>
                </a:tc>
                <a:tc>
                  <a:txBody>
                    <a:bodyPr/>
                    <a:lstStyle/>
                    <a:p>
                      <a:pPr>
                        <a:defRPr sz="950" b="0">
                          <a:solidFill>
                            <a:srgbClr val="000000"/>
                          </a:solidFill>
                          <a:latin typeface="Calibri"/>
                        </a:defRPr>
                      </a:pPr>
                      <a:r>
                        <a:t>TF-IDF + k-NN kosinus</a:t>
                      </a:r>
                    </a:p>
                  </a:txBody>
                  <a:tcPr marL="54864" marR="54864" marT="18288" marB="18288">
                    <a:solidFill>
                      <a:srgbClr val="FFFFFF"/>
                    </a:solidFill>
                  </a:tcPr>
                </a:tc>
                <a:tc>
                  <a:txBody>
                    <a:bodyPr/>
                    <a:lstStyle/>
                    <a:p>
                      <a:pPr>
                        <a:defRPr sz="950" b="0">
                          <a:solidFill>
                            <a:srgbClr val="000000"/>
                          </a:solidFill>
                          <a:latin typeface="Calibri"/>
                        </a:defRPr>
                      </a:pPr>
                      <a:r>
                        <a:t>ML klasik (NLP)</a:t>
                      </a:r>
                    </a:p>
                  </a:txBody>
                  <a:tcPr marL="54864" marR="54864" marT="18288" marB="18288">
                    <a:solidFill>
                      <a:srgbClr val="FFFFFF"/>
                    </a:solidFill>
                  </a:tcPr>
                </a:tc>
                <a:tc>
                  <a:txBody>
                    <a:bodyPr/>
                    <a:lstStyle/>
                    <a:p>
                      <a:pPr>
                        <a:defRPr sz="950" b="0">
                          <a:solidFill>
                            <a:srgbClr val="000000"/>
                          </a:solidFill>
                          <a:latin typeface="Calibri"/>
                        </a:defRPr>
                      </a:pPr>
                      <a:r>
                        <a:t>Deskripsi pendek, ~1.000 contoh; akurasi 95,9%; confidence dapat dijelaskan</a:t>
                      </a:r>
                    </a:p>
                  </a:txBody>
                  <a:tcPr marL="54864" marR="54864" marT="18288" marB="18288">
                    <a:solidFill>
                      <a:srgbClr val="FFFFFF"/>
                    </a:solidFill>
                  </a:tcPr>
                </a:tc>
                <a:tc>
                  <a:txBody>
                    <a:bodyPr/>
                    <a:lstStyle/>
                    <a:p>
                      <a:pPr>
                        <a:defRPr sz="950" b="0">
                          <a:solidFill>
                            <a:srgbClr val="000000"/>
                          </a:solidFill>
                          <a:latin typeface="Calibri"/>
                        </a:defRPr>
                      </a:pPr>
                      <a:r>
                        <a:t>Data kecil; LLM/BERT ditambahkan bila kosakata dan bahasa bertambah</a:t>
                      </a:r>
                    </a:p>
                  </a:txBody>
                  <a:tcPr marL="54864" marR="54864" marT="18288" marB="18288">
                    <a:solidFill>
                      <a:srgbClr val="FFFFFF"/>
                    </a:solidFill>
                  </a:tcPr>
                </a:tc>
              </a:tr>
              <a:tr h="378460">
                <a:tc>
                  <a:txBody>
                    <a:bodyPr/>
                    <a:lstStyle/>
                    <a:p>
                      <a:pPr>
                        <a:defRPr sz="950" b="0">
                          <a:solidFill>
                            <a:srgbClr val="000000"/>
                          </a:solidFill>
                          <a:latin typeface="Calibri"/>
                        </a:defRPr>
                      </a:pPr>
                      <a:r>
                        <a:t>Risiko roll-over</a:t>
                      </a:r>
                    </a:p>
                  </a:txBody>
                  <a:tcPr marL="54864" marR="54864" marT="18288" marB="18288">
                    <a:solidFill>
                      <a:srgbClr val="FFFFFF"/>
                    </a:solidFill>
                  </a:tcPr>
                </a:tc>
                <a:tc>
                  <a:txBody>
                    <a:bodyPr/>
                    <a:lstStyle/>
                    <a:p>
                      <a:pPr>
                        <a:defRPr sz="950" b="0">
                          <a:solidFill>
                            <a:srgbClr val="000000"/>
                          </a:solidFill>
                          <a:latin typeface="Calibri"/>
                        </a:defRPr>
                      </a:pPr>
                      <a:r>
                        <a:t>Regresi logistik</a:t>
                      </a:r>
                    </a:p>
                  </a:txBody>
                  <a:tcPr marL="54864" marR="54864" marT="18288" marB="18288">
                    <a:solidFill>
                      <a:srgbClr val="FFFFFF"/>
                    </a:solidFill>
                  </a:tcPr>
                </a:tc>
                <a:tc>
                  <a:txBody>
                    <a:bodyPr/>
                    <a:lstStyle/>
                    <a:p>
                      <a:pPr>
                        <a:defRPr sz="950" b="0">
                          <a:solidFill>
                            <a:srgbClr val="000000"/>
                          </a:solidFill>
                          <a:latin typeface="Calibri"/>
                        </a:defRPr>
                      </a:pPr>
                      <a:r>
                        <a:t>ML supervised</a:t>
                      </a:r>
                    </a:p>
                  </a:txBody>
                  <a:tcPr marL="54864" marR="54864" marT="18288" marB="18288">
                    <a:solidFill>
                      <a:srgbClr val="FFFFFF"/>
                    </a:solidFill>
                  </a:tcPr>
                </a:tc>
                <a:tc>
                  <a:txBody>
                    <a:bodyPr/>
                    <a:lstStyle/>
                    <a:p>
                      <a:pPr>
                        <a:defRPr sz="950" b="0">
                          <a:solidFill>
                            <a:srgbClr val="000000"/>
                          </a:solidFill>
                          <a:latin typeface="Calibri"/>
                        </a:defRPr>
                      </a:pPr>
                      <a:r>
                        <a:t>Data tabular 4.000 pengiriman; AUC 0,76; bobot terbaca; probabilitas terkalibrasi</a:t>
                      </a:r>
                    </a:p>
                  </a:txBody>
                  <a:tcPr marL="54864" marR="54864" marT="18288" marB="18288">
                    <a:solidFill>
                      <a:srgbClr val="FFFFFF"/>
                    </a:solidFill>
                  </a:tcPr>
                </a:tc>
                <a:tc>
                  <a:txBody>
                    <a:bodyPr/>
                    <a:lstStyle/>
                    <a:p>
                      <a:pPr>
                        <a:defRPr sz="950" b="0">
                          <a:solidFill>
                            <a:srgbClr val="000000"/>
                          </a:solidFill>
                          <a:latin typeface="Calibri"/>
                        </a:defRPr>
                      </a:pPr>
                      <a:r>
                        <a:t>Pada data tabular kecil, model linier setara DL (Bab 1); XGBoost sebagai pembanding</a:t>
                      </a:r>
                    </a:p>
                  </a:txBody>
                  <a:tcPr marL="54864" marR="54864" marT="18288" marB="18288">
                    <a:solidFill>
                      <a:srgbClr val="FFFFFF"/>
                    </a:solidFill>
                  </a:tcPr>
                </a:tc>
              </a:tr>
              <a:tr h="378460">
                <a:tc>
                  <a:txBody>
                    <a:bodyPr/>
                    <a:lstStyle/>
                    <a:p>
                      <a:pPr>
                        <a:defRPr sz="950" b="0">
                          <a:solidFill>
                            <a:srgbClr val="000000"/>
                          </a:solidFill>
                          <a:latin typeface="Calibri"/>
                        </a:defRPr>
                      </a:pPr>
                      <a:r>
                        <a:t>QC visual (Grade A/B/Reject)</a:t>
                      </a:r>
                    </a:p>
                  </a:txBody>
                  <a:tcPr marL="54864" marR="54864" marT="18288" marB="18288">
                    <a:solidFill>
                      <a:srgbClr val="FFFFFF"/>
                    </a:solidFill>
                  </a:tcPr>
                </a:tc>
                <a:tc>
                  <a:txBody>
                    <a:bodyPr/>
                    <a:lstStyle/>
                    <a:p>
                      <a:pPr>
                        <a:defRPr sz="950" b="0">
                          <a:solidFill>
                            <a:srgbClr val="000000"/>
                          </a:solidFill>
                          <a:latin typeface="Calibri"/>
                        </a:defRPr>
                      </a:pPr>
                      <a:r>
                        <a:t>CNN (rencana); di sini: tingkat kelolosan statistik</a:t>
                      </a:r>
                    </a:p>
                  </a:txBody>
                  <a:tcPr marL="54864" marR="54864" marT="18288" marB="18288">
                    <a:solidFill>
                      <a:srgbClr val="FFFFFF"/>
                    </a:solidFill>
                  </a:tcPr>
                </a:tc>
                <a:tc>
                  <a:txBody>
                    <a:bodyPr/>
                    <a:lstStyle/>
                    <a:p>
                      <a:pPr>
                        <a:defRPr sz="950" b="0">
                          <a:solidFill>
                            <a:srgbClr val="000000"/>
                          </a:solidFill>
                          <a:latin typeface="Calibri"/>
                        </a:defRPr>
                      </a:pPr>
                      <a:r>
                        <a:t>DL (rencana)</a:t>
                      </a:r>
                    </a:p>
                  </a:txBody>
                  <a:tcPr marL="54864" marR="54864" marT="18288" marB="18288">
                    <a:solidFill>
                      <a:srgbClr val="FFFFFF"/>
                    </a:solidFill>
                  </a:tcPr>
                </a:tc>
                <a:tc>
                  <a:txBody>
                    <a:bodyPr/>
                    <a:lstStyle/>
                    <a:p>
                      <a:pPr>
                        <a:defRPr sz="950" b="0">
                          <a:solidFill>
                            <a:srgbClr val="000000"/>
                          </a:solidFill>
                          <a:latin typeface="Calibri"/>
                        </a:defRPr>
                      </a:pPr>
                      <a:r>
                        <a:t>Citra produk adalah data yang cocok untuk DL (Bab 1); dataset sedang dikumpulkan</a:t>
                      </a:r>
                    </a:p>
                  </a:txBody>
                  <a:tcPr marL="54864" marR="54864" marT="18288" marB="18288">
                    <a:solidFill>
                      <a:srgbClr val="FFFFFF"/>
                    </a:solidFill>
                  </a:tcPr>
                </a:tc>
                <a:tc>
                  <a:txBody>
                    <a:bodyPr/>
                    <a:lstStyle/>
                    <a:p>
                      <a:pPr>
                        <a:defRPr sz="950" b="0">
                          <a:solidFill>
                            <a:srgbClr val="000000"/>
                          </a:solidFill>
                          <a:latin typeface="Calibri"/>
                        </a:defRPr>
                      </a:pPr>
                      <a:r>
                        <a:t>Belum ada dataset terlabel; Tugas 1 memodelkan hasilnya (pass rate) saja</a:t>
                      </a:r>
                    </a:p>
                  </a:txBody>
                  <a:tcPr marL="54864" marR="54864" marT="18288" marB="18288">
                    <a:solidFill>
                      <a:srgbClr val="FFFFFF"/>
                    </a:solidFill>
                  </a:tcPr>
                </a:tc>
              </a:tr>
              <a:tr h="523239">
                <a:tc>
                  <a:txBody>
                    <a:bodyPr/>
                    <a:lstStyle/>
                    <a:p>
                      <a:pPr>
                        <a:defRPr sz="950" b="0">
                          <a:solidFill>
                            <a:srgbClr val="000000"/>
                          </a:solidFill>
                          <a:latin typeface="Calibri"/>
                        </a:defRPr>
                      </a:pPr>
                      <a:r>
                        <a:t>Alokasi anggaran iklan</a:t>
                      </a:r>
                    </a:p>
                  </a:txBody>
                  <a:tcPr marL="54864" marR="54864" marT="18288" marB="18288">
                    <a:solidFill>
                      <a:srgbClr val="FFFFFF"/>
                    </a:solidFill>
                  </a:tcPr>
                </a:tc>
                <a:tc>
                  <a:txBody>
                    <a:bodyPr/>
                    <a:lstStyle/>
                    <a:p>
                      <a:pPr>
                        <a:defRPr sz="950" b="0">
                          <a:solidFill>
                            <a:srgbClr val="000000"/>
                          </a:solidFill>
                          <a:latin typeface="Calibri"/>
                        </a:defRPr>
                      </a:pPr>
                      <a:r>
                        <a:t>Thompson sampling (bandit multi-lengan)</a:t>
                      </a:r>
                    </a:p>
                  </a:txBody>
                  <a:tcPr marL="54864" marR="54864" marT="18288" marB="18288">
                    <a:solidFill>
                      <a:srgbClr val="FFFFFF"/>
                    </a:solidFill>
                  </a:tcPr>
                </a:tc>
                <a:tc>
                  <a:txBody>
                    <a:bodyPr/>
                    <a:lstStyle/>
                    <a:p>
                      <a:pPr>
                        <a:defRPr sz="950" b="0">
                          <a:solidFill>
                            <a:srgbClr val="000000"/>
                          </a:solidFill>
                          <a:latin typeface="Calibri"/>
                        </a:defRPr>
                      </a:pPr>
                      <a:r>
                        <a:t>RL sederhana</a:t>
                      </a:r>
                    </a:p>
                  </a:txBody>
                  <a:tcPr marL="54864" marR="54864" marT="18288" marB="18288">
                    <a:solidFill>
                      <a:srgbClr val="FFFFFF"/>
                    </a:solidFill>
                  </a:tcPr>
                </a:tc>
                <a:tc>
                  <a:txBody>
                    <a:bodyPr/>
                    <a:lstStyle/>
                    <a:p>
                      <a:pPr>
                        <a:defRPr sz="950" b="0">
                          <a:solidFill>
                            <a:srgbClr val="000000"/>
                          </a:solidFill>
                          <a:latin typeface="Calibri"/>
                        </a:defRPr>
                      </a:pPr>
                      <a:r>
                        <a:t>Kanal mana yang terbaik tidak diketahui dan berubah; metode ini mencoba dan bergeser ke kanal yang menghasilkan RFQ</a:t>
                      </a:r>
                    </a:p>
                  </a:txBody>
                  <a:tcPr marL="54864" marR="54864" marT="18288" marB="18288">
                    <a:solidFill>
                      <a:srgbClr val="FFFFFF"/>
                    </a:solidFill>
                  </a:tcPr>
                </a:tc>
                <a:tc>
                  <a:txBody>
                    <a:bodyPr/>
                    <a:lstStyle/>
                    <a:p>
                      <a:pPr>
                        <a:defRPr sz="950" b="0">
                          <a:solidFill>
                            <a:srgbClr val="000000"/>
                          </a:solidFill>
                          <a:latin typeface="Calibri"/>
                        </a:defRPr>
                      </a:pPr>
                      <a:r>
                        <a:t>Optimasi penuh butuh data klik yang belum ada; bandit cukup dan dapat dijelaskan</a:t>
                      </a:r>
                    </a:p>
                  </a:txBody>
                  <a:tcPr marL="54864" marR="54864" marT="18288" marB="18288">
                    <a:solidFill>
                      <a:srgbClr val="FFFFFF"/>
                    </a:solidFill>
                  </a:tcPr>
                </a:tc>
              </a:tr>
              <a:tr h="523239">
                <a:tc>
                  <a:txBody>
                    <a:bodyPr/>
                    <a:lstStyle/>
                    <a:p>
                      <a:pPr>
                        <a:defRPr sz="950" b="0">
                          <a:solidFill>
                            <a:srgbClr val="000000"/>
                          </a:solidFill>
                          <a:latin typeface="Calibri"/>
                        </a:defRPr>
                      </a:pPr>
                      <a:r>
                        <a:t>Pembuatan materi iklan dan konten</a:t>
                      </a:r>
                    </a:p>
                  </a:txBody>
                  <a:tcPr marL="54864" marR="54864" marT="18288" marB="18288">
                    <a:solidFill>
                      <a:srgbClr val="FFFFFF"/>
                    </a:solidFill>
                  </a:tcPr>
                </a:tc>
                <a:tc>
                  <a:txBody>
                    <a:bodyPr/>
                    <a:lstStyle/>
                    <a:p>
                      <a:pPr>
                        <a:defRPr sz="950" b="0">
                          <a:solidFill>
                            <a:srgbClr val="000000"/>
                          </a:solidFill>
                          <a:latin typeface="Calibri"/>
                        </a:defRPr>
                      </a:pPr>
                      <a:r>
                        <a:t>LLM + pemeriksa klaim + persetujuan manusia</a:t>
                      </a:r>
                    </a:p>
                  </a:txBody>
                  <a:tcPr marL="54864" marR="54864" marT="18288" marB="18288">
                    <a:solidFill>
                      <a:srgbClr val="FFFFFF"/>
                    </a:solidFill>
                  </a:tcPr>
                </a:tc>
                <a:tc>
                  <a:txBody>
                    <a:bodyPr/>
                    <a:lstStyle/>
                    <a:p>
                      <a:pPr>
                        <a:defRPr sz="950" b="0">
                          <a:solidFill>
                            <a:srgbClr val="000000"/>
                          </a:solidFill>
                          <a:latin typeface="Calibri"/>
                        </a:defRPr>
                      </a:pPr>
                      <a:r>
                        <a:t>LLM + aturan</a:t>
                      </a:r>
                    </a:p>
                  </a:txBody>
                  <a:tcPr marL="54864" marR="54864" marT="18288" marB="18288">
                    <a:solidFill>
                      <a:srgbClr val="FFFFFF"/>
                    </a:solidFill>
                  </a:tcPr>
                </a:tc>
                <a:tc>
                  <a:txBody>
                    <a:bodyPr/>
                    <a:lstStyle/>
                    <a:p>
                      <a:pPr>
                        <a:defRPr sz="950" b="0">
                          <a:solidFill>
                            <a:srgbClr val="000000"/>
                          </a:solidFill>
                          <a:latin typeface="Calibri"/>
                        </a:defRPr>
                      </a:pPr>
                      <a:r>
                        <a:t>Menulis banyak varian bahasa dan format dengan cepat; klaim (sertifikat, spesifikasi, kapasitas) dicek terhadap data nyata sebelum tayang</a:t>
                      </a:r>
                    </a:p>
                  </a:txBody>
                  <a:tcPr marL="54864" marR="54864" marT="18288" marB="18288">
                    <a:solidFill>
                      <a:srgbClr val="FFFFFF"/>
                    </a:solidFill>
                  </a:tcPr>
                </a:tc>
                <a:tc>
                  <a:txBody>
                    <a:bodyPr/>
                    <a:lstStyle/>
                    <a:p>
                      <a:pPr>
                        <a:defRPr sz="950" b="0">
                          <a:solidFill>
                            <a:srgbClr val="000000"/>
                          </a:solidFill>
                          <a:latin typeface="Calibri"/>
                        </a:defRPr>
                      </a:pPr>
                      <a:r>
                        <a:t>LLM tidak boleh menyebut sertifikat atau kapasitas yang tidak ada; belum diimplementasikan</a:t>
                      </a:r>
                    </a:p>
                  </a:txBody>
                  <a:tcPr marL="54864" marR="54864" marT="18288" marB="18288">
                    <a:solidFill>
                      <a:srgbClr val="FFFFFF"/>
                    </a:solidFill>
                  </a:tcPr>
                </a:tc>
              </a:tr>
              <a:tr h="378460">
                <a:tc>
                  <a:txBody>
                    <a:bodyPr/>
                    <a:lstStyle/>
                    <a:p>
                      <a:pPr>
                        <a:defRPr sz="950" b="0">
                          <a:solidFill>
                            <a:srgbClr val="000000"/>
                          </a:solidFill>
                          <a:latin typeface="Calibri"/>
                        </a:defRPr>
                      </a:pPr>
                      <a:r>
                        <a:t>Virtual SDR</a:t>
                      </a:r>
                    </a:p>
                  </a:txBody>
                  <a:tcPr marL="54864" marR="54864" marT="18288" marB="18288">
                    <a:solidFill>
                      <a:srgbClr val="FFFFFF"/>
                    </a:solidFill>
                  </a:tcPr>
                </a:tc>
                <a:tc>
                  <a:txBody>
                    <a:bodyPr/>
                    <a:lstStyle/>
                    <a:p>
                      <a:pPr>
                        <a:defRPr sz="950" b="0">
                          <a:solidFill>
                            <a:srgbClr val="000000"/>
                          </a:solidFill>
                          <a:latin typeface="Calibri"/>
                        </a:defRPr>
                      </a:pPr>
                      <a:r>
                        <a:t>LLM + konsesi waktu-tergantung + guardrail</a:t>
                      </a:r>
                    </a:p>
                  </a:txBody>
                  <a:tcPr marL="54864" marR="54864" marT="18288" marB="18288">
                    <a:solidFill>
                      <a:srgbClr val="FFFFFF"/>
                    </a:solidFill>
                  </a:tcPr>
                </a:tc>
                <a:tc>
                  <a:txBody>
                    <a:bodyPr/>
                    <a:lstStyle/>
                    <a:p>
                      <a:pPr>
                        <a:defRPr sz="950" b="0">
                          <a:solidFill>
                            <a:srgbClr val="000000"/>
                          </a:solidFill>
                          <a:latin typeface="Calibri"/>
                        </a:defRPr>
                      </a:pPr>
                      <a:r>
                        <a:t>LLM + aturan</a:t>
                      </a:r>
                    </a:p>
                  </a:txBody>
                  <a:tcPr marL="54864" marR="54864" marT="18288" marB="18288">
                    <a:solidFill>
                      <a:srgbClr val="FFFFFF"/>
                    </a:solidFill>
                  </a:tcPr>
                </a:tc>
                <a:tc>
                  <a:txBody>
                    <a:bodyPr/>
                    <a:lstStyle/>
                    <a:p>
                      <a:pPr>
                        <a:defRPr sz="950" b="0">
                          <a:solidFill>
                            <a:srgbClr val="000000"/>
                          </a:solidFill>
                          <a:latin typeface="Calibri"/>
                        </a:defRPr>
                      </a:pPr>
                      <a:r>
                        <a:t>Bahasa alami multibahasa 24/7; harga dijaga oleh aturan dan band diskon (Bab 3: LLM tidak sendirian)</a:t>
                      </a:r>
                    </a:p>
                  </a:txBody>
                  <a:tcPr marL="54864" marR="54864" marT="18288" marB="18288">
                    <a:solidFill>
                      <a:srgbClr val="FFFFFF"/>
                    </a:solidFill>
                  </a:tcPr>
                </a:tc>
                <a:tc>
                  <a:txBody>
                    <a:bodyPr/>
                    <a:lstStyle/>
                    <a:p>
                      <a:pPr>
                        <a:defRPr sz="950" b="0">
                          <a:solidFill>
                            <a:srgbClr val="000000"/>
                          </a:solidFill>
                          <a:latin typeface="Calibri"/>
                        </a:defRPr>
                      </a:pPr>
                      <a:r>
                        <a:t>Di simulasi hanya logika negosiasi; panggilan LLM belum dipakai (hook tersedia)</a:t>
                      </a:r>
                    </a:p>
                  </a:txBody>
                  <a:tcPr marL="54864" marR="54864" marT="18288" marB="18288">
                    <a:solidFill>
                      <a:srgbClr val="FFFFFF"/>
                    </a:solidFill>
                  </a:tcPr>
                </a:tc>
              </a:tr>
              <a:tr h="233679">
                <a:tc>
                  <a:txBody>
                    <a:bodyPr/>
                    <a:lstStyle/>
                    <a:p>
                      <a:pPr>
                        <a:defRPr sz="950" b="0">
                          <a:solidFill>
                            <a:srgbClr val="000000"/>
                          </a:solidFill>
                          <a:latin typeface="Calibri"/>
                        </a:defRPr>
                      </a:pPr>
                      <a:r>
                        <a:t>Keputusan lembur</a:t>
                      </a:r>
                    </a:p>
                  </a:txBody>
                  <a:tcPr marL="54864" marR="54864" marT="18288" marB="18288">
                    <a:solidFill>
                      <a:srgbClr val="FFFFFF"/>
                    </a:solidFill>
                  </a:tcPr>
                </a:tc>
                <a:tc>
                  <a:txBody>
                    <a:bodyPr/>
                    <a:lstStyle/>
                    <a:p>
                      <a:pPr>
                        <a:defRPr sz="950" b="0">
                          <a:solidFill>
                            <a:srgbClr val="000000"/>
                          </a:solidFill>
                          <a:latin typeface="Calibri"/>
                        </a:defRPr>
                      </a:pPr>
                      <a:r>
                        <a:t>Q-learning tabular</a:t>
                      </a:r>
                    </a:p>
                  </a:txBody>
                  <a:tcPr marL="54864" marR="54864" marT="18288" marB="18288">
                    <a:solidFill>
                      <a:srgbClr val="FFFFFF"/>
                    </a:solidFill>
                  </a:tcPr>
                </a:tc>
                <a:tc>
                  <a:txBody>
                    <a:bodyPr/>
                    <a:lstStyle/>
                    <a:p>
                      <a:pPr>
                        <a:defRPr sz="950" b="0">
                          <a:solidFill>
                            <a:srgbClr val="000000"/>
                          </a:solidFill>
                          <a:latin typeface="Calibri"/>
                        </a:defRPr>
                      </a:pPr>
                      <a:r>
                        <a:t>RL</a:t>
                      </a:r>
                    </a:p>
                  </a:txBody>
                  <a:tcPr marL="54864" marR="54864" marT="18288" marB="18288">
                    <a:solidFill>
                      <a:srgbClr val="FFFFFF"/>
                    </a:solidFill>
                  </a:tcPr>
                </a:tc>
                <a:tc>
                  <a:txBody>
                    <a:bodyPr/>
                    <a:lstStyle/>
                    <a:p>
                      <a:pPr>
                        <a:defRPr sz="950" b="0">
                          <a:solidFill>
                            <a:srgbClr val="000000"/>
                          </a:solidFill>
                          <a:latin typeface="Calibri"/>
                        </a:defRPr>
                      </a:pPr>
                      <a:r>
                        <a:t>Ruang state kecil, reward tertunda</a:t>
                      </a:r>
                    </a:p>
                  </a:txBody>
                  <a:tcPr marL="54864" marR="54864" marT="18288" marB="18288">
                    <a:solidFill>
                      <a:srgbClr val="FFFFFF"/>
                    </a:solidFill>
                  </a:tcPr>
                </a:tc>
                <a:tc>
                  <a:txBody>
                    <a:bodyPr/>
                    <a:lstStyle/>
                    <a:p>
                      <a:pPr>
                        <a:defRPr sz="950" b="0">
                          <a:solidFill>
                            <a:srgbClr val="000000"/>
                          </a:solidFill>
                          <a:latin typeface="Calibri"/>
                        </a:defRPr>
                      </a:pPr>
                      <a:r>
                        <a:t>Deep RL tidak diperlukan; sulit diaudit</a:t>
                      </a:r>
                    </a:p>
                  </a:txBody>
                  <a:tcPr marL="54864" marR="54864" marT="18288" marB="18288">
                    <a:solidFill>
                      <a:srgbClr val="FFFFFF"/>
                    </a:solidFill>
                  </a:tcPr>
                </a:tc>
              </a:tr>
              <a:tr h="233679">
                <a:tc>
                  <a:txBody>
                    <a:bodyPr/>
                    <a:lstStyle/>
                    <a:p>
                      <a:pPr>
                        <a:defRPr sz="950" b="0">
                          <a:solidFill>
                            <a:srgbClr val="000000"/>
                          </a:solidFill>
                          <a:latin typeface="Calibri"/>
                        </a:defRPr>
                      </a:pPr>
                      <a:r>
                        <a:t>Kesehatan lini</a:t>
                      </a:r>
                    </a:p>
                  </a:txBody>
                  <a:tcPr marL="54864" marR="54864" marT="18288" marB="18288">
                    <a:solidFill>
                      <a:srgbClr val="FFFFFF"/>
                    </a:solidFill>
                  </a:tcPr>
                </a:tc>
                <a:tc>
                  <a:txBody>
                    <a:bodyPr/>
                    <a:lstStyle/>
                    <a:p>
                      <a:pPr>
                        <a:defRPr sz="950" b="0">
                          <a:solidFill>
                            <a:srgbClr val="000000"/>
                          </a:solidFill>
                          <a:latin typeface="Calibri"/>
                        </a:defRPr>
                      </a:pPr>
                      <a:r>
                        <a:t>Slope percept sequence</a:t>
                      </a:r>
                    </a:p>
                  </a:txBody>
                  <a:tcPr marL="54864" marR="54864" marT="18288" marB="18288">
                    <a:solidFill>
                      <a:srgbClr val="FFFFFF"/>
                    </a:solidFill>
                  </a:tcPr>
                </a:tc>
                <a:tc>
                  <a:txBody>
                    <a:bodyPr/>
                    <a:lstStyle/>
                    <a:p>
                      <a:pPr>
                        <a:defRPr sz="950" b="0">
                          <a:solidFill>
                            <a:srgbClr val="000000"/>
                          </a:solidFill>
                          <a:latin typeface="Calibri"/>
                        </a:defRPr>
                      </a:pPr>
                      <a:r>
                        <a:t>Statistik</a:t>
                      </a:r>
                    </a:p>
                  </a:txBody>
                  <a:tcPr marL="54864" marR="54864" marT="18288" marB="18288">
                    <a:solidFill>
                      <a:srgbClr val="FFFFFF"/>
                    </a:solidFill>
                  </a:tcPr>
                </a:tc>
                <a:tc>
                  <a:txBody>
                    <a:bodyPr/>
                    <a:lstStyle/>
                    <a:p>
                      <a:pPr>
                        <a:defRPr sz="950" b="0">
                          <a:solidFill>
                            <a:srgbClr val="000000"/>
                          </a:solidFill>
                          <a:latin typeface="Calibri"/>
                        </a:defRPr>
                      </a:pPr>
                      <a:r>
                        <a:t>Bab 2: tren lebih informatif daripada nilai tunggal</a:t>
                      </a:r>
                    </a:p>
                  </a:txBody>
                  <a:tcPr marL="54864" marR="54864" marT="18288" marB="18288">
                    <a:solidFill>
                      <a:srgbClr val="FFFFFF"/>
                    </a:solidFill>
                  </a:tcPr>
                </a:tc>
                <a:tc>
                  <a:txBody>
                    <a:bodyPr/>
                    <a:lstStyle/>
                    <a:p>
                      <a:pPr>
                        <a:defRPr sz="950" b="0">
                          <a:solidFill>
                            <a:srgbClr val="000000"/>
                          </a:solidFill>
                          <a:latin typeface="Calibri"/>
                        </a:defRPr>
                      </a:pPr>
                      <a:r>
                        <a:t>Sensor sedikit</a:t>
                      </a:r>
                    </a:p>
                  </a:txBody>
                  <a:tcPr marL="54864" marR="54864" marT="18288" marB="18288">
                    <a:solidFill>
                      <a:srgbClr val="FFFFFF"/>
                    </a:solidFill>
                  </a:tcPr>
                </a:tc>
              </a:tr>
              <a:tr h="378460">
                <a:tc>
                  <a:txBody>
                    <a:bodyPr/>
                    <a:lstStyle/>
                    <a:p>
                      <a:pPr>
                        <a:defRPr sz="950" b="0">
                          <a:solidFill>
                            <a:srgbClr val="000000"/>
                          </a:solidFill>
                          <a:latin typeface="Calibri"/>
                        </a:defRPr>
                      </a:pPr>
                      <a:r>
                        <a:t>Pemilihan carrier</a:t>
                      </a:r>
                    </a:p>
                  </a:txBody>
                  <a:tcPr marL="54864" marR="54864" marT="18288" marB="18288">
                    <a:solidFill>
                      <a:srgbClr val="FFFFFF"/>
                    </a:solidFill>
                  </a:tcPr>
                </a:tc>
                <a:tc>
                  <a:txBody>
                    <a:bodyPr/>
                    <a:lstStyle/>
                    <a:p>
                      <a:pPr>
                        <a:defRPr sz="950" b="0">
                          <a:solidFill>
                            <a:srgbClr val="000000"/>
                          </a:solidFill>
                          <a:latin typeface="Calibri"/>
                        </a:defRPr>
                      </a:pPr>
                      <a:r>
                        <a:t>DSS berbobot + ML + gerbang kebijakan</a:t>
                      </a:r>
                    </a:p>
                  </a:txBody>
                  <a:tcPr marL="54864" marR="54864" marT="18288" marB="18288">
                    <a:solidFill>
                      <a:srgbClr val="FFFFFF"/>
                    </a:solidFill>
                  </a:tcPr>
                </a:tc>
                <a:tc>
                  <a:txBody>
                    <a:bodyPr/>
                    <a:lstStyle/>
                    <a:p>
                      <a:pPr>
                        <a:defRPr sz="950" b="0">
                          <a:solidFill>
                            <a:srgbClr val="000000"/>
                          </a:solidFill>
                          <a:latin typeface="Calibri"/>
                        </a:defRPr>
                      </a:pPr>
                      <a:r>
                        <a:t>Hibrida (Bab 3)</a:t>
                      </a:r>
                    </a:p>
                  </a:txBody>
                  <a:tcPr marL="54864" marR="54864" marT="18288" marB="18288">
                    <a:solidFill>
                      <a:srgbClr val="FFFFFF"/>
                    </a:solidFill>
                  </a:tcPr>
                </a:tc>
                <a:tc>
                  <a:txBody>
                    <a:bodyPr/>
                    <a:lstStyle/>
                    <a:p>
                      <a:pPr>
                        <a:defRPr sz="950" b="0">
                          <a:solidFill>
                            <a:srgbClr val="000000"/>
                          </a:solidFill>
                          <a:latin typeface="Calibri"/>
                        </a:defRPr>
                      </a:pPr>
                      <a:r>
                        <a:t>Skor hibrida h; kelayakan sebagai constraint keras</a:t>
                      </a:r>
                    </a:p>
                  </a:txBody>
                  <a:tcPr marL="54864" marR="54864" marT="18288" marB="18288">
                    <a:solidFill>
                      <a:srgbClr val="FFFFFF"/>
                    </a:solidFill>
                  </a:tcPr>
                </a:tc>
                <a:tc>
                  <a:txBody>
                    <a:bodyPr/>
                    <a:lstStyle/>
                    <a:p>
                      <a:pPr>
                        <a:defRPr sz="950" b="0">
                          <a:solidFill>
                            <a:srgbClr val="000000"/>
                          </a:solidFill>
                          <a:latin typeface="Calibri"/>
                        </a:defRPr>
                      </a:pPr>
                      <a:r>
                        <a:t>Keputusan finansial harus dapat dijelaskan</a:t>
                      </a:r>
                    </a:p>
                  </a:txBody>
                  <a:tcPr marL="54864" marR="54864" marT="18288" marB="18288">
                    <a:solidFill>
                      <a:srgbClr val="FFFFFF"/>
                    </a:solidFill>
                  </a:tcPr>
                </a:tc>
              </a:tr>
              <a:tr h="233679">
                <a:tc>
                  <a:txBody>
                    <a:bodyPr/>
                    <a:lstStyle/>
                    <a:p>
                      <a:pPr>
                        <a:defRPr sz="950" b="0">
                          <a:solidFill>
                            <a:srgbClr val="000000"/>
                          </a:solidFill>
                          <a:latin typeface="Calibri"/>
                        </a:defRPr>
                      </a:pPr>
                      <a:r>
                        <a:t>Keamanan dan otonomi</a:t>
                      </a:r>
                    </a:p>
                  </a:txBody>
                  <a:tcPr marL="54864" marR="54864" marT="18288" marB="18288">
                    <a:solidFill>
                      <a:srgbClr val="FFFFFF"/>
                    </a:solidFill>
                  </a:tcPr>
                </a:tc>
                <a:tc>
                  <a:txBody>
                    <a:bodyPr/>
                    <a:lstStyle/>
                    <a:p>
                      <a:pPr>
                        <a:defRPr sz="950" b="0">
                          <a:solidFill>
                            <a:srgbClr val="000000"/>
                          </a:solidFill>
                          <a:latin typeface="Calibri"/>
                        </a:defRPr>
                      </a:pPr>
                      <a:r>
                        <a:t>HMAC, nonce, FSM, capability</a:t>
                      </a:r>
                    </a:p>
                  </a:txBody>
                  <a:tcPr marL="54864" marR="54864" marT="18288" marB="18288">
                    <a:solidFill>
                      <a:srgbClr val="FFFFFF"/>
                    </a:solidFill>
                  </a:tcPr>
                </a:tc>
                <a:tc>
                  <a:txBody>
                    <a:bodyPr/>
                    <a:lstStyle/>
                    <a:p>
                      <a:pPr>
                        <a:defRPr sz="950" b="0">
                          <a:solidFill>
                            <a:srgbClr val="000000"/>
                          </a:solidFill>
                          <a:latin typeface="Calibri"/>
                        </a:defRPr>
                      </a:pPr>
                      <a:r>
                        <a:t>Deterministik</a:t>
                      </a:r>
                    </a:p>
                  </a:txBody>
                  <a:tcPr marL="54864" marR="54864" marT="18288" marB="18288">
                    <a:solidFill>
                      <a:srgbClr val="FFFFFF"/>
                    </a:solidFill>
                  </a:tcPr>
                </a:tc>
                <a:tc>
                  <a:txBody>
                    <a:bodyPr/>
                    <a:lstStyle/>
                    <a:p>
                      <a:pPr>
                        <a:defRPr sz="950" b="0">
                          <a:solidFill>
                            <a:srgbClr val="000000"/>
                          </a:solidFill>
                          <a:latin typeface="Calibri"/>
                        </a:defRPr>
                      </a:pPr>
                      <a:r>
                        <a:t>Jaminan keamanan harus pasti</a:t>
                      </a:r>
                    </a:p>
                  </a:txBody>
                  <a:tcPr marL="54864" marR="54864" marT="18288" marB="18288">
                    <a:solidFill>
                      <a:srgbClr val="FFFFFF"/>
                    </a:solidFill>
                  </a:tcPr>
                </a:tc>
                <a:tc>
                  <a:txBody>
                    <a:bodyPr/>
                    <a:lstStyle/>
                    <a:p>
                      <a:pPr>
                        <a:defRPr sz="950" b="0">
                          <a:solidFill>
                            <a:srgbClr val="000000"/>
                          </a:solidFill>
                          <a:latin typeface="Calibri"/>
                        </a:defRPr>
                      </a:pPr>
                      <a:r>
                        <a:t>-</a:t>
                      </a:r>
                    </a:p>
                  </a:txBody>
                  <a:tcPr marL="54864" marR="54864" marT="18288" marB="18288">
                    <a:solidFill>
                      <a:srgbClr val="FFFFFF"/>
                    </a:solidFill>
                  </a:tcPr>
                </a:tc>
              </a:tr>
            </a:tbl>
          </a:graphicData>
        </a:graphic>
      </p:graphicFrame>
      <p:sp>
        <p:nvSpPr>
          <p:cNvPr id="7" name="TextBox 6"/>
          <p:cNvSpPr txBox="1"/>
          <p:nvPr/>
        </p:nvSpPr>
        <p:spPr>
          <a:xfrm>
            <a:off x="411480" y="5943600"/>
            <a:ext cx="11338560" cy="502920"/>
          </a:xfrm>
          <a:prstGeom prst="rect">
            <a:avLst/>
          </a:prstGeom>
          <a:noFill/>
        </p:spPr>
        <p:txBody>
          <a:bodyPr wrap="square">
            <a:spAutoFit/>
          </a:bodyPr>
          <a:lstStyle/>
          <a:p>
            <a:pPr>
              <a:spcAft>
                <a:spcPts val="400"/>
              </a:spcAft>
              <a:defRPr sz="900" b="0">
                <a:solidFill>
                  <a:srgbClr val="333333"/>
                </a:solidFill>
                <a:latin typeface="Calibri"/>
              </a:defRPr>
            </a:pPr>
            <a:r>
              <a:t>Kriteria pemilihan model (Bab 3): akurasi dan explainability, latensi dan biaya, privasi dan data, skalabilitas. Prinsip Bab 1: pilih model paling sederhana yang memenuhi kebutuhan. Kesimpulan: XCMAS adalah hibrida AI klasik + ML supervised + RL kecil + aturan deterministik, dengan slot untuk LLM (Sales dan Marketing) dan CNN (QC) sebagai pengembangan berikutnya.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5.3 Kontrak input dan output pengguna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23</a:t>
            </a:r>
          </a:p>
        </p:txBody>
      </p:sp>
      <p:graphicFrame>
        <p:nvGraphicFramePr>
          <p:cNvPr id="6" name="Table 5"/>
          <p:cNvGraphicFramePr>
            <a:graphicFrameLocks noGrp="1"/>
          </p:cNvGraphicFramePr>
          <p:nvPr/>
        </p:nvGraphicFramePr>
        <p:xfrm>
          <a:off x="274320" y="960120"/>
          <a:ext cx="11521440" cy="2908300"/>
        </p:xfrm>
        <a:graphic>
          <a:graphicData uri="http://schemas.openxmlformats.org/drawingml/2006/table">
            <a:tbl>
              <a:tblPr firstRow="1" bandRow="1">
                <a:tableStyleId>{5C22544A-7EE6-4342-B048-85BDC9FD1C3A}</a:tableStyleId>
              </a:tblPr>
              <a:tblGrid>
                <a:gridCol w="1463040"/>
                <a:gridCol w="4023360"/>
                <a:gridCol w="3931920"/>
                <a:gridCol w="2103120"/>
              </a:tblGrid>
              <a:tr h="241300">
                <a:tc>
                  <a:txBody>
                    <a:bodyPr/>
                    <a:lstStyle/>
                    <a:p>
                      <a:pPr>
                        <a:defRPr sz="1000" b="1">
                          <a:solidFill>
                            <a:srgbClr val="000000"/>
                          </a:solidFill>
                          <a:latin typeface="Calibri"/>
                        </a:defRPr>
                      </a:pPr>
                      <a:r>
                        <a:t>Pengguna</a:t>
                      </a:r>
                    </a:p>
                  </a:txBody>
                  <a:tcPr marL="54864" marR="54864" marT="18288" marB="18288">
                    <a:solidFill>
                      <a:srgbClr val="E5E7EB"/>
                    </a:solidFill>
                  </a:tcPr>
                </a:tc>
                <a:tc>
                  <a:txBody>
                    <a:bodyPr/>
                    <a:lstStyle/>
                    <a:p>
                      <a:pPr>
                        <a:defRPr sz="1000" b="1">
                          <a:solidFill>
                            <a:srgbClr val="000000"/>
                          </a:solidFill>
                          <a:latin typeface="Calibri"/>
                        </a:defRPr>
                      </a:pPr>
                      <a:r>
                        <a:t>Input (kontrak)</a:t>
                      </a:r>
                    </a:p>
                  </a:txBody>
                  <a:tcPr marL="54864" marR="54864" marT="18288" marB="18288">
                    <a:solidFill>
                      <a:srgbClr val="E5E7EB"/>
                    </a:solidFill>
                  </a:tcPr>
                </a:tc>
                <a:tc>
                  <a:txBody>
                    <a:bodyPr/>
                    <a:lstStyle/>
                    <a:p>
                      <a:pPr>
                        <a:defRPr sz="1000" b="1">
                          <a:solidFill>
                            <a:srgbClr val="000000"/>
                          </a:solidFill>
                          <a:latin typeface="Calibri"/>
                        </a:defRPr>
                      </a:pPr>
                      <a:r>
                        <a:t>Format dan validasi</a:t>
                      </a:r>
                    </a:p>
                  </a:txBody>
                  <a:tcPr marL="54864" marR="54864" marT="18288" marB="18288">
                    <a:solidFill>
                      <a:srgbClr val="E5E7EB"/>
                    </a:solidFill>
                  </a:tcPr>
                </a:tc>
                <a:tc>
                  <a:txBody>
                    <a:bodyPr/>
                    <a:lstStyle/>
                    <a:p>
                      <a:pPr>
                        <a:defRPr sz="1000" b="1">
                          <a:solidFill>
                            <a:srgbClr val="000000"/>
                          </a:solidFill>
                          <a:latin typeface="Calibri"/>
                        </a:defRPr>
                      </a:pPr>
                      <a:r>
                        <a:t>Bila tidak valid</a:t>
                      </a:r>
                    </a:p>
                  </a:txBody>
                  <a:tcPr marL="54864" marR="54864" marT="18288" marB="18288">
                    <a:solidFill>
                      <a:srgbClr val="E5E7EB"/>
                    </a:solidFill>
                  </a:tcPr>
                </a:tc>
              </a:tr>
              <a:tr h="546100">
                <a:tc>
                  <a:txBody>
                    <a:bodyPr/>
                    <a:lstStyle/>
                    <a:p>
                      <a:pPr>
                        <a:defRPr sz="1000" b="0">
                          <a:solidFill>
                            <a:srgbClr val="000000"/>
                          </a:solidFill>
                          <a:latin typeface="Calibri"/>
                        </a:defRPr>
                      </a:pPr>
                      <a:r>
                        <a:t>Pembeli</a:t>
                      </a:r>
                    </a:p>
                  </a:txBody>
                  <a:tcPr marL="54864" marR="54864" marT="18288" marB="18288">
                    <a:solidFill>
                      <a:srgbClr val="FFFFFF"/>
                    </a:solidFill>
                  </a:tcPr>
                </a:tc>
                <a:tc>
                  <a:txBody>
                    <a:bodyPr/>
                    <a:lstStyle/>
                    <a:p>
                      <a:pPr>
                        <a:defRPr sz="1000" b="0">
                          <a:solidFill>
                            <a:srgbClr val="000000"/>
                          </a:solidFill>
                          <a:latin typeface="Calibri"/>
                        </a:defRPr>
                      </a:pPr>
                      <a:r>
                        <a:t>RFQ: produk, kuantitas (ton), incoterm, pelabuhan tujuan, tenggat kirim, harga target, sertifikat wajib</a:t>
                      </a:r>
                    </a:p>
                  </a:txBody>
                  <a:tcPr marL="54864" marR="54864" marT="18288" marB="18288">
                    <a:solidFill>
                      <a:srgbClr val="FFFFFF"/>
                    </a:solidFill>
                  </a:tcPr>
                </a:tc>
                <a:tc>
                  <a:txBody>
                    <a:bodyPr/>
                    <a:lstStyle/>
                    <a:p>
                      <a:pPr>
                        <a:defRPr sz="1000" b="0">
                          <a:solidFill>
                            <a:srgbClr val="000000"/>
                          </a:solidFill>
                          <a:latin typeface="Calibri"/>
                        </a:defRPr>
                      </a:pPr>
                      <a:r>
                        <a:t>Isian bertipe; kuantitas minimal satu kontainer (12 ton untuk 20 ft, 25 ton untuk 40 ft); tenggat tidak kurang dari waktu produksi minimum</a:t>
                      </a:r>
                    </a:p>
                  </a:txBody>
                  <a:tcPr marL="54864" marR="54864" marT="18288" marB="18288">
                    <a:solidFill>
                      <a:srgbClr val="FFFFFF"/>
                    </a:solidFill>
                  </a:tcPr>
                </a:tc>
                <a:tc>
                  <a:txBody>
                    <a:bodyPr/>
                    <a:lstStyle/>
                    <a:p>
                      <a:pPr>
                        <a:defRPr sz="1000" b="0">
                          <a:solidFill>
                            <a:srgbClr val="000000"/>
                          </a:solidFill>
                          <a:latin typeface="Calibri"/>
                        </a:defRPr>
                      </a:pPr>
                      <a:r>
                        <a:t>Ditolak dengan alasan; Sales Agent meminta perbaikan</a:t>
                      </a:r>
                    </a:p>
                  </a:txBody>
                  <a:tcPr marL="54864" marR="54864" marT="18288" marB="18288">
                    <a:solidFill>
                      <a:srgbClr val="FFFFFF"/>
                    </a:solidFill>
                  </a:tcPr>
                </a:tc>
              </a:tr>
              <a:tr h="546100">
                <a:tc>
                  <a:txBody>
                    <a:bodyPr/>
                    <a:lstStyle/>
                    <a:p>
                      <a:pPr>
                        <a:defRPr sz="1000" b="0">
                          <a:solidFill>
                            <a:srgbClr val="000000"/>
                          </a:solidFill>
                          <a:latin typeface="Calibri"/>
                        </a:defRPr>
                      </a:pPr>
                      <a:r>
                        <a:t>Produsen</a:t>
                      </a:r>
                    </a:p>
                  </a:txBody>
                  <a:tcPr marL="54864" marR="54864" marT="18288" marB="18288">
                    <a:solidFill>
                      <a:srgbClr val="FFFFFF"/>
                    </a:solidFill>
                  </a:tcPr>
                </a:tc>
                <a:tc>
                  <a:txBody>
                    <a:bodyPr/>
                    <a:lstStyle/>
                    <a:p>
                      <a:pPr>
                        <a:defRPr sz="1000" b="0">
                          <a:solidFill>
                            <a:srgbClr val="000000"/>
                          </a:solidFill>
                          <a:latin typeface="Calibri"/>
                        </a:defRPr>
                      </a:pPr>
                      <a:r>
                        <a:t>Pendaftaran: kapasitas kg/hari, harga per kg, jenis arang, sertifikat; balasan CFP: kg, harga, waktu siap</a:t>
                      </a:r>
                    </a:p>
                  </a:txBody>
                  <a:tcPr marL="54864" marR="54864" marT="18288" marB="18288">
                    <a:solidFill>
                      <a:srgbClr val="FFFFFF"/>
                    </a:solidFill>
                  </a:tcPr>
                </a:tc>
                <a:tc>
                  <a:txBody>
                    <a:bodyPr/>
                    <a:lstStyle/>
                    <a:p>
                      <a:pPr>
                        <a:defRPr sz="1000" b="0">
                          <a:solidFill>
                            <a:srgbClr val="000000"/>
                          </a:solidFill>
                          <a:latin typeface="Calibri"/>
                        </a:defRPr>
                      </a:pPr>
                      <a:r>
                        <a:t>Template WhatsApp berisi maksimal 3 isian; angka positif dan tidak melebihi kapasitas terdaftar x 1,5</a:t>
                      </a:r>
                    </a:p>
                  </a:txBody>
                  <a:tcPr marL="54864" marR="54864" marT="18288" marB="18288">
                    <a:solidFill>
                      <a:srgbClr val="FFFFFF"/>
                    </a:solidFill>
                  </a:tcPr>
                </a:tc>
                <a:tc>
                  <a:txBody>
                    <a:bodyPr/>
                    <a:lstStyle/>
                    <a:p>
                      <a:pPr>
                        <a:defRPr sz="1000" b="0">
                          <a:solidFill>
                            <a:srgbClr val="000000"/>
                          </a:solidFill>
                          <a:latin typeface="Calibri"/>
                        </a:defRPr>
                      </a:pPr>
                      <a:r>
                        <a:t>Balasan tidak sah dianggap tidak menawar; pengingat sekali</a:t>
                      </a:r>
                    </a:p>
                  </a:txBody>
                  <a:tcPr marL="54864" marR="54864" marT="18288" marB="18288">
                    <a:solidFill>
                      <a:srgbClr val="FFFFFF"/>
                    </a:solidFill>
                  </a:tcPr>
                </a:tc>
              </a:tr>
              <a:tr h="546100">
                <a:tc>
                  <a:txBody>
                    <a:bodyPr/>
                    <a:lstStyle/>
                    <a:p>
                      <a:pPr>
                        <a:defRPr sz="1000" b="0">
                          <a:solidFill>
                            <a:srgbClr val="000000"/>
                          </a:solidFill>
                          <a:latin typeface="Calibri"/>
                        </a:defRPr>
                      </a:pPr>
                      <a:r>
                        <a:t>Admin</a:t>
                      </a:r>
                    </a:p>
                  </a:txBody>
                  <a:tcPr marL="54864" marR="54864" marT="18288" marB="18288">
                    <a:solidFill>
                      <a:srgbClr val="FFFFFF"/>
                    </a:solidFill>
                  </a:tcPr>
                </a:tc>
                <a:tc>
                  <a:txBody>
                    <a:bodyPr/>
                    <a:lstStyle/>
                    <a:p>
                      <a:pPr>
                        <a:defRPr sz="1000" b="0">
                          <a:solidFill>
                            <a:srgbClr val="000000"/>
                          </a:solidFill>
                          <a:latin typeface="Calibri"/>
                        </a:defRPr>
                      </a:pPr>
                      <a:r>
                        <a:t>Bukti DP; persetujuan (setuju / tolak / ubah); parameter kebijakan (buffer, batas konsentrasi, ambang skor mutu, anggaran lembur, anggaran iklan mingguan)</a:t>
                      </a:r>
                    </a:p>
                  </a:txBody>
                  <a:tcPr marL="54864" marR="54864" marT="18288" marB="18288">
                    <a:solidFill>
                      <a:srgbClr val="FFFFFF"/>
                    </a:solidFill>
                  </a:tcPr>
                </a:tc>
                <a:tc>
                  <a:txBody>
                    <a:bodyPr/>
                    <a:lstStyle/>
                    <a:p>
                      <a:pPr>
                        <a:defRPr sz="1000" b="0">
                          <a:solidFill>
                            <a:srgbClr val="000000"/>
                          </a:solidFill>
                          <a:latin typeface="Calibri"/>
                        </a:defRPr>
                      </a:pPr>
                      <a:r>
                        <a:t>Kartu keputusan satu layar (Bagian 5.4); parameter bertipe dengan batas minimum dan maksimum</a:t>
                      </a:r>
                    </a:p>
                  </a:txBody>
                  <a:tcPr marL="54864" marR="54864" marT="18288" marB="18288">
                    <a:solidFill>
                      <a:srgbClr val="FFFFFF"/>
                    </a:solidFill>
                  </a:tcPr>
                </a:tc>
                <a:tc>
                  <a:txBody>
                    <a:bodyPr/>
                    <a:lstStyle/>
                    <a:p>
                      <a:pPr>
                        <a:defRPr sz="1000" b="0">
                          <a:solidFill>
                            <a:srgbClr val="000000"/>
                          </a:solidFill>
                          <a:latin typeface="Calibri"/>
                        </a:defRPr>
                      </a:pPr>
                      <a:r>
                        <a:t>Nilai di luar batas ditolak; perubahan dicatat pada audit log</a:t>
                      </a:r>
                    </a:p>
                  </a:txBody>
                  <a:tcPr marL="54864" marR="54864" marT="18288" marB="18288">
                    <a:solidFill>
                      <a:srgbClr val="FFFFFF"/>
                    </a:solidFill>
                  </a:tcPr>
                </a:tc>
              </a:tr>
              <a:tr h="393700">
                <a:tc>
                  <a:txBody>
                    <a:bodyPr/>
                    <a:lstStyle/>
                    <a:p>
                      <a:pPr>
                        <a:defRPr sz="1000" b="0">
                          <a:solidFill>
                            <a:srgbClr val="000000"/>
                          </a:solidFill>
                          <a:latin typeface="Calibri"/>
                        </a:defRPr>
                      </a:pPr>
                      <a:r>
                        <a:t>Admin pemasaran</a:t>
                      </a:r>
                    </a:p>
                  </a:txBody>
                  <a:tcPr marL="54864" marR="54864" marT="18288" marB="18288">
                    <a:solidFill>
                      <a:srgbClr val="FFFFFF"/>
                    </a:solidFill>
                  </a:tcPr>
                </a:tc>
                <a:tc>
                  <a:txBody>
                    <a:bodyPr/>
                    <a:lstStyle/>
                    <a:p>
                      <a:pPr>
                        <a:defRPr sz="1000" b="0">
                          <a:solidFill>
                            <a:srgbClr val="000000"/>
                          </a:solidFill>
                          <a:latin typeface="Calibri"/>
                        </a:defRPr>
                      </a:pPr>
                      <a:r>
                        <a:t>Daftar produk yang boleh diiklankan beserta spesifikasi dan sertifikat yang benar; anggaran mingguan; kata terlarang</a:t>
                      </a:r>
                    </a:p>
                  </a:txBody>
                  <a:tcPr marL="54864" marR="54864" marT="18288" marB="18288">
                    <a:solidFill>
                      <a:srgbClr val="FFFFFF"/>
                    </a:solidFill>
                  </a:tcPr>
                </a:tc>
                <a:tc>
                  <a:txBody>
                    <a:bodyPr/>
                    <a:lstStyle/>
                    <a:p>
                      <a:pPr>
                        <a:defRPr sz="1000" b="0">
                          <a:solidFill>
                            <a:srgbClr val="000000"/>
                          </a:solidFill>
                          <a:latin typeface="Calibri"/>
                        </a:defRPr>
                      </a:pPr>
                      <a:r>
                        <a:t>Daftar terstruktur; klaim iklan dicocokkan otomatis dengan daftar ini</a:t>
                      </a:r>
                    </a:p>
                  </a:txBody>
                  <a:tcPr marL="54864" marR="54864" marT="18288" marB="18288">
                    <a:solidFill>
                      <a:srgbClr val="FFFFFF"/>
                    </a:solidFill>
                  </a:tcPr>
                </a:tc>
                <a:tc>
                  <a:txBody>
                    <a:bodyPr/>
                    <a:lstStyle/>
                    <a:p>
                      <a:pPr>
                        <a:defRPr sz="1000" b="0">
                          <a:solidFill>
                            <a:srgbClr val="000000"/>
                          </a:solidFill>
                          <a:latin typeface="Calibri"/>
                        </a:defRPr>
                      </a:pPr>
                      <a:r>
                        <a:t>Klaim tidak cocok diblokir dan dikirim ke manusia</a:t>
                      </a:r>
                    </a:p>
                  </a:txBody>
                  <a:tcPr marL="54864" marR="54864" marT="18288" marB="18288">
                    <a:solidFill>
                      <a:srgbClr val="FFFFFF"/>
                    </a:solidFill>
                  </a:tcPr>
                </a:tc>
              </a:tr>
              <a:tr h="393700">
                <a:tc>
                  <a:txBody>
                    <a:bodyPr/>
                    <a:lstStyle/>
                    <a:p>
                      <a:pPr>
                        <a:defRPr sz="1000" b="0">
                          <a:solidFill>
                            <a:srgbClr val="000000"/>
                          </a:solidFill>
                          <a:latin typeface="Calibri"/>
                        </a:defRPr>
                      </a:pPr>
                      <a:r>
                        <a:t>Tim Compliance</a:t>
                      </a:r>
                    </a:p>
                  </a:txBody>
                  <a:tcPr marL="54864" marR="54864" marT="18288" marB="18288">
                    <a:solidFill>
                      <a:srgbClr val="FFFFFF"/>
                    </a:solidFill>
                  </a:tcPr>
                </a:tc>
                <a:tc>
                  <a:txBody>
                    <a:bodyPr/>
                    <a:lstStyle/>
                    <a:p>
                      <a:pPr>
                        <a:defRPr sz="1000" b="0">
                          <a:solidFill>
                            <a:srgbClr val="000000"/>
                          </a:solidFill>
                          <a:latin typeface="Calibri"/>
                        </a:defRPr>
                      </a:pPr>
                      <a:r>
                        <a:t>Keputusan HS dan dokumen untuk kasus keyakinan rendah</a:t>
                      </a:r>
                    </a:p>
                  </a:txBody>
                  <a:tcPr marL="54864" marR="54864" marT="18288" marB="18288">
                    <a:solidFill>
                      <a:srgbClr val="FFFFFF"/>
                    </a:solidFill>
                  </a:tcPr>
                </a:tc>
                <a:tc>
                  <a:txBody>
                    <a:bodyPr/>
                    <a:lstStyle/>
                    <a:p>
                      <a:pPr>
                        <a:defRPr sz="1000" b="0">
                          <a:solidFill>
                            <a:srgbClr val="000000"/>
                          </a:solidFill>
                          <a:latin typeface="Calibri"/>
                        </a:defRPr>
                      </a:pPr>
                      <a:r>
                        <a:t>Kode HS terdaftar pada katalog</a:t>
                      </a:r>
                    </a:p>
                  </a:txBody>
                  <a:tcPr marL="54864" marR="54864" marT="18288" marB="18288">
                    <a:solidFill>
                      <a:srgbClr val="FFFFFF"/>
                    </a:solidFill>
                  </a:tcPr>
                </a:tc>
                <a:tc>
                  <a:txBody>
                    <a:bodyPr/>
                    <a:lstStyle/>
                    <a:p>
                      <a:pPr>
                        <a:defRPr sz="1000" b="0">
                          <a:solidFill>
                            <a:srgbClr val="000000"/>
                          </a:solidFill>
                          <a:latin typeface="Calibri"/>
                        </a:defRPr>
                      </a:pPr>
                      <a:r>
                        <a:t>Kasus tetap terbuka dan naik prioritas</a:t>
                      </a:r>
                    </a:p>
                  </a:txBody>
                  <a:tcPr marL="54864" marR="54864" marT="18288" marB="18288">
                    <a:solidFill>
                      <a:srgbClr val="FFFFFF"/>
                    </a:solidFill>
                  </a:tcPr>
                </a:tc>
              </a:tr>
              <a:tr h="241300">
                <a:tc>
                  <a:txBody>
                    <a:bodyPr/>
                    <a:lstStyle/>
                    <a:p>
                      <a:pPr>
                        <a:defRPr sz="1000" b="0">
                          <a:solidFill>
                            <a:srgbClr val="000000"/>
                          </a:solidFill>
                          <a:latin typeface="Calibri"/>
                        </a:defRPr>
                      </a:pPr>
                      <a:r>
                        <a:t>Sistem lain</a:t>
                      </a:r>
                    </a:p>
                  </a:txBody>
                  <a:tcPr marL="54864" marR="54864" marT="18288" marB="18288">
                    <a:solidFill>
                      <a:srgbClr val="FFFFFF"/>
                    </a:solidFill>
                  </a:tcPr>
                </a:tc>
                <a:tc>
                  <a:txBody>
                    <a:bodyPr/>
                    <a:lstStyle/>
                    <a:p>
                      <a:pPr>
                        <a:defRPr sz="1000" b="0">
                          <a:solidFill>
                            <a:srgbClr val="000000"/>
                          </a:solidFill>
                          <a:latin typeface="Calibri"/>
                        </a:defRPr>
                      </a:pPr>
                      <a:r>
                        <a:t>Data ERP/CRM, sensor mesin, jadwal kapal</a:t>
                      </a:r>
                    </a:p>
                  </a:txBody>
                  <a:tcPr marL="54864" marR="54864" marT="18288" marB="18288">
                    <a:solidFill>
                      <a:srgbClr val="FFFFFF"/>
                    </a:solidFill>
                  </a:tcPr>
                </a:tc>
                <a:tc>
                  <a:txBody>
                    <a:bodyPr/>
                    <a:lstStyle/>
                    <a:p>
                      <a:pPr>
                        <a:defRPr sz="1000" b="0">
                          <a:solidFill>
                            <a:srgbClr val="000000"/>
                          </a:solidFill>
                          <a:latin typeface="Calibri"/>
                        </a:defRPr>
                      </a:pPr>
                      <a:r>
                        <a:t>Event bertipe dan bertanda tangan digital</a:t>
                      </a:r>
                    </a:p>
                  </a:txBody>
                  <a:tcPr marL="54864" marR="54864" marT="18288" marB="18288">
                    <a:solidFill>
                      <a:srgbClr val="FFFFFF"/>
                    </a:solidFill>
                  </a:tcPr>
                </a:tc>
                <a:tc>
                  <a:txBody>
                    <a:bodyPr/>
                    <a:lstStyle/>
                    <a:p>
                      <a:pPr>
                        <a:defRPr sz="1000" b="0">
                          <a:solidFill>
                            <a:srgbClr val="000000"/>
                          </a:solidFill>
                          <a:latin typeface="Calibri"/>
                        </a:defRPr>
                      </a:pPr>
                      <a:r>
                        <a:t>Ditolak oleh bus dan dicatat</a:t>
                      </a:r>
                    </a:p>
                  </a:txBody>
                  <a:tcPr marL="54864" marR="54864" marT="18288" marB="18288">
                    <a:solidFill>
                      <a:srgbClr val="FFFFFF"/>
                    </a:solidFill>
                  </a:tcPr>
                </a:tc>
              </a:tr>
            </a:tbl>
          </a:graphicData>
        </a:graphic>
      </p:graphicFrame>
      <p:graphicFrame>
        <p:nvGraphicFramePr>
          <p:cNvPr id="7" name="Table 6"/>
          <p:cNvGraphicFramePr>
            <a:graphicFrameLocks noGrp="1"/>
          </p:cNvGraphicFramePr>
          <p:nvPr/>
        </p:nvGraphicFramePr>
        <p:xfrm>
          <a:off x="274320" y="4389120"/>
          <a:ext cx="11521440" cy="1752600"/>
        </p:xfrm>
        <a:graphic>
          <a:graphicData uri="http://schemas.openxmlformats.org/drawingml/2006/table">
            <a:tbl>
              <a:tblPr firstRow="1" bandRow="1">
                <a:tableStyleId>{5C22544A-7EE6-4342-B048-85BDC9FD1C3A}</a:tableStyleId>
              </a:tblPr>
              <a:tblGrid>
                <a:gridCol w="1645920"/>
                <a:gridCol w="6949440"/>
                <a:gridCol w="2926080"/>
              </a:tblGrid>
              <a:tr h="241300">
                <a:tc>
                  <a:txBody>
                    <a:bodyPr/>
                    <a:lstStyle/>
                    <a:p>
                      <a:pPr>
                        <a:defRPr sz="1000" b="1">
                          <a:solidFill>
                            <a:srgbClr val="000000"/>
                          </a:solidFill>
                          <a:latin typeface="Calibri"/>
                        </a:defRPr>
                      </a:pPr>
                      <a:r>
                        <a:t>Penerima</a:t>
                      </a:r>
                    </a:p>
                  </a:txBody>
                  <a:tcPr marL="54864" marR="54864" marT="18288" marB="18288">
                    <a:solidFill>
                      <a:srgbClr val="E5E7EB"/>
                    </a:solidFill>
                  </a:tcPr>
                </a:tc>
                <a:tc>
                  <a:txBody>
                    <a:bodyPr/>
                    <a:lstStyle/>
                    <a:p>
                      <a:pPr>
                        <a:defRPr sz="1000" b="1">
                          <a:solidFill>
                            <a:srgbClr val="000000"/>
                          </a:solidFill>
                          <a:latin typeface="Calibri"/>
                        </a:defRPr>
                      </a:pPr>
                      <a:r>
                        <a:t>Keluaran (kontrak)</a:t>
                      </a:r>
                    </a:p>
                  </a:txBody>
                  <a:tcPr marL="54864" marR="54864" marT="18288" marB="18288">
                    <a:solidFill>
                      <a:srgbClr val="E5E7EB"/>
                    </a:solidFill>
                  </a:tcPr>
                </a:tc>
                <a:tc>
                  <a:txBody>
                    <a:bodyPr/>
                    <a:lstStyle/>
                    <a:p>
                      <a:pPr>
                        <a:defRPr sz="1000" b="1">
                          <a:solidFill>
                            <a:srgbClr val="000000"/>
                          </a:solidFill>
                          <a:latin typeface="Calibri"/>
                        </a:defRPr>
                      </a:pPr>
                      <a:r>
                        <a:t>Kapan</a:t>
                      </a:r>
                    </a:p>
                  </a:txBody>
                  <a:tcPr marL="54864" marR="54864" marT="18288" marB="18288">
                    <a:solidFill>
                      <a:srgbClr val="E5E7EB"/>
                    </a:solidFill>
                  </a:tcPr>
                </a:tc>
              </a:tr>
              <a:tr h="241300">
                <a:tc>
                  <a:txBody>
                    <a:bodyPr/>
                    <a:lstStyle/>
                    <a:p>
                      <a:pPr>
                        <a:defRPr sz="1000" b="0">
                          <a:solidFill>
                            <a:srgbClr val="000000"/>
                          </a:solidFill>
                          <a:latin typeface="Calibri"/>
                        </a:defRPr>
                      </a:pPr>
                      <a:r>
                        <a:t>Pembeli</a:t>
                      </a:r>
                    </a:p>
                  </a:txBody>
                  <a:tcPr marL="54864" marR="54864" marT="18288" marB="18288">
                    <a:solidFill>
                      <a:srgbClr val="FFFFFF"/>
                    </a:solidFill>
                  </a:tcPr>
                </a:tc>
                <a:tc>
                  <a:txBody>
                    <a:bodyPr/>
                    <a:lstStyle/>
                    <a:p>
                      <a:pPr>
                        <a:defRPr sz="1000" b="0">
                          <a:solidFill>
                            <a:srgbClr val="000000"/>
                          </a:solidFill>
                          <a:latin typeface="Calibri"/>
                        </a:defRPr>
                      </a:pPr>
                      <a:r>
                        <a:t>LoI, status order (dikonfirmasi, produksi, stuffing, berangkat), dokumen ekspor, perkiraan tiba</a:t>
                      </a:r>
                    </a:p>
                  </a:txBody>
                  <a:tcPr marL="54864" marR="54864" marT="18288" marB="18288">
                    <a:solidFill>
                      <a:srgbClr val="FFFFFF"/>
                    </a:solidFill>
                  </a:tcPr>
                </a:tc>
                <a:tc>
                  <a:txBody>
                    <a:bodyPr/>
                    <a:lstStyle/>
                    <a:p>
                      <a:pPr>
                        <a:defRPr sz="1000" b="0">
                          <a:solidFill>
                            <a:srgbClr val="000000"/>
                          </a:solidFill>
                          <a:latin typeface="Calibri"/>
                        </a:defRPr>
                      </a:pPr>
                      <a:r>
                        <a:t>Tiap perubahan status</a:t>
                      </a:r>
                    </a:p>
                  </a:txBody>
                  <a:tcPr marL="54864" marR="54864" marT="18288" marB="18288">
                    <a:solidFill>
                      <a:srgbClr val="FFFFFF"/>
                    </a:solidFill>
                  </a:tcPr>
                </a:tc>
              </a:tr>
              <a:tr h="241300">
                <a:tc>
                  <a:txBody>
                    <a:bodyPr/>
                    <a:lstStyle/>
                    <a:p>
                      <a:pPr>
                        <a:defRPr sz="1000" b="0">
                          <a:solidFill>
                            <a:srgbClr val="000000"/>
                          </a:solidFill>
                          <a:latin typeface="Calibri"/>
                        </a:defRPr>
                      </a:pPr>
                      <a:r>
                        <a:t>Produsen</a:t>
                      </a:r>
                    </a:p>
                  </a:txBody>
                  <a:tcPr marL="54864" marR="54864" marT="18288" marB="18288">
                    <a:solidFill>
                      <a:srgbClr val="FFFFFF"/>
                    </a:solidFill>
                  </a:tcPr>
                </a:tc>
                <a:tc>
                  <a:txBody>
                    <a:bodyPr/>
                    <a:lstStyle/>
                    <a:p>
                      <a:pPr>
                        <a:defRPr sz="1000" b="0">
                          <a:solidFill>
                            <a:srgbClr val="000000"/>
                          </a:solidFill>
                          <a:latin typeface="Calibri"/>
                        </a:defRPr>
                      </a:pPr>
                      <a:r>
                        <a:t>CFP, kuota yang diberikan, hasil uji mutu dan skor mutu</a:t>
                      </a:r>
                    </a:p>
                  </a:txBody>
                  <a:tcPr marL="54864" marR="54864" marT="18288" marB="18288">
                    <a:solidFill>
                      <a:srgbClr val="FFFFFF"/>
                    </a:solidFill>
                  </a:tcPr>
                </a:tc>
                <a:tc>
                  <a:txBody>
                    <a:bodyPr/>
                    <a:lstStyle/>
                    <a:p>
                      <a:pPr>
                        <a:defRPr sz="1000" b="0">
                          <a:solidFill>
                            <a:srgbClr val="000000"/>
                          </a:solidFill>
                          <a:latin typeface="Calibri"/>
                        </a:defRPr>
                      </a:pPr>
                      <a:r>
                        <a:t>Saat CFP, pemberian kuota, dan setelah uji</a:t>
                      </a:r>
                    </a:p>
                  </a:txBody>
                  <a:tcPr marL="54864" marR="54864" marT="18288" marB="18288">
                    <a:solidFill>
                      <a:srgbClr val="FFFFFF"/>
                    </a:solidFill>
                  </a:tcPr>
                </a:tc>
              </a:tr>
              <a:tr h="393700">
                <a:tc>
                  <a:txBody>
                    <a:bodyPr/>
                    <a:lstStyle/>
                    <a:p>
                      <a:pPr>
                        <a:defRPr sz="1000" b="0">
                          <a:solidFill>
                            <a:srgbClr val="000000"/>
                          </a:solidFill>
                          <a:latin typeface="Calibri"/>
                        </a:defRPr>
                      </a:pPr>
                      <a:r>
                        <a:t>Admin</a:t>
                      </a:r>
                    </a:p>
                  </a:txBody>
                  <a:tcPr marL="54864" marR="54864" marT="18288" marB="18288">
                    <a:solidFill>
                      <a:srgbClr val="FFFFFF"/>
                    </a:solidFill>
                  </a:tcPr>
                </a:tc>
                <a:tc>
                  <a:txBody>
                    <a:bodyPr/>
                    <a:lstStyle/>
                    <a:p>
                      <a:pPr>
                        <a:defRPr sz="1000" b="0">
                          <a:solidFill>
                            <a:srgbClr val="000000"/>
                          </a:solidFill>
                          <a:latin typeface="Calibri"/>
                        </a:defRPr>
                      </a:pPr>
                      <a:r>
                        <a:t>Kartu keputusan (rekomendasi, alasan, aksi default), ringkasan harian, peringatan risiko</a:t>
                      </a:r>
                    </a:p>
                  </a:txBody>
                  <a:tcPr marL="54864" marR="54864" marT="18288" marB="18288">
                    <a:solidFill>
                      <a:srgbClr val="FFFFFF"/>
                    </a:solidFill>
                  </a:tcPr>
                </a:tc>
                <a:tc>
                  <a:txBody>
                    <a:bodyPr/>
                    <a:lstStyle/>
                    <a:p>
                      <a:pPr>
                        <a:defRPr sz="1000" b="0">
                          <a:solidFill>
                            <a:srgbClr val="000000"/>
                          </a:solidFill>
                          <a:latin typeface="Calibri"/>
                        </a:defRPr>
                      </a:pPr>
                      <a:r>
                        <a:t>Bila ada pengecualian; ringkasan sekali sehari</a:t>
                      </a:r>
                    </a:p>
                  </a:txBody>
                  <a:tcPr marL="54864" marR="54864" marT="18288" marB="18288">
                    <a:solidFill>
                      <a:srgbClr val="FFFFFF"/>
                    </a:solidFill>
                  </a:tcPr>
                </a:tc>
              </a:tr>
              <a:tr h="393700">
                <a:tc>
                  <a:txBody>
                    <a:bodyPr/>
                    <a:lstStyle/>
                    <a:p>
                      <a:pPr>
                        <a:defRPr sz="1000" b="0">
                          <a:solidFill>
                            <a:srgbClr val="000000"/>
                          </a:solidFill>
                          <a:latin typeface="Calibri"/>
                        </a:defRPr>
                      </a:pPr>
                      <a:r>
                        <a:t>Admin pemasaran</a:t>
                      </a:r>
                    </a:p>
                  </a:txBody>
                  <a:tcPr marL="54864" marR="54864" marT="18288" marB="18288">
                    <a:solidFill>
                      <a:srgbClr val="FFFFFF"/>
                    </a:solidFill>
                  </a:tcPr>
                </a:tc>
                <a:tc>
                  <a:txBody>
                    <a:bodyPr/>
                    <a:lstStyle/>
                    <a:p>
                      <a:pPr>
                        <a:defRPr sz="1000" b="0">
                          <a:solidFill>
                            <a:srgbClr val="000000"/>
                          </a:solidFill>
                          <a:latin typeface="Calibri"/>
                        </a:defRPr>
                      </a:pPr>
                      <a:r>
                        <a:t>Laporan mingguan per kanal (biaya, klik, RFQ berkualitas, biaya per RFQ) dan usulan pembagian anggaran</a:t>
                      </a:r>
                    </a:p>
                  </a:txBody>
                  <a:tcPr marL="54864" marR="54864" marT="18288" marB="18288">
                    <a:solidFill>
                      <a:srgbClr val="FFFFFF"/>
                    </a:solidFill>
                  </a:tcPr>
                </a:tc>
                <a:tc>
                  <a:txBody>
                    <a:bodyPr/>
                    <a:lstStyle/>
                    <a:p>
                      <a:pPr>
                        <a:defRPr sz="1000" b="0">
                          <a:solidFill>
                            <a:srgbClr val="000000"/>
                          </a:solidFill>
                          <a:latin typeface="Calibri"/>
                        </a:defRPr>
                      </a:pPr>
                      <a:r>
                        <a:t>Mingguan</a:t>
                      </a:r>
                    </a:p>
                  </a:txBody>
                  <a:tcPr marL="54864" marR="54864" marT="18288" marB="18288">
                    <a:solidFill>
                      <a:srgbClr val="FFFFFF"/>
                    </a:solidFill>
                  </a:tcPr>
                </a:tc>
              </a:tr>
              <a:tr h="241300">
                <a:tc>
                  <a:txBody>
                    <a:bodyPr/>
                    <a:lstStyle/>
                    <a:p>
                      <a:pPr>
                        <a:defRPr sz="1000" b="0">
                          <a:solidFill>
                            <a:srgbClr val="000000"/>
                          </a:solidFill>
                          <a:latin typeface="Calibri"/>
                        </a:defRPr>
                      </a:pPr>
                      <a:r>
                        <a:t>Audit</a:t>
                      </a:r>
                    </a:p>
                  </a:txBody>
                  <a:tcPr marL="54864" marR="54864" marT="18288" marB="18288">
                    <a:solidFill>
                      <a:srgbClr val="FFFFFF"/>
                    </a:solidFill>
                  </a:tcPr>
                </a:tc>
                <a:tc>
                  <a:txBody>
                    <a:bodyPr/>
                    <a:lstStyle/>
                    <a:p>
                      <a:pPr>
                        <a:defRPr sz="1000" b="0">
                          <a:solidFill>
                            <a:srgbClr val="000000"/>
                          </a:solidFill>
                          <a:latin typeface="Calibri"/>
                        </a:defRPr>
                      </a:pPr>
                      <a:r>
                        <a:t>Log berantai-hash: siapa mengirim apa, kapan, dengan wewenang apa</a:t>
                      </a:r>
                    </a:p>
                  </a:txBody>
                  <a:tcPr marL="54864" marR="54864" marT="18288" marB="18288">
                    <a:solidFill>
                      <a:srgbClr val="FFFFFF"/>
                    </a:solidFill>
                  </a:tcPr>
                </a:tc>
                <a:tc>
                  <a:txBody>
                    <a:bodyPr/>
                    <a:lstStyle/>
                    <a:p>
                      <a:pPr>
                        <a:defRPr sz="1000" b="0">
                          <a:solidFill>
                            <a:srgbClr val="000000"/>
                          </a:solidFill>
                          <a:latin typeface="Calibri"/>
                        </a:defRPr>
                      </a:pPr>
                      <a:r>
                        <a:t>Selalu; tidak dapat diubah diam-diam</a:t>
                      </a:r>
                    </a:p>
                  </a:txBody>
                  <a:tcPr marL="54864" marR="54864" marT="18288" marB="18288">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5.4 Menghindari cognitive overload pada manusia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24</a:t>
            </a:r>
          </a:p>
        </p:txBody>
      </p:sp>
      <p:graphicFrame>
        <p:nvGraphicFramePr>
          <p:cNvPr id="6" name="Table 5"/>
          <p:cNvGraphicFramePr>
            <a:graphicFrameLocks noGrp="1"/>
          </p:cNvGraphicFramePr>
          <p:nvPr/>
        </p:nvGraphicFramePr>
        <p:xfrm>
          <a:off x="320040" y="1005840"/>
          <a:ext cx="11521440" cy="3779512"/>
        </p:xfrm>
        <a:graphic>
          <a:graphicData uri="http://schemas.openxmlformats.org/drawingml/2006/table">
            <a:tbl>
              <a:tblPr firstRow="1" bandRow="1">
                <a:tableStyleId>{5C22544A-7EE6-4342-B048-85BDC9FD1C3A}</a:tableStyleId>
              </a:tblPr>
              <a:tblGrid>
                <a:gridCol w="2743200"/>
                <a:gridCol w="8778240"/>
              </a:tblGrid>
              <a:tr h="264160">
                <a:tc>
                  <a:txBody>
                    <a:bodyPr/>
                    <a:lstStyle/>
                    <a:p>
                      <a:pPr>
                        <a:defRPr sz="1150" b="1">
                          <a:solidFill>
                            <a:srgbClr val="000000"/>
                          </a:solidFill>
                          <a:latin typeface="Calibri"/>
                        </a:defRPr>
                      </a:pPr>
                      <a:r>
                        <a:t>Prinsip</a:t>
                      </a:r>
                    </a:p>
                  </a:txBody>
                  <a:tcPr marL="54864" marR="54864" marT="18288" marB="18288">
                    <a:solidFill>
                      <a:srgbClr val="E5E7EB"/>
                    </a:solidFill>
                  </a:tcPr>
                </a:tc>
                <a:tc>
                  <a:txBody>
                    <a:bodyPr/>
                    <a:lstStyle/>
                    <a:p>
                      <a:pPr>
                        <a:defRPr sz="1150" b="1">
                          <a:solidFill>
                            <a:srgbClr val="000000"/>
                          </a:solidFill>
                          <a:latin typeface="Calibri"/>
                        </a:defRPr>
                      </a:pPr>
                      <a:r>
                        <a:t>Penerapan pada KCMAS</a:t>
                      </a:r>
                    </a:p>
                  </a:txBody>
                  <a:tcPr marL="54864" marR="54864" marT="18288" marB="18288">
                    <a:solidFill>
                      <a:srgbClr val="E5E7EB"/>
                    </a:solidFill>
                  </a:tcPr>
                </a:tc>
              </a:tr>
              <a:tr h="439419">
                <a:tc>
                  <a:txBody>
                    <a:bodyPr/>
                    <a:lstStyle/>
                    <a:p>
                      <a:pPr>
                        <a:defRPr sz="1150" b="0">
                          <a:solidFill>
                            <a:srgbClr val="000000"/>
                          </a:solidFill>
                          <a:latin typeface="Calibri"/>
                        </a:defRPr>
                      </a:pPr>
                      <a:r>
                        <a:t>Routing berdasarkan pengecualian</a:t>
                      </a:r>
                    </a:p>
                  </a:txBody>
                  <a:tcPr marL="54864" marR="54864" marT="18288" marB="18288">
                    <a:solidFill>
                      <a:srgbClr val="FFFFFF"/>
                    </a:solidFill>
                  </a:tcPr>
                </a:tc>
                <a:tc>
                  <a:txBody>
                    <a:bodyPr/>
                    <a:lstStyle/>
                    <a:p>
                      <a:pPr>
                        <a:defRPr sz="1150" b="0">
                          <a:solidFill>
                            <a:srgbClr val="000000"/>
                          </a:solidFill>
                          <a:latin typeface="Calibri"/>
                        </a:defRPr>
                      </a:pPr>
                      <a:r>
                        <a:t>Sistem tidak meminta manusia menyetujui semua hal; hanya risiko tinggi, keyakinan rendah, atau nilai besar. Hasilnya sentuhan manusia per order turun dari 78 (manual) menjadi 1,3.</a:t>
                      </a:r>
                    </a:p>
                  </a:txBody>
                  <a:tcPr marL="54864" marR="54864" marT="18288" marB="18288">
                    <a:solidFill>
                      <a:srgbClr val="FFFFFF"/>
                    </a:solidFill>
                  </a:tcPr>
                </a:tc>
              </a:tr>
              <a:tr h="439419">
                <a:tc>
                  <a:txBody>
                    <a:bodyPr/>
                    <a:lstStyle/>
                    <a:p>
                      <a:pPr>
                        <a:defRPr sz="1150" b="0">
                          <a:solidFill>
                            <a:srgbClr val="000000"/>
                          </a:solidFill>
                          <a:latin typeface="Calibri"/>
                        </a:defRPr>
                      </a:pPr>
                      <a:r>
                        <a:t>Kartu keputusan satu layar</a:t>
                      </a:r>
                    </a:p>
                  </a:txBody>
                  <a:tcPr marL="54864" marR="54864" marT="18288" marB="18288">
                    <a:solidFill>
                      <a:srgbClr val="FFFFFF"/>
                    </a:solidFill>
                  </a:tcPr>
                </a:tc>
                <a:tc>
                  <a:txBody>
                    <a:bodyPr/>
                    <a:lstStyle/>
                    <a:p>
                      <a:pPr>
                        <a:defRPr sz="1150" b="0">
                          <a:solidFill>
                            <a:srgbClr val="000000"/>
                          </a:solidFill>
                          <a:latin typeface="Calibri"/>
                        </a:defRPr>
                      </a:pPr>
                      <a:r>
                        <a:t>Setiap permintaan persetujuan berisi rekomendasi sistem, tiga alasan utama, dampak biaya dan risiko, serta aksi default. Admin cukup memilih Setuju, Ubah, atau Tolak.</a:t>
                      </a:r>
                    </a:p>
                  </a:txBody>
                  <a:tcPr marL="54864" marR="54864" marT="18288" marB="18288">
                    <a:solidFill>
                      <a:srgbClr val="FFFFFF"/>
                    </a:solidFill>
                  </a:tcPr>
                </a:tc>
              </a:tr>
              <a:tr h="439419">
                <a:tc>
                  <a:txBody>
                    <a:bodyPr/>
                    <a:lstStyle/>
                    <a:p>
                      <a:pPr>
                        <a:defRPr sz="1150" b="0">
                          <a:solidFill>
                            <a:srgbClr val="000000"/>
                          </a:solidFill>
                          <a:latin typeface="Calibri"/>
                        </a:defRPr>
                      </a:pPr>
                      <a:r>
                        <a:t>Ringkasan (digest) dan pengumpulan</a:t>
                      </a:r>
                    </a:p>
                  </a:txBody>
                  <a:tcPr marL="54864" marR="54864" marT="18288" marB="18288">
                    <a:solidFill>
                      <a:srgbClr val="FFFFFF"/>
                    </a:solidFill>
                  </a:tcPr>
                </a:tc>
                <a:tc>
                  <a:txBody>
                    <a:bodyPr/>
                    <a:lstStyle/>
                    <a:p>
                      <a:pPr>
                        <a:defRPr sz="1150" b="0">
                          <a:solidFill>
                            <a:srgbClr val="000000"/>
                          </a:solidFill>
                          <a:latin typeface="Calibri"/>
                        </a:defRPr>
                      </a:pPr>
                      <a:r>
                        <a:t>Notifikasi tidak mendesak dikumpulkan menjadi ringkasan harian; hanya peringatan kritis (mis. kapal akan terlewat) yang dikirim langsung.</a:t>
                      </a:r>
                    </a:p>
                  </a:txBody>
                  <a:tcPr marL="54864" marR="54864" marT="18288" marB="18288">
                    <a:solidFill>
                      <a:srgbClr val="FFFFFF"/>
                    </a:solidFill>
                  </a:tcPr>
                </a:tc>
              </a:tr>
              <a:tr h="439419">
                <a:tc>
                  <a:txBody>
                    <a:bodyPr/>
                    <a:lstStyle/>
                    <a:p>
                      <a:pPr>
                        <a:defRPr sz="1150" b="0">
                          <a:solidFill>
                            <a:srgbClr val="000000"/>
                          </a:solidFill>
                          <a:latin typeface="Calibri"/>
                        </a:defRPr>
                      </a:pPr>
                      <a:r>
                        <a:t>Prioritas dan batas volume</a:t>
                      </a:r>
                    </a:p>
                  </a:txBody>
                  <a:tcPr marL="54864" marR="54864" marT="18288" marB="18288">
                    <a:solidFill>
                      <a:srgbClr val="FFFFFF"/>
                    </a:solidFill>
                  </a:tcPr>
                </a:tc>
                <a:tc>
                  <a:txBody>
                    <a:bodyPr/>
                    <a:lstStyle/>
                    <a:p>
                      <a:pPr>
                        <a:defRPr sz="1150" b="0">
                          <a:solidFill>
                            <a:srgbClr val="000000"/>
                          </a:solidFill>
                          <a:latin typeface="Calibri"/>
                        </a:defRPr>
                      </a:pPr>
                      <a:r>
                        <a:t>Antrean persetujuan diurutkan menurut nilai dan urgensi; ada batas jumlah item aktif per admin, sisanya menunggu atau dieskalasi.</a:t>
                      </a:r>
                    </a:p>
                  </a:txBody>
                  <a:tcPr marL="54864" marR="54864" marT="18288" marB="18288">
                    <a:solidFill>
                      <a:srgbClr val="FFFFFF"/>
                    </a:solidFill>
                  </a:tcPr>
                </a:tc>
              </a:tr>
              <a:tr h="439419">
                <a:tc>
                  <a:txBody>
                    <a:bodyPr/>
                    <a:lstStyle/>
                    <a:p>
                      <a:pPr>
                        <a:defRPr sz="1150" b="0">
                          <a:solidFill>
                            <a:srgbClr val="000000"/>
                          </a:solidFill>
                          <a:latin typeface="Calibri"/>
                        </a:defRPr>
                      </a:pPr>
                      <a:r>
                        <a:t>Bahasa dan format sederhana</a:t>
                      </a:r>
                    </a:p>
                  </a:txBody>
                  <a:tcPr marL="54864" marR="54864" marT="18288" marB="18288">
                    <a:solidFill>
                      <a:srgbClr val="FFFFFF"/>
                    </a:solidFill>
                  </a:tcPr>
                </a:tc>
                <a:tc>
                  <a:txBody>
                    <a:bodyPr/>
                    <a:lstStyle/>
                    <a:p>
                      <a:pPr>
                        <a:defRPr sz="1150" b="0">
                          <a:solidFill>
                            <a:srgbClr val="000000"/>
                          </a:solidFill>
                          <a:latin typeface="Calibri"/>
                        </a:defRPr>
                      </a:pPr>
                      <a:r>
                        <a:t>Produsen hanya menerima template WhatsApp pendek dengan maksimal tiga isian dan angka baku, tanpa istilah teknis.</a:t>
                      </a:r>
                    </a:p>
                  </a:txBody>
                  <a:tcPr marL="54864" marR="54864" marT="18288" marB="18288">
                    <a:solidFill>
                      <a:srgbClr val="FFFFFF"/>
                    </a:solidFill>
                  </a:tcPr>
                </a:tc>
              </a:tr>
              <a:tr h="439419">
                <a:tc>
                  <a:txBody>
                    <a:bodyPr/>
                    <a:lstStyle/>
                    <a:p>
                      <a:pPr>
                        <a:defRPr sz="1150" b="0">
                          <a:solidFill>
                            <a:srgbClr val="000000"/>
                          </a:solidFill>
                          <a:latin typeface="Calibri"/>
                        </a:defRPr>
                      </a:pPr>
                      <a:r>
                        <a:t>Otonomi bertahap</a:t>
                      </a:r>
                    </a:p>
                  </a:txBody>
                  <a:tcPr marL="54864" marR="54864" marT="18288" marB="18288">
                    <a:solidFill>
                      <a:srgbClr val="FFFFFF"/>
                    </a:solidFill>
                  </a:tcPr>
                </a:tc>
                <a:tc>
                  <a:txBody>
                    <a:bodyPr/>
                    <a:lstStyle/>
                    <a:p>
                      <a:pPr>
                        <a:defRPr sz="1150" b="0">
                          <a:solidFill>
                            <a:srgbClr val="000000"/>
                          </a:solidFill>
                          <a:latin typeface="Calibri"/>
                        </a:defRPr>
                      </a:pPr>
                      <a:r>
                        <a:t>Level otonomi dinaikkan hanya setelah tingkat kesalahan terukur di bawah ambang; semua aksi dapat dijelaskan lewat audit log.</a:t>
                      </a:r>
                    </a:p>
                  </a:txBody>
                  <a:tcPr marL="54864" marR="54864" marT="18288" marB="18288">
                    <a:solidFill>
                      <a:srgbClr val="FFFFFF"/>
                    </a:solidFill>
                  </a:tcPr>
                </a:tc>
              </a:tr>
              <a:tr h="439419">
                <a:tc>
                  <a:txBody>
                    <a:bodyPr/>
                    <a:lstStyle/>
                    <a:p>
                      <a:pPr>
                        <a:defRPr sz="1150" b="0">
                          <a:solidFill>
                            <a:srgbClr val="000000"/>
                          </a:solidFill>
                          <a:latin typeface="Calibri"/>
                        </a:defRPr>
                      </a:pPr>
                      <a:r>
                        <a:t>Batas penyiaran pesan</a:t>
                      </a:r>
                    </a:p>
                  </a:txBody>
                  <a:tcPr marL="54864" marR="54864" marT="18288" marB="18288">
                    <a:solidFill>
                      <a:srgbClr val="FFFFFF"/>
                    </a:solidFill>
                  </a:tcPr>
                </a:tc>
                <a:tc>
                  <a:txBody>
                    <a:bodyPr/>
                    <a:lstStyle/>
                    <a:p>
                      <a:pPr>
                        <a:defRPr sz="1150" b="0">
                          <a:solidFill>
                            <a:srgbClr val="000000"/>
                          </a:solidFill>
                          <a:latin typeface="Calibri"/>
                        </a:defRPr>
                      </a:pPr>
                      <a:r>
                        <a:t>CFP tidak disiarkan ke semua produsen pada skala besar, tetapi ke subset regional, sehingga agen tidak dibanjiri pesan (Bagian 8.5).</a:t>
                      </a:r>
                    </a:p>
                  </a:txBody>
                  <a:tcPr marL="54864" marR="54864" marT="18288" marB="18288">
                    <a:solidFill>
                      <a:srgbClr val="FFFFFF"/>
                    </a:solidFill>
                  </a:tcPr>
                </a:tc>
              </a:tr>
              <a:tr h="439419">
                <a:tc>
                  <a:txBody>
                    <a:bodyPr/>
                    <a:lstStyle/>
                    <a:p>
                      <a:pPr>
                        <a:defRPr sz="1150" b="0">
                          <a:solidFill>
                            <a:srgbClr val="000000"/>
                          </a:solidFill>
                          <a:latin typeface="Calibri"/>
                        </a:defRPr>
                      </a:pPr>
                      <a:r>
                        <a:t>Iklan: persetujuan hanya untuk hal baru</a:t>
                      </a:r>
                    </a:p>
                  </a:txBody>
                  <a:tcPr marL="54864" marR="54864" marT="18288" marB="18288">
                    <a:solidFill>
                      <a:srgbClr val="FFFFFF"/>
                    </a:solidFill>
                  </a:tcPr>
                </a:tc>
                <a:tc>
                  <a:txBody>
                    <a:bodyPr/>
                    <a:lstStyle/>
                    <a:p>
                      <a:pPr>
                        <a:defRPr sz="1150" b="0">
                          <a:solidFill>
                            <a:srgbClr val="000000"/>
                          </a:solidFill>
                          <a:latin typeface="Calibri"/>
                        </a:defRPr>
                      </a:pPr>
                      <a:r>
                        <a:t>Marketing Agent memindahkan anggaran antar kanal secara otomatis dalam batas mingguan; manusia hanya menyetujui materi iklan dengan klaim baru.</a:t>
                      </a:r>
                    </a:p>
                  </a:txBody>
                  <a:tcPr marL="54864" marR="54864" marT="18288" marB="18288">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5.5 Jadwal, approval, dan eskalasi</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25</a:t>
            </a:r>
          </a:p>
        </p:txBody>
      </p:sp>
      <p:graphicFrame>
        <p:nvGraphicFramePr>
          <p:cNvPr id="6" name="Table 5"/>
          <p:cNvGraphicFramePr>
            <a:graphicFrameLocks noGrp="1"/>
          </p:cNvGraphicFramePr>
          <p:nvPr/>
        </p:nvGraphicFramePr>
        <p:xfrm>
          <a:off x="274320" y="960120"/>
          <a:ext cx="11521440" cy="2809234"/>
        </p:xfrm>
        <a:graphic>
          <a:graphicData uri="http://schemas.openxmlformats.org/drawingml/2006/table">
            <a:tbl>
              <a:tblPr firstRow="1" bandRow="1">
                <a:tableStyleId>{5C22544A-7EE6-4342-B048-85BDC9FD1C3A}</a:tableStyleId>
              </a:tblPr>
              <a:tblGrid>
                <a:gridCol w="3017520"/>
                <a:gridCol w="3017520"/>
                <a:gridCol w="3474720"/>
                <a:gridCol w="2011680"/>
              </a:tblGrid>
              <a:tr h="226059">
                <a:tc>
                  <a:txBody>
                    <a:bodyPr/>
                    <a:lstStyle/>
                    <a:p>
                      <a:pPr>
                        <a:defRPr sz="900" b="1">
                          <a:solidFill>
                            <a:srgbClr val="000000"/>
                          </a:solidFill>
                          <a:latin typeface="Calibri"/>
                        </a:defRPr>
                      </a:pPr>
                      <a:r>
                        <a:t>Peristiwa</a:t>
                      </a:r>
                    </a:p>
                  </a:txBody>
                  <a:tcPr marL="54864" marR="54864" marT="18288" marB="18288">
                    <a:solidFill>
                      <a:srgbClr val="E5E7EB"/>
                    </a:solidFill>
                  </a:tcPr>
                </a:tc>
                <a:tc>
                  <a:txBody>
                    <a:bodyPr/>
                    <a:lstStyle/>
                    <a:p>
                      <a:pPr>
                        <a:defRPr sz="900" b="1">
                          <a:solidFill>
                            <a:srgbClr val="000000"/>
                          </a:solidFill>
                          <a:latin typeface="Calibri"/>
                        </a:defRPr>
                      </a:pPr>
                      <a:r>
                        <a:t>Batas waktu / SLA</a:t>
                      </a:r>
                    </a:p>
                  </a:txBody>
                  <a:tcPr marL="54864" marR="54864" marT="18288" marB="18288">
                    <a:solidFill>
                      <a:srgbClr val="E5E7EB"/>
                    </a:solidFill>
                  </a:tcPr>
                </a:tc>
                <a:tc>
                  <a:txBody>
                    <a:bodyPr/>
                    <a:lstStyle/>
                    <a:p>
                      <a:pPr>
                        <a:defRPr sz="900" b="1">
                          <a:solidFill>
                            <a:srgbClr val="000000"/>
                          </a:solidFill>
                          <a:latin typeface="Calibri"/>
                        </a:defRPr>
                      </a:pPr>
                      <a:r>
                        <a:t>Jika terlewat (eskalasi)</a:t>
                      </a:r>
                    </a:p>
                  </a:txBody>
                  <a:tcPr marL="54864" marR="54864" marT="18288" marB="18288">
                    <a:solidFill>
                      <a:srgbClr val="E5E7EB"/>
                    </a:solidFill>
                  </a:tcPr>
                </a:tc>
                <a:tc>
                  <a:txBody>
                    <a:bodyPr/>
                    <a:lstStyle/>
                    <a:p>
                      <a:pPr>
                        <a:defRPr sz="900" b="1">
                          <a:solidFill>
                            <a:srgbClr val="000000"/>
                          </a:solidFill>
                          <a:latin typeface="Calibri"/>
                        </a:defRPr>
                      </a:pPr>
                      <a:r>
                        <a:t>Status</a:t>
                      </a:r>
                    </a:p>
                  </a:txBody>
                  <a:tcPr marL="54864" marR="54864" marT="18288" marB="18288">
                    <a:solidFill>
                      <a:srgbClr val="E5E7EB"/>
                    </a:solidFill>
                  </a:tcPr>
                </a:tc>
              </a:tr>
              <a:tr h="226059">
                <a:tc>
                  <a:txBody>
                    <a:bodyPr/>
                    <a:lstStyle/>
                    <a:p>
                      <a:pPr>
                        <a:defRPr sz="900" b="0">
                          <a:solidFill>
                            <a:srgbClr val="000000"/>
                          </a:solidFill>
                          <a:latin typeface="Calibri"/>
                        </a:defRPr>
                      </a:pPr>
                      <a:r>
                        <a:t>Balasan produsen terhadap CFP</a:t>
                      </a:r>
                    </a:p>
                  </a:txBody>
                  <a:tcPr marL="54864" marR="54864" marT="18288" marB="18288">
                    <a:solidFill>
                      <a:srgbClr val="FFFFFF"/>
                    </a:solidFill>
                  </a:tcPr>
                </a:tc>
                <a:tc>
                  <a:txBody>
                    <a:bodyPr/>
                    <a:lstStyle/>
                    <a:p>
                      <a:pPr>
                        <a:defRPr sz="900" b="0">
                          <a:solidFill>
                            <a:srgbClr val="000000"/>
                          </a:solidFill>
                          <a:latin typeface="Calibri"/>
                        </a:defRPr>
                      </a:pPr>
                      <a:r>
                        <a:t>median 1.5 jam; tawaran diterima sampai 6 jam</a:t>
                      </a:r>
                    </a:p>
                  </a:txBody>
                  <a:tcPr marL="54864" marR="54864" marT="18288" marB="18288">
                    <a:solidFill>
                      <a:srgbClr val="FFFFFF"/>
                    </a:solidFill>
                  </a:tcPr>
                </a:tc>
                <a:tc>
                  <a:txBody>
                    <a:bodyPr/>
                    <a:lstStyle/>
                    <a:p>
                      <a:pPr>
                        <a:defRPr sz="900" b="0">
                          <a:solidFill>
                            <a:srgbClr val="000000"/>
                          </a:solidFill>
                          <a:latin typeface="Calibri"/>
                        </a:defRPr>
                      </a:pPr>
                      <a:r>
                        <a:t>CFP susulan ke produsen berikutnya menurut skor</a:t>
                      </a:r>
                    </a:p>
                  </a:txBody>
                  <a:tcPr marL="54864" marR="54864" marT="18288" marB="18288">
                    <a:solidFill>
                      <a:srgbClr val="FFFFFF"/>
                    </a:solidFill>
                  </a:tcPr>
                </a:tc>
                <a:tc>
                  <a:txBody>
                    <a:bodyPr/>
                    <a:lstStyle/>
                    <a:p>
                      <a:pPr>
                        <a:defRPr sz="900" b="0">
                          <a:solidFill>
                            <a:srgbClr val="000000"/>
                          </a:solidFill>
                          <a:latin typeface="Calibri"/>
                        </a:defRPr>
                      </a:pPr>
                      <a:r>
                        <a:t>dalam simulasi</a:t>
                      </a:r>
                    </a:p>
                  </a:txBody>
                  <a:tcPr marL="54864" marR="54864" marT="18288" marB="18288">
                    <a:solidFill>
                      <a:srgbClr val="FFFFFF"/>
                    </a:solidFill>
                  </a:tcPr>
                </a:tc>
              </a:tr>
              <a:tr h="226059">
                <a:tc>
                  <a:txBody>
                    <a:bodyPr/>
                    <a:lstStyle/>
                    <a:p>
                      <a:pPr>
                        <a:defRPr sz="900" b="0">
                          <a:solidFill>
                            <a:srgbClr val="000000"/>
                          </a:solidFill>
                          <a:latin typeface="Calibri"/>
                        </a:defRPr>
                      </a:pPr>
                      <a:r>
                        <a:t>Verifikasi DP oleh admin</a:t>
                      </a:r>
                    </a:p>
                  </a:txBody>
                  <a:tcPr marL="54864" marR="54864" marT="18288" marB="18288">
                    <a:solidFill>
                      <a:srgbClr val="FFFFFF"/>
                    </a:solidFill>
                  </a:tcPr>
                </a:tc>
                <a:tc>
                  <a:txBody>
                    <a:bodyPr/>
                    <a:lstStyle/>
                    <a:p>
                      <a:pPr>
                        <a:defRPr sz="900" b="0">
                          <a:solidFill>
                            <a:srgbClr val="000000"/>
                          </a:solidFill>
                          <a:latin typeface="Calibri"/>
                        </a:defRPr>
                      </a:pPr>
                      <a:r>
                        <a:t>0.3-1.2 hari</a:t>
                      </a:r>
                    </a:p>
                  </a:txBody>
                  <a:tcPr marL="54864" marR="54864" marT="18288" marB="18288">
                    <a:solidFill>
                      <a:srgbClr val="FFFFFF"/>
                    </a:solidFill>
                  </a:tcPr>
                </a:tc>
                <a:tc>
                  <a:txBody>
                    <a:bodyPr/>
                    <a:lstStyle/>
                    <a:p>
                      <a:pPr>
                        <a:defRPr sz="900" b="0">
                          <a:solidFill>
                            <a:srgbClr val="000000"/>
                          </a:solidFill>
                          <a:latin typeface="Calibri"/>
                        </a:defRPr>
                      </a:pPr>
                      <a:r>
                        <a:t>Pengingat ke admin cadangan</a:t>
                      </a:r>
                    </a:p>
                  </a:txBody>
                  <a:tcPr marL="54864" marR="54864" marT="18288" marB="18288">
                    <a:solidFill>
                      <a:srgbClr val="FFFFFF"/>
                    </a:solidFill>
                  </a:tcPr>
                </a:tc>
                <a:tc>
                  <a:txBody>
                    <a:bodyPr/>
                    <a:lstStyle/>
                    <a:p>
                      <a:pPr>
                        <a:defRPr sz="900" b="0">
                          <a:solidFill>
                            <a:srgbClr val="000000"/>
                          </a:solidFill>
                          <a:latin typeface="Calibri"/>
                        </a:defRPr>
                      </a:pPr>
                      <a:r>
                        <a:t>dalam simulasi</a:t>
                      </a:r>
                    </a:p>
                  </a:txBody>
                  <a:tcPr marL="54864" marR="54864" marT="18288" marB="18288">
                    <a:solidFill>
                      <a:srgbClr val="FFFFFF"/>
                    </a:solidFill>
                  </a:tcPr>
                </a:tc>
              </a:tr>
              <a:tr h="226059">
                <a:tc>
                  <a:txBody>
                    <a:bodyPr/>
                    <a:lstStyle/>
                    <a:p>
                      <a:pPr>
                        <a:defRPr sz="900" b="0">
                          <a:solidFill>
                            <a:srgbClr val="000000"/>
                          </a:solidFill>
                          <a:latin typeface="Calibri"/>
                        </a:defRPr>
                      </a:pPr>
                      <a:r>
                        <a:t>Persetujuan order bernilai tinggi</a:t>
                      </a:r>
                    </a:p>
                  </a:txBody>
                  <a:tcPr marL="54864" marR="54864" marT="18288" marB="18288">
                    <a:solidFill>
                      <a:srgbClr val="FFFFFF"/>
                    </a:solidFill>
                  </a:tcPr>
                </a:tc>
                <a:tc>
                  <a:txBody>
                    <a:bodyPr/>
                    <a:lstStyle/>
                    <a:p>
                      <a:pPr>
                        <a:defRPr sz="900" b="0">
                          <a:solidFill>
                            <a:srgbClr val="000000"/>
                          </a:solidFill>
                          <a:latin typeface="Calibri"/>
                        </a:defRPr>
                      </a:pPr>
                      <a:r>
                        <a:t>0.25 hari; wajib bila nilai di atas USD 75.000</a:t>
                      </a:r>
                    </a:p>
                  </a:txBody>
                  <a:tcPr marL="54864" marR="54864" marT="18288" marB="18288">
                    <a:solidFill>
                      <a:srgbClr val="FFFFFF"/>
                    </a:solidFill>
                  </a:tcPr>
                </a:tc>
                <a:tc>
                  <a:txBody>
                    <a:bodyPr/>
                    <a:lstStyle/>
                    <a:p>
                      <a:pPr>
                        <a:defRPr sz="900" b="0">
                          <a:solidFill>
                            <a:srgbClr val="000000"/>
                          </a:solidFill>
                          <a:latin typeface="Calibri"/>
                        </a:defRPr>
                      </a:pPr>
                      <a:r>
                        <a:t>Order ditahan, tidak dieksekusi otomatis</a:t>
                      </a:r>
                    </a:p>
                  </a:txBody>
                  <a:tcPr marL="54864" marR="54864" marT="18288" marB="18288">
                    <a:solidFill>
                      <a:srgbClr val="FFFFFF"/>
                    </a:solidFill>
                  </a:tcPr>
                </a:tc>
                <a:tc>
                  <a:txBody>
                    <a:bodyPr/>
                    <a:lstStyle/>
                    <a:p>
                      <a:pPr>
                        <a:defRPr sz="900" b="0">
                          <a:solidFill>
                            <a:srgbClr val="000000"/>
                          </a:solidFill>
                          <a:latin typeface="Calibri"/>
                        </a:defRPr>
                      </a:pPr>
                      <a:r>
                        <a:t>dalam simulasi</a:t>
                      </a:r>
                    </a:p>
                  </a:txBody>
                  <a:tcPr marL="54864" marR="54864" marT="18288" marB="18288">
                    <a:solidFill>
                      <a:srgbClr val="FFFFFF"/>
                    </a:solidFill>
                  </a:tcPr>
                </a:tc>
              </a:tr>
              <a:tr h="226059">
                <a:tc>
                  <a:txBody>
                    <a:bodyPr/>
                    <a:lstStyle/>
                    <a:p>
                      <a:pPr>
                        <a:defRPr sz="900" b="0">
                          <a:solidFill>
                            <a:srgbClr val="000000"/>
                          </a:solidFill>
                          <a:latin typeface="Calibri"/>
                        </a:defRPr>
                      </a:pPr>
                      <a:r>
                        <a:t>Target waktu produksi</a:t>
                      </a:r>
                    </a:p>
                  </a:txBody>
                  <a:tcPr marL="54864" marR="54864" marT="18288" marB="18288">
                    <a:solidFill>
                      <a:srgbClr val="FFFFFF"/>
                    </a:solidFill>
                  </a:tcPr>
                </a:tc>
                <a:tc>
                  <a:txBody>
                    <a:bodyPr/>
                    <a:lstStyle/>
                    <a:p>
                      <a:pPr>
                        <a:defRPr sz="900" b="0">
                          <a:solidFill>
                            <a:srgbClr val="000000"/>
                          </a:solidFill>
                          <a:latin typeface="Calibri"/>
                        </a:defRPr>
                      </a:pPr>
                      <a:r>
                        <a:t>6 hari (target), lalu seluruh jendela waktu</a:t>
                      </a:r>
                    </a:p>
                  </a:txBody>
                  <a:tcPr marL="54864" marR="54864" marT="18288" marB="18288">
                    <a:solidFill>
                      <a:srgbClr val="FFFFFF"/>
                    </a:solidFill>
                  </a:tcPr>
                </a:tc>
                <a:tc>
                  <a:txBody>
                    <a:bodyPr/>
                    <a:lstStyle/>
                    <a:p>
                      <a:pPr>
                        <a:defRPr sz="900" b="0">
                          <a:solidFill>
                            <a:srgbClr val="000000"/>
                          </a:solidFill>
                          <a:latin typeface="Calibri"/>
                        </a:defRPr>
                      </a:pPr>
                      <a:r>
                        <a:t>Putaran kontrak baru, cadangan 5%</a:t>
                      </a:r>
                    </a:p>
                  </a:txBody>
                  <a:tcPr marL="54864" marR="54864" marT="18288" marB="18288">
                    <a:solidFill>
                      <a:srgbClr val="FFFFFF"/>
                    </a:solidFill>
                  </a:tcPr>
                </a:tc>
                <a:tc>
                  <a:txBody>
                    <a:bodyPr/>
                    <a:lstStyle/>
                    <a:p>
                      <a:pPr>
                        <a:defRPr sz="900" b="0">
                          <a:solidFill>
                            <a:srgbClr val="000000"/>
                          </a:solidFill>
                          <a:latin typeface="Calibri"/>
                        </a:defRPr>
                      </a:pPr>
                      <a:r>
                        <a:t>dalam simulasi</a:t>
                      </a:r>
                    </a:p>
                  </a:txBody>
                  <a:tcPr marL="54864" marR="54864" marT="18288" marB="18288">
                    <a:solidFill>
                      <a:srgbClr val="FFFFFF"/>
                    </a:solidFill>
                  </a:tcPr>
                </a:tc>
              </a:tr>
              <a:tr h="363220">
                <a:tc>
                  <a:txBody>
                    <a:bodyPr/>
                    <a:lstStyle/>
                    <a:p>
                      <a:pPr>
                        <a:defRPr sz="900" b="0">
                          <a:solidFill>
                            <a:srgbClr val="000000"/>
                          </a:solidFill>
                          <a:latin typeface="Calibri"/>
                        </a:defRPr>
                      </a:pPr>
                      <a:r>
                        <a:t>Klasifikasi HS</a:t>
                      </a:r>
                    </a:p>
                  </a:txBody>
                  <a:tcPr marL="54864" marR="54864" marT="18288" marB="18288">
                    <a:solidFill>
                      <a:srgbClr val="FFFFFF"/>
                    </a:solidFill>
                  </a:tcPr>
                </a:tc>
                <a:tc>
                  <a:txBody>
                    <a:bodyPr/>
                    <a:lstStyle/>
                    <a:p>
                      <a:pPr>
                        <a:defRPr sz="900" b="0">
                          <a:solidFill>
                            <a:srgbClr val="000000"/>
                          </a:solidFill>
                          <a:latin typeface="Calibri"/>
                        </a:defRPr>
                      </a:pPr>
                      <a:r>
                        <a:t>otomatis; keyakinan di bawah 0,6 ke tim Compliance</a:t>
                      </a:r>
                    </a:p>
                  </a:txBody>
                  <a:tcPr marL="54864" marR="54864" marT="18288" marB="18288">
                    <a:solidFill>
                      <a:srgbClr val="FFFFFF"/>
                    </a:solidFill>
                  </a:tcPr>
                </a:tc>
                <a:tc>
                  <a:txBody>
                    <a:bodyPr/>
                    <a:lstStyle/>
                    <a:p>
                      <a:pPr>
                        <a:defRPr sz="900" b="0">
                          <a:solidFill>
                            <a:srgbClr val="000000"/>
                          </a:solidFill>
                          <a:latin typeface="Calibri"/>
                        </a:defRPr>
                      </a:pPr>
                      <a:r>
                        <a:t>Kasus dinaikkan prioritasnya</a:t>
                      </a:r>
                    </a:p>
                  </a:txBody>
                  <a:tcPr marL="54864" marR="54864" marT="18288" marB="18288">
                    <a:solidFill>
                      <a:srgbClr val="FFFFFF"/>
                    </a:solidFill>
                  </a:tcPr>
                </a:tc>
                <a:tc>
                  <a:txBody>
                    <a:bodyPr/>
                    <a:lstStyle/>
                    <a:p>
                      <a:pPr>
                        <a:defRPr sz="900" b="0">
                          <a:solidFill>
                            <a:srgbClr val="000000"/>
                          </a:solidFill>
                          <a:latin typeface="Calibri"/>
                        </a:defRPr>
                      </a:pPr>
                      <a:r>
                        <a:t>dalam simulasi</a:t>
                      </a:r>
                    </a:p>
                  </a:txBody>
                  <a:tcPr marL="54864" marR="54864" marT="18288" marB="18288">
                    <a:solidFill>
                      <a:srgbClr val="FFFFFF"/>
                    </a:solidFill>
                  </a:tcPr>
                </a:tc>
              </a:tr>
              <a:tr h="363220">
                <a:tc>
                  <a:txBody>
                    <a:bodyPr/>
                    <a:lstStyle/>
                    <a:p>
                      <a:pPr>
                        <a:defRPr sz="900" b="0">
                          <a:solidFill>
                            <a:srgbClr val="000000"/>
                          </a:solidFill>
                          <a:latin typeface="Calibri"/>
                        </a:defRPr>
                      </a:pPr>
                      <a:r>
                        <a:t>Migrasi Scout</a:t>
                      </a:r>
                    </a:p>
                  </a:txBody>
                  <a:tcPr marL="54864" marR="54864" marT="18288" marB="18288">
                    <a:solidFill>
                      <a:srgbClr val="FFFFFF"/>
                    </a:solidFill>
                  </a:tcPr>
                </a:tc>
                <a:tc>
                  <a:txBody>
                    <a:bodyPr/>
                    <a:lstStyle/>
                    <a:p>
                      <a:pPr>
                        <a:defRPr sz="900" b="0">
                          <a:solidFill>
                            <a:srgbClr val="000000"/>
                          </a:solidFill>
                          <a:latin typeface="Calibri"/>
                        </a:defRPr>
                      </a:pPr>
                      <a:r>
                        <a:t>kepercayaan minimal 0,80 dan risiko maksimal 0,20</a:t>
                      </a:r>
                    </a:p>
                  </a:txBody>
                  <a:tcPr marL="54864" marR="54864" marT="18288" marB="18288">
                    <a:solidFill>
                      <a:srgbClr val="FFFFFF"/>
                    </a:solidFill>
                  </a:tcPr>
                </a:tc>
                <a:tc>
                  <a:txBody>
                    <a:bodyPr/>
                    <a:lstStyle/>
                    <a:p>
                      <a:pPr>
                        <a:defRPr sz="900" b="0">
                          <a:solidFill>
                            <a:srgbClr val="000000"/>
                          </a:solidFill>
                          <a:latin typeface="Calibri"/>
                        </a:defRPr>
                      </a:pPr>
                      <a:r>
                        <a:t>Tarik data jarak jauh</a:t>
                      </a:r>
                    </a:p>
                  </a:txBody>
                  <a:tcPr marL="54864" marR="54864" marT="18288" marB="18288">
                    <a:solidFill>
                      <a:srgbClr val="FFFFFF"/>
                    </a:solidFill>
                  </a:tcPr>
                </a:tc>
                <a:tc>
                  <a:txBody>
                    <a:bodyPr/>
                    <a:lstStyle/>
                    <a:p>
                      <a:pPr>
                        <a:defRPr sz="900" b="0">
                          <a:solidFill>
                            <a:srgbClr val="000000"/>
                          </a:solidFill>
                          <a:latin typeface="Calibri"/>
                        </a:defRPr>
                      </a:pPr>
                      <a:r>
                        <a:t>dalam simulasi</a:t>
                      </a:r>
                    </a:p>
                  </a:txBody>
                  <a:tcPr marL="54864" marR="54864" marT="18288" marB="18288">
                    <a:solidFill>
                      <a:srgbClr val="FFFFFF"/>
                    </a:solidFill>
                  </a:tcPr>
                </a:tc>
              </a:tr>
              <a:tr h="363220">
                <a:tc>
                  <a:txBody>
                    <a:bodyPr/>
                    <a:lstStyle/>
                    <a:p>
                      <a:pPr>
                        <a:defRPr sz="900" b="0">
                          <a:solidFill>
                            <a:srgbClr val="000000"/>
                          </a:solidFill>
                          <a:latin typeface="Calibri"/>
                        </a:defRPr>
                      </a:pPr>
                      <a:r>
                        <a:t>Ringkasan harian ke admin</a:t>
                      </a:r>
                    </a:p>
                  </a:txBody>
                  <a:tcPr marL="54864" marR="54864" marT="18288" marB="18288">
                    <a:solidFill>
                      <a:srgbClr val="FFFFFF"/>
                    </a:solidFill>
                  </a:tcPr>
                </a:tc>
                <a:tc>
                  <a:txBody>
                    <a:bodyPr/>
                    <a:lstStyle/>
                    <a:p>
                      <a:pPr>
                        <a:defRPr sz="900" b="0">
                          <a:solidFill>
                            <a:srgbClr val="000000"/>
                          </a:solidFill>
                          <a:latin typeface="Calibri"/>
                        </a:defRPr>
                      </a:pPr>
                      <a:r>
                        <a:t>sekali sehari</a:t>
                      </a:r>
                    </a:p>
                  </a:txBody>
                  <a:tcPr marL="54864" marR="54864" marT="18288" marB="18288">
                    <a:solidFill>
                      <a:srgbClr val="FFFFFF"/>
                    </a:solidFill>
                  </a:tcPr>
                </a:tc>
                <a:tc>
                  <a:txBody>
                    <a:bodyPr/>
                    <a:lstStyle/>
                    <a:p>
                      <a:pPr>
                        <a:defRPr sz="900" b="0">
                          <a:solidFill>
                            <a:srgbClr val="000000"/>
                          </a:solidFill>
                          <a:latin typeface="Calibri"/>
                        </a:defRPr>
                      </a:pPr>
                      <a:r>
                        <a:t>Peringatan kritis tetap dikirim langsung</a:t>
                      </a:r>
                    </a:p>
                  </a:txBody>
                  <a:tcPr marL="54864" marR="54864" marT="18288" marB="18288">
                    <a:solidFill>
                      <a:srgbClr val="FFFFFF"/>
                    </a:solidFill>
                  </a:tcPr>
                </a:tc>
                <a:tc>
                  <a:txBody>
                    <a:bodyPr/>
                    <a:lstStyle/>
                    <a:p>
                      <a:pPr>
                        <a:defRPr sz="900" b="0">
                          <a:solidFill>
                            <a:srgbClr val="000000"/>
                          </a:solidFill>
                          <a:latin typeface="Calibri"/>
                        </a:defRPr>
                      </a:pPr>
                      <a:r>
                        <a:t>rancangan (belum disimulasikan)</a:t>
                      </a:r>
                    </a:p>
                  </a:txBody>
                  <a:tcPr marL="54864" marR="54864" marT="18288" marB="18288">
                    <a:solidFill>
                      <a:srgbClr val="FFFFFF"/>
                    </a:solidFill>
                  </a:tcPr>
                </a:tc>
              </a:tr>
              <a:tr h="226059">
                <a:tc>
                  <a:txBody>
                    <a:bodyPr/>
                    <a:lstStyle/>
                    <a:p>
                      <a:pPr>
                        <a:defRPr sz="900" b="0">
                          <a:solidFill>
                            <a:srgbClr val="000000"/>
                          </a:solidFill>
                          <a:latin typeface="Calibri"/>
                        </a:defRPr>
                      </a:pPr>
                      <a:r>
                        <a:t>Tinjauan anggaran iklan</a:t>
                      </a:r>
                    </a:p>
                  </a:txBody>
                  <a:tcPr marL="54864" marR="54864" marT="18288" marB="18288">
                    <a:solidFill>
                      <a:srgbClr val="FFFFFF"/>
                    </a:solidFill>
                  </a:tcPr>
                </a:tc>
                <a:tc>
                  <a:txBody>
                    <a:bodyPr/>
                    <a:lstStyle/>
                    <a:p>
                      <a:pPr>
                        <a:defRPr sz="900" b="0">
                          <a:solidFill>
                            <a:srgbClr val="000000"/>
                          </a:solidFill>
                          <a:latin typeface="Calibri"/>
                        </a:defRPr>
                      </a:pPr>
                      <a:r>
                        <a:t>mingguan</a:t>
                      </a:r>
                    </a:p>
                  </a:txBody>
                  <a:tcPr marL="54864" marR="54864" marT="18288" marB="18288">
                    <a:solidFill>
                      <a:srgbClr val="FFFFFF"/>
                    </a:solidFill>
                  </a:tcPr>
                </a:tc>
                <a:tc>
                  <a:txBody>
                    <a:bodyPr/>
                    <a:lstStyle/>
                    <a:p>
                      <a:pPr>
                        <a:defRPr sz="900" b="0">
                          <a:solidFill>
                            <a:srgbClr val="000000"/>
                          </a:solidFill>
                          <a:latin typeface="Calibri"/>
                        </a:defRPr>
                      </a:pPr>
                      <a:r>
                        <a:t>Kampanye dijeda bila biaya per RFQ melewati batas</a:t>
                      </a:r>
                    </a:p>
                  </a:txBody>
                  <a:tcPr marL="54864" marR="54864" marT="18288" marB="18288">
                    <a:solidFill>
                      <a:srgbClr val="FFFFFF"/>
                    </a:solidFill>
                  </a:tcPr>
                </a:tc>
                <a:tc>
                  <a:txBody>
                    <a:bodyPr/>
                    <a:lstStyle/>
                    <a:p>
                      <a:pPr>
                        <a:defRPr sz="900" b="0">
                          <a:solidFill>
                            <a:srgbClr val="000000"/>
                          </a:solidFill>
                          <a:latin typeface="Calibri"/>
                        </a:defRPr>
                      </a:pPr>
                      <a:r>
                        <a:t>simulasi eksploratif</a:t>
                      </a:r>
                    </a:p>
                  </a:txBody>
                  <a:tcPr marL="54864" marR="54864" marT="18288" marB="18288">
                    <a:solidFill>
                      <a:srgbClr val="FFFFFF"/>
                    </a:solidFill>
                  </a:tcPr>
                </a:tc>
              </a:tr>
              <a:tr h="363220">
                <a:tc>
                  <a:txBody>
                    <a:bodyPr/>
                    <a:lstStyle/>
                    <a:p>
                      <a:pPr>
                        <a:defRPr sz="900" b="0">
                          <a:solidFill>
                            <a:srgbClr val="000000"/>
                          </a:solidFill>
                          <a:latin typeface="Calibri"/>
                        </a:defRPr>
                      </a:pPr>
                      <a:r>
                        <a:t>Persetujuan materi iklan baru</a:t>
                      </a:r>
                    </a:p>
                  </a:txBody>
                  <a:tcPr marL="54864" marR="54864" marT="18288" marB="18288">
                    <a:solidFill>
                      <a:srgbClr val="FFFFFF"/>
                    </a:solidFill>
                  </a:tcPr>
                </a:tc>
                <a:tc>
                  <a:txBody>
                    <a:bodyPr/>
                    <a:lstStyle/>
                    <a:p>
                      <a:pPr>
                        <a:defRPr sz="900" b="0">
                          <a:solidFill>
                            <a:srgbClr val="000000"/>
                          </a:solidFill>
                          <a:latin typeface="Calibri"/>
                        </a:defRPr>
                      </a:pPr>
                      <a:r>
                        <a:t>1 hari kerja</a:t>
                      </a:r>
                    </a:p>
                  </a:txBody>
                  <a:tcPr marL="54864" marR="54864" marT="18288" marB="18288">
                    <a:solidFill>
                      <a:srgbClr val="FFFFFF"/>
                    </a:solidFill>
                  </a:tcPr>
                </a:tc>
                <a:tc>
                  <a:txBody>
                    <a:bodyPr/>
                    <a:lstStyle/>
                    <a:p>
                      <a:pPr>
                        <a:defRPr sz="900" b="0">
                          <a:solidFill>
                            <a:srgbClr val="000000"/>
                          </a:solidFill>
                          <a:latin typeface="Calibri"/>
                        </a:defRPr>
                      </a:pPr>
                      <a:r>
                        <a:t>Materi tidak tayang sampai disetujui</a:t>
                      </a:r>
                    </a:p>
                  </a:txBody>
                  <a:tcPr marL="54864" marR="54864" marT="18288" marB="18288">
                    <a:solidFill>
                      <a:srgbClr val="FFFFFF"/>
                    </a:solidFill>
                  </a:tcPr>
                </a:tc>
                <a:tc>
                  <a:txBody>
                    <a:bodyPr/>
                    <a:lstStyle/>
                    <a:p>
                      <a:pPr>
                        <a:defRPr sz="900" b="0">
                          <a:solidFill>
                            <a:srgbClr val="000000"/>
                          </a:solidFill>
                          <a:latin typeface="Calibri"/>
                        </a:defRPr>
                      </a:pPr>
                      <a:r>
                        <a:t>rancangan (belum disimulasikan)</a:t>
                      </a:r>
                    </a:p>
                  </a:txBody>
                  <a:tcPr marL="54864" marR="54864" marT="18288" marB="18288">
                    <a:solidFill>
                      <a:srgbClr val="FFFFFF"/>
                    </a:solidFill>
                  </a:tcPr>
                </a:tc>
              </a:tr>
            </a:tbl>
          </a:graphicData>
        </a:graphic>
      </p:graphicFrame>
      <p:graphicFrame>
        <p:nvGraphicFramePr>
          <p:cNvPr id="7" name="Table 6"/>
          <p:cNvGraphicFramePr>
            <a:graphicFrameLocks noGrp="1"/>
          </p:cNvGraphicFramePr>
          <p:nvPr/>
        </p:nvGraphicFramePr>
        <p:xfrm>
          <a:off x="274320" y="4114800"/>
          <a:ext cx="11521440" cy="1511300"/>
        </p:xfrm>
        <a:graphic>
          <a:graphicData uri="http://schemas.openxmlformats.org/drawingml/2006/table">
            <a:tbl>
              <a:tblPr firstRow="1" bandRow="1">
                <a:tableStyleId>{5C22544A-7EE6-4342-B048-85BDC9FD1C3A}</a:tableStyleId>
              </a:tblPr>
              <a:tblGrid>
                <a:gridCol w="2194560"/>
                <a:gridCol w="5486400"/>
                <a:gridCol w="3840480"/>
              </a:tblGrid>
              <a:tr h="241300">
                <a:tc>
                  <a:txBody>
                    <a:bodyPr/>
                    <a:lstStyle/>
                    <a:p>
                      <a:pPr>
                        <a:defRPr sz="1000" b="1">
                          <a:solidFill>
                            <a:srgbClr val="000000"/>
                          </a:solidFill>
                          <a:latin typeface="Calibri"/>
                        </a:defRPr>
                      </a:pPr>
                      <a:r>
                        <a:t>Level otonomi (Bab 2)</a:t>
                      </a:r>
                    </a:p>
                  </a:txBody>
                  <a:tcPr marL="54864" marR="54864" marT="18288" marB="18288">
                    <a:solidFill>
                      <a:srgbClr val="E5E7EB"/>
                    </a:solidFill>
                  </a:tcPr>
                </a:tc>
                <a:tc>
                  <a:txBody>
                    <a:bodyPr/>
                    <a:lstStyle/>
                    <a:p>
                      <a:pPr>
                        <a:defRPr sz="1000" b="1">
                          <a:solidFill>
                            <a:srgbClr val="000000"/>
                          </a:solidFill>
                          <a:latin typeface="Calibri"/>
                        </a:defRPr>
                      </a:pPr>
                      <a:r>
                        <a:t>Contoh keputusan</a:t>
                      </a:r>
                    </a:p>
                  </a:txBody>
                  <a:tcPr marL="54864" marR="54864" marT="18288" marB="18288">
                    <a:solidFill>
                      <a:srgbClr val="E5E7EB"/>
                    </a:solidFill>
                  </a:tcPr>
                </a:tc>
                <a:tc>
                  <a:txBody>
                    <a:bodyPr/>
                    <a:lstStyle/>
                    <a:p>
                      <a:pPr>
                        <a:defRPr sz="1000" b="1">
                          <a:solidFill>
                            <a:srgbClr val="000000"/>
                          </a:solidFill>
                          <a:latin typeface="Calibri"/>
                        </a:defRPr>
                      </a:pPr>
                      <a:r>
                        <a:t>Siapa yang menyetujui</a:t>
                      </a:r>
                    </a:p>
                  </a:txBody>
                  <a:tcPr marL="54864" marR="54864" marT="18288" marB="18288">
                    <a:solidFill>
                      <a:srgbClr val="E5E7EB"/>
                    </a:solidFill>
                  </a:tcPr>
                </a:tc>
              </a:tr>
              <a:tr h="393700">
                <a:tc>
                  <a:txBody>
                    <a:bodyPr/>
                    <a:lstStyle/>
                    <a:p>
                      <a:pPr>
                        <a:defRPr sz="1000" b="0">
                          <a:solidFill>
                            <a:srgbClr val="000000"/>
                          </a:solidFill>
                          <a:latin typeface="Calibri"/>
                        </a:defRPr>
                      </a:pPr>
                      <a:r>
                        <a:t>4 Delegate</a:t>
                      </a:r>
                    </a:p>
                  </a:txBody>
                  <a:tcPr marL="54864" marR="54864" marT="18288" marB="18288">
                    <a:solidFill>
                      <a:srgbClr val="FFFFFF"/>
                    </a:solidFill>
                  </a:tcPr>
                </a:tc>
                <a:tc>
                  <a:txBody>
                    <a:bodyPr/>
                    <a:lstStyle/>
                    <a:p>
                      <a:pPr>
                        <a:defRPr sz="1000" b="0">
                          <a:solidFill>
                            <a:srgbClr val="000000"/>
                          </a:solidFill>
                          <a:latin typeface="Calibri"/>
                        </a:defRPr>
                      </a:pPr>
                      <a:r>
                        <a:t>Pembagian kuota dalam batas, urutan kerja gudang, HS dengan keyakinan tinggi, pemindahan anggaran iklan antar kanal</a:t>
                      </a:r>
                    </a:p>
                  </a:txBody>
                  <a:tcPr marL="54864" marR="54864" marT="18288" marB="18288">
                    <a:solidFill>
                      <a:srgbClr val="FFFFFF"/>
                    </a:solidFill>
                  </a:tcPr>
                </a:tc>
                <a:tc>
                  <a:txBody>
                    <a:bodyPr/>
                    <a:lstStyle/>
                    <a:p>
                      <a:pPr>
                        <a:defRPr sz="1000" b="0">
                          <a:solidFill>
                            <a:srgbClr val="000000"/>
                          </a:solidFill>
                          <a:latin typeface="Calibri"/>
                        </a:defRPr>
                      </a:pPr>
                      <a:r>
                        <a:t>Tidak ada; audit log</a:t>
                      </a:r>
                    </a:p>
                  </a:txBody>
                  <a:tcPr marL="54864" marR="54864" marT="18288" marB="18288">
                    <a:solidFill>
                      <a:srgbClr val="FFFFFF"/>
                    </a:solidFill>
                  </a:tcPr>
                </a:tc>
              </a:tr>
              <a:tr h="241300">
                <a:tc>
                  <a:txBody>
                    <a:bodyPr/>
                    <a:lstStyle/>
                    <a:p>
                      <a:pPr>
                        <a:defRPr sz="1000" b="0">
                          <a:solidFill>
                            <a:srgbClr val="000000"/>
                          </a:solidFill>
                          <a:latin typeface="Calibri"/>
                        </a:defRPr>
                      </a:pPr>
                      <a:r>
                        <a:t>3 Supervise</a:t>
                      </a:r>
                    </a:p>
                  </a:txBody>
                  <a:tcPr marL="54864" marR="54864" marT="18288" marB="18288">
                    <a:solidFill>
                      <a:srgbClr val="FFFFFF"/>
                    </a:solidFill>
                  </a:tcPr>
                </a:tc>
                <a:tc>
                  <a:txBody>
                    <a:bodyPr/>
                    <a:lstStyle/>
                    <a:p>
                      <a:pPr>
                        <a:defRPr sz="1000" b="0">
                          <a:solidFill>
                            <a:srgbClr val="000000"/>
                          </a:solidFill>
                          <a:latin typeface="Calibri"/>
                        </a:defRPr>
                      </a:pPr>
                      <a:r>
                        <a:t>Lembur dalam anggaran; carrier di bawah batas biaya</a:t>
                      </a:r>
                    </a:p>
                  </a:txBody>
                  <a:tcPr marL="54864" marR="54864" marT="18288" marB="18288">
                    <a:solidFill>
                      <a:srgbClr val="FFFFFF"/>
                    </a:solidFill>
                  </a:tcPr>
                </a:tc>
                <a:tc>
                  <a:txBody>
                    <a:bodyPr/>
                    <a:lstStyle/>
                    <a:p>
                      <a:pPr>
                        <a:defRPr sz="1000" b="0">
                          <a:solidFill>
                            <a:srgbClr val="000000"/>
                          </a:solidFill>
                          <a:latin typeface="Calibri"/>
                        </a:defRPr>
                      </a:pPr>
                      <a:r>
                        <a:t>Manusia dapat membatalkan dalam jendela waktu</a:t>
                      </a:r>
                    </a:p>
                  </a:txBody>
                  <a:tcPr marL="54864" marR="54864" marT="18288" marB="18288">
                    <a:solidFill>
                      <a:srgbClr val="FFFFFF"/>
                    </a:solidFill>
                  </a:tcPr>
                </a:tc>
              </a:tr>
              <a:tr h="393700">
                <a:tc>
                  <a:txBody>
                    <a:bodyPr/>
                    <a:lstStyle/>
                    <a:p>
                      <a:pPr>
                        <a:defRPr sz="1000" b="0">
                          <a:solidFill>
                            <a:srgbClr val="000000"/>
                          </a:solidFill>
                          <a:latin typeface="Calibri"/>
                        </a:defRPr>
                      </a:pPr>
                      <a:r>
                        <a:t>2 Approve</a:t>
                      </a:r>
                    </a:p>
                  </a:txBody>
                  <a:tcPr marL="54864" marR="54864" marT="18288" marB="18288">
                    <a:solidFill>
                      <a:srgbClr val="FFFFFF"/>
                    </a:solidFill>
                  </a:tcPr>
                </a:tc>
                <a:tc>
                  <a:txBody>
                    <a:bodyPr/>
                    <a:lstStyle/>
                    <a:p>
                      <a:pPr>
                        <a:defRPr sz="1000" b="0">
                          <a:solidFill>
                            <a:srgbClr val="000000"/>
                          </a:solidFill>
                          <a:latin typeface="Calibri"/>
                        </a:defRPr>
                      </a:pPr>
                      <a:r>
                        <a:t>Verifikasi DP; HS keyakinan rendah; order bernilai tinggi; materi iklan dengan klaim baru</a:t>
                      </a:r>
                    </a:p>
                  </a:txBody>
                  <a:tcPr marL="54864" marR="54864" marT="18288" marB="18288">
                    <a:solidFill>
                      <a:srgbClr val="FFFFFF"/>
                    </a:solidFill>
                  </a:tcPr>
                </a:tc>
                <a:tc>
                  <a:txBody>
                    <a:bodyPr/>
                    <a:lstStyle/>
                    <a:p>
                      <a:pPr>
                        <a:defRPr sz="1000" b="0">
                          <a:solidFill>
                            <a:srgbClr val="000000"/>
                          </a:solidFill>
                          <a:latin typeface="Calibri"/>
                        </a:defRPr>
                      </a:pPr>
                      <a:r>
                        <a:t>Admin / tim Compliance / admin pemasaran</a:t>
                      </a:r>
                    </a:p>
                  </a:txBody>
                  <a:tcPr marL="54864" marR="54864" marT="18288" marB="18288">
                    <a:solidFill>
                      <a:srgbClr val="FFFFFF"/>
                    </a:solidFill>
                  </a:tcPr>
                </a:tc>
              </a:tr>
              <a:tr h="241300">
                <a:tc>
                  <a:txBody>
                    <a:bodyPr/>
                    <a:lstStyle/>
                    <a:p>
                      <a:pPr>
                        <a:defRPr sz="1000" b="0">
                          <a:solidFill>
                            <a:srgbClr val="000000"/>
                          </a:solidFill>
                          <a:latin typeface="Calibri"/>
                        </a:defRPr>
                      </a:pPr>
                      <a:r>
                        <a:t>1 Assist</a:t>
                      </a:r>
                    </a:p>
                  </a:txBody>
                  <a:tcPr marL="54864" marR="54864" marT="18288" marB="18288">
                    <a:solidFill>
                      <a:srgbClr val="FFFFFF"/>
                    </a:solidFill>
                  </a:tcPr>
                </a:tc>
                <a:tc>
                  <a:txBody>
                    <a:bodyPr/>
                    <a:lstStyle/>
                    <a:p>
                      <a:pPr>
                        <a:defRPr sz="1000" b="0">
                          <a:solidFill>
                            <a:srgbClr val="000000"/>
                          </a:solidFill>
                          <a:latin typeface="Calibri"/>
                        </a:defRPr>
                      </a:pPr>
                      <a:r>
                        <a:t>Belum dipakai (mode rekomendasi)</a:t>
                      </a:r>
                    </a:p>
                  </a:txBody>
                  <a:tcPr marL="54864" marR="54864" marT="18288" marB="18288">
                    <a:solidFill>
                      <a:srgbClr val="FFFFFF"/>
                    </a:solidFill>
                  </a:tcPr>
                </a:tc>
                <a:tc>
                  <a:txBody>
                    <a:bodyPr/>
                    <a:lstStyle/>
                    <a:p>
                      <a:pPr>
                        <a:defRPr sz="1000" b="0">
                          <a:solidFill>
                            <a:srgbClr val="000000"/>
                          </a:solidFill>
                          <a:latin typeface="Calibri"/>
                        </a:defRPr>
                      </a:pPr>
                      <a:r>
                        <a:t>Manusia memutuskan</a:t>
                      </a:r>
                    </a:p>
                  </a:txBody>
                  <a:tcPr marL="54864" marR="54864" marT="18288" marB="18288">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5.5 / 5.6 Otonomi, keamanan, dan trust</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26</a:t>
            </a:r>
          </a:p>
        </p:txBody>
      </p:sp>
      <p:graphicFrame>
        <p:nvGraphicFramePr>
          <p:cNvPr id="6" name="Table 5"/>
          <p:cNvGraphicFramePr>
            <a:graphicFrameLocks noGrp="1"/>
          </p:cNvGraphicFramePr>
          <p:nvPr/>
        </p:nvGraphicFramePr>
        <p:xfrm>
          <a:off x="320040" y="1005840"/>
          <a:ext cx="11064240" cy="1724660"/>
        </p:xfrm>
        <a:graphic>
          <a:graphicData uri="http://schemas.openxmlformats.org/drawingml/2006/table">
            <a:tbl>
              <a:tblPr firstRow="1" bandRow="1">
                <a:tableStyleId>{5C22544A-7EE6-4342-B048-85BDC9FD1C3A}</a:tableStyleId>
              </a:tblPr>
              <a:tblGrid>
                <a:gridCol w="1645920"/>
                <a:gridCol w="4754880"/>
                <a:gridCol w="2011680"/>
                <a:gridCol w="2651760"/>
              </a:tblGrid>
              <a:tr h="248920">
                <a:tc>
                  <a:txBody>
                    <a:bodyPr/>
                    <a:lstStyle/>
                    <a:p>
                      <a:pPr>
                        <a:defRPr sz="1050" b="1">
                          <a:solidFill>
                            <a:srgbClr val="000000"/>
                          </a:solidFill>
                          <a:latin typeface="Calibri"/>
                        </a:defRPr>
                      </a:pPr>
                      <a:r>
                        <a:t>Level (Bab 2)</a:t>
                      </a:r>
                    </a:p>
                  </a:txBody>
                  <a:tcPr marL="54864" marR="54864" marT="18288" marB="18288">
                    <a:solidFill>
                      <a:srgbClr val="E5E7EB"/>
                    </a:solidFill>
                  </a:tcPr>
                </a:tc>
                <a:tc>
                  <a:txBody>
                    <a:bodyPr/>
                    <a:lstStyle/>
                    <a:p>
                      <a:pPr>
                        <a:defRPr sz="1050" b="1">
                          <a:solidFill>
                            <a:srgbClr val="000000"/>
                          </a:solidFill>
                          <a:latin typeface="Calibri"/>
                        </a:defRPr>
                      </a:pPr>
                      <a:r>
                        <a:t>Keputusan pada KCMAS</a:t>
                      </a:r>
                    </a:p>
                  </a:txBody>
                  <a:tcPr marL="54864" marR="54864" marT="18288" marB="18288">
                    <a:solidFill>
                      <a:srgbClr val="E5E7EB"/>
                    </a:solidFill>
                  </a:tcPr>
                </a:tc>
                <a:tc>
                  <a:txBody>
                    <a:bodyPr/>
                    <a:lstStyle/>
                    <a:p>
                      <a:pPr>
                        <a:defRPr sz="1050" b="1">
                          <a:solidFill>
                            <a:srgbClr val="000000"/>
                          </a:solidFill>
                          <a:latin typeface="Calibri"/>
                        </a:defRPr>
                      </a:pPr>
                      <a:r>
                        <a:t>Rata-rata per skenario</a:t>
                      </a:r>
                    </a:p>
                  </a:txBody>
                  <a:tcPr marL="54864" marR="54864" marT="18288" marB="18288">
                    <a:solidFill>
                      <a:srgbClr val="E5E7EB"/>
                    </a:solidFill>
                  </a:tcPr>
                </a:tc>
                <a:tc>
                  <a:txBody>
                    <a:bodyPr/>
                    <a:lstStyle/>
                    <a:p>
                      <a:pPr>
                        <a:defRPr sz="1050" b="1">
                          <a:solidFill>
                            <a:srgbClr val="000000"/>
                          </a:solidFill>
                          <a:latin typeface="Calibri"/>
                        </a:defRPr>
                      </a:pPr>
                      <a:r>
                        <a:t>Kendali</a:t>
                      </a:r>
                    </a:p>
                  </a:txBody>
                  <a:tcPr marL="54864" marR="54864" marT="18288" marB="18288">
                    <a:solidFill>
                      <a:srgbClr val="E5E7EB"/>
                    </a:solidFill>
                  </a:tcPr>
                </a:tc>
              </a:tr>
              <a:tr h="408940">
                <a:tc>
                  <a:txBody>
                    <a:bodyPr/>
                    <a:lstStyle/>
                    <a:p>
                      <a:pPr>
                        <a:defRPr sz="1050" b="0">
                          <a:solidFill>
                            <a:srgbClr val="000000"/>
                          </a:solidFill>
                          <a:latin typeface="Calibri"/>
                        </a:defRPr>
                      </a:pPr>
                      <a:r>
                        <a:t>4 Delegate</a:t>
                      </a:r>
                    </a:p>
                  </a:txBody>
                  <a:tcPr marL="54864" marR="54864" marT="18288" marB="18288">
                    <a:solidFill>
                      <a:srgbClr val="FFFFFF"/>
                    </a:solidFill>
                  </a:tcPr>
                </a:tc>
                <a:tc>
                  <a:txBody>
                    <a:bodyPr/>
                    <a:lstStyle/>
                    <a:p>
                      <a:pPr>
                        <a:defRPr sz="1050" b="0">
                          <a:solidFill>
                            <a:srgbClr val="000000"/>
                          </a:solidFill>
                          <a:latin typeface="Calibri"/>
                        </a:defRPr>
                      </a:pPr>
                      <a:r>
                        <a:t>Dispatch lini, kuota dalam batas konsentrasi, HS confidence &gt;= 0,60, carrier order di bawah batas nilai</a:t>
                      </a:r>
                    </a:p>
                  </a:txBody>
                  <a:tcPr marL="54864" marR="54864" marT="18288" marB="18288">
                    <a:solidFill>
                      <a:srgbClr val="FFFFFF"/>
                    </a:solidFill>
                  </a:tcPr>
                </a:tc>
                <a:tc>
                  <a:txBody>
                    <a:bodyPr/>
                    <a:lstStyle/>
                    <a:p>
                      <a:pPr>
                        <a:defRPr sz="1050" b="0">
                          <a:solidFill>
                            <a:srgbClr val="000000"/>
                          </a:solidFill>
                          <a:latin typeface="Calibri"/>
                        </a:defRPr>
                      </a:pPr>
                      <a:r>
                        <a:t>38,9 (77%)</a:t>
                      </a:r>
                    </a:p>
                  </a:txBody>
                  <a:tcPr marL="54864" marR="54864" marT="18288" marB="18288">
                    <a:solidFill>
                      <a:srgbClr val="FFFFFF"/>
                    </a:solidFill>
                  </a:tcPr>
                </a:tc>
                <a:tc>
                  <a:txBody>
                    <a:bodyPr/>
                    <a:lstStyle/>
                    <a:p>
                      <a:pPr>
                        <a:defRPr sz="1050" b="0">
                          <a:solidFill>
                            <a:srgbClr val="000000"/>
                          </a:solidFill>
                          <a:latin typeface="Calibri"/>
                        </a:defRPr>
                      </a:pPr>
                      <a:r>
                        <a:t>Otomatis, audit trail</a:t>
                      </a:r>
                    </a:p>
                  </a:txBody>
                  <a:tcPr marL="54864" marR="54864" marT="18288" marB="18288">
                    <a:solidFill>
                      <a:srgbClr val="FFFFFF"/>
                    </a:solidFill>
                  </a:tcPr>
                </a:tc>
              </a:tr>
              <a:tr h="408940">
                <a:tc>
                  <a:txBody>
                    <a:bodyPr/>
                    <a:lstStyle/>
                    <a:p>
                      <a:pPr>
                        <a:defRPr sz="1050" b="0">
                          <a:solidFill>
                            <a:srgbClr val="000000"/>
                          </a:solidFill>
                          <a:latin typeface="Calibri"/>
                        </a:defRPr>
                      </a:pPr>
                      <a:r>
                        <a:t>3 Supervise</a:t>
                      </a:r>
                    </a:p>
                  </a:txBody>
                  <a:tcPr marL="54864" marR="54864" marT="18288" marB="18288">
                    <a:solidFill>
                      <a:srgbClr val="FFFFFF"/>
                    </a:solidFill>
                  </a:tcPr>
                </a:tc>
                <a:tc>
                  <a:txBody>
                    <a:bodyPr/>
                    <a:lstStyle/>
                    <a:p>
                      <a:pPr>
                        <a:defRPr sz="1050" b="0">
                          <a:solidFill>
                            <a:srgbClr val="000000"/>
                          </a:solidFill>
                          <a:latin typeface="Calibri"/>
                        </a:defRPr>
                      </a:pPr>
                      <a:r>
                        <a:t>Lembur dalam anggaran, LoI dalam band harga</a:t>
                      </a:r>
                    </a:p>
                  </a:txBody>
                  <a:tcPr marL="54864" marR="54864" marT="18288" marB="18288">
                    <a:solidFill>
                      <a:srgbClr val="FFFFFF"/>
                    </a:solidFill>
                  </a:tcPr>
                </a:tc>
                <a:tc>
                  <a:txBody>
                    <a:bodyPr/>
                    <a:lstStyle/>
                    <a:p>
                      <a:pPr>
                        <a:defRPr sz="1050" b="0">
                          <a:solidFill>
                            <a:srgbClr val="000000"/>
                          </a:solidFill>
                          <a:latin typeface="Calibri"/>
                        </a:defRPr>
                      </a:pPr>
                      <a:r>
                        <a:t>1,3</a:t>
                      </a:r>
                    </a:p>
                  </a:txBody>
                  <a:tcPr marL="54864" marR="54864" marT="18288" marB="18288">
                    <a:solidFill>
                      <a:srgbClr val="FFFFFF"/>
                    </a:solidFill>
                  </a:tcPr>
                </a:tc>
                <a:tc>
                  <a:txBody>
                    <a:bodyPr/>
                    <a:lstStyle/>
                    <a:p>
                      <a:pPr>
                        <a:defRPr sz="1050" b="0">
                          <a:solidFill>
                            <a:srgbClr val="000000"/>
                          </a:solidFill>
                          <a:latin typeface="Calibri"/>
                        </a:defRPr>
                      </a:pPr>
                      <a:r>
                        <a:t>Agen bertindak, manusia dapat override</a:t>
                      </a:r>
                    </a:p>
                  </a:txBody>
                  <a:tcPr marL="54864" marR="54864" marT="18288" marB="18288">
                    <a:solidFill>
                      <a:srgbClr val="FFFFFF"/>
                    </a:solidFill>
                  </a:tcPr>
                </a:tc>
              </a:tr>
              <a:tr h="408940">
                <a:tc>
                  <a:txBody>
                    <a:bodyPr/>
                    <a:lstStyle/>
                    <a:p>
                      <a:pPr>
                        <a:defRPr sz="1050" b="0">
                          <a:solidFill>
                            <a:srgbClr val="000000"/>
                          </a:solidFill>
                          <a:latin typeface="Calibri"/>
                        </a:defRPr>
                      </a:pPr>
                      <a:r>
                        <a:t>2 Approve</a:t>
                      </a:r>
                    </a:p>
                  </a:txBody>
                  <a:tcPr marL="54864" marR="54864" marT="18288" marB="18288">
                    <a:solidFill>
                      <a:srgbClr val="FFFFFF"/>
                    </a:solidFill>
                  </a:tcPr>
                </a:tc>
                <a:tc>
                  <a:txBody>
                    <a:bodyPr/>
                    <a:lstStyle/>
                    <a:p>
                      <a:pPr>
                        <a:defRPr sz="1050" b="0">
                          <a:solidFill>
                            <a:srgbClr val="000000"/>
                          </a:solidFill>
                          <a:latin typeface="Calibri"/>
                        </a:defRPr>
                      </a:pPr>
                      <a:r>
                        <a:t>Verifikasi DP (selalu), HS confidence rendah, order bernilai tinggi, lembur di luar anggaran, materi iklan dengan klaim baru</a:t>
                      </a:r>
                    </a:p>
                  </a:txBody>
                  <a:tcPr marL="54864" marR="54864" marT="18288" marB="18288">
                    <a:solidFill>
                      <a:srgbClr val="FFFFFF"/>
                    </a:solidFill>
                  </a:tcPr>
                </a:tc>
                <a:tc>
                  <a:txBody>
                    <a:bodyPr/>
                    <a:lstStyle/>
                    <a:p>
                      <a:pPr>
                        <a:defRPr sz="1050" b="0">
                          <a:solidFill>
                            <a:srgbClr val="000000"/>
                          </a:solidFill>
                          <a:latin typeface="Calibri"/>
                        </a:defRPr>
                      </a:pPr>
                      <a:r>
                        <a:t>10,5</a:t>
                      </a:r>
                    </a:p>
                  </a:txBody>
                  <a:tcPr marL="54864" marR="54864" marT="18288" marB="18288">
                    <a:solidFill>
                      <a:srgbClr val="FFFFFF"/>
                    </a:solidFill>
                  </a:tcPr>
                </a:tc>
                <a:tc>
                  <a:txBody>
                    <a:bodyPr/>
                    <a:lstStyle/>
                    <a:p>
                      <a:pPr>
                        <a:defRPr sz="1050" b="0">
                          <a:solidFill>
                            <a:srgbClr val="000000"/>
                          </a:solidFill>
                          <a:latin typeface="Calibri"/>
                        </a:defRPr>
                      </a:pPr>
                      <a:r>
                        <a:t>Human-in-the-loop</a:t>
                      </a:r>
                    </a:p>
                  </a:txBody>
                  <a:tcPr marL="54864" marR="54864" marT="18288" marB="18288">
                    <a:solidFill>
                      <a:srgbClr val="FFFFFF"/>
                    </a:solidFill>
                  </a:tcPr>
                </a:tc>
              </a:tr>
              <a:tr h="248920">
                <a:tc>
                  <a:txBody>
                    <a:bodyPr/>
                    <a:lstStyle/>
                    <a:p>
                      <a:pPr>
                        <a:defRPr sz="1050" b="0">
                          <a:solidFill>
                            <a:srgbClr val="000000"/>
                          </a:solidFill>
                          <a:latin typeface="Calibri"/>
                        </a:defRPr>
                      </a:pPr>
                      <a:r>
                        <a:t>1 Assist</a:t>
                      </a:r>
                    </a:p>
                  </a:txBody>
                  <a:tcPr marL="54864" marR="54864" marT="18288" marB="18288">
                    <a:solidFill>
                      <a:srgbClr val="FFFFFF"/>
                    </a:solidFill>
                  </a:tcPr>
                </a:tc>
                <a:tc>
                  <a:txBody>
                    <a:bodyPr/>
                    <a:lstStyle/>
                    <a:p>
                      <a:pPr>
                        <a:defRPr sz="1050" b="0">
                          <a:solidFill>
                            <a:srgbClr val="000000"/>
                          </a:solidFill>
                          <a:latin typeface="Calibri"/>
                        </a:defRPr>
                      </a:pPr>
                      <a:r>
                        <a:t>Belum dipakai (mode rekomendasi)</a:t>
                      </a:r>
                    </a:p>
                  </a:txBody>
                  <a:tcPr marL="54864" marR="54864" marT="18288" marB="18288">
                    <a:solidFill>
                      <a:srgbClr val="FFFFFF"/>
                    </a:solidFill>
                  </a:tcPr>
                </a:tc>
                <a:tc>
                  <a:txBody>
                    <a:bodyPr/>
                    <a:lstStyle/>
                    <a:p>
                      <a:pPr>
                        <a:defRPr sz="1050" b="0">
                          <a:solidFill>
                            <a:srgbClr val="000000"/>
                          </a:solidFill>
                          <a:latin typeface="Calibri"/>
                        </a:defRPr>
                      </a:pPr>
                      <a:r>
                        <a:t>0,0</a:t>
                      </a:r>
                    </a:p>
                  </a:txBody>
                  <a:tcPr marL="54864" marR="54864" marT="18288" marB="18288">
                    <a:solidFill>
                      <a:srgbClr val="FFFFFF"/>
                    </a:solidFill>
                  </a:tcPr>
                </a:tc>
                <a:tc>
                  <a:txBody>
                    <a:bodyPr/>
                    <a:lstStyle/>
                    <a:p>
                      <a:pPr>
                        <a:defRPr sz="1050" b="0">
                          <a:solidFill>
                            <a:srgbClr val="000000"/>
                          </a:solidFill>
                          <a:latin typeface="Calibri"/>
                        </a:defRPr>
                      </a:pPr>
                      <a:r>
                        <a:t>Rekomendasi</a:t>
                      </a:r>
                    </a:p>
                  </a:txBody>
                  <a:tcPr marL="54864" marR="54864" marT="18288" marB="18288">
                    <a:solidFill>
                      <a:srgbClr val="FFFFFF"/>
                    </a:solidFill>
                  </a:tcPr>
                </a:tc>
              </a:tr>
            </a:tbl>
          </a:graphicData>
        </a:graphic>
      </p:graphicFrame>
      <p:graphicFrame>
        <p:nvGraphicFramePr>
          <p:cNvPr id="7" name="Table 6"/>
          <p:cNvGraphicFramePr>
            <a:graphicFrameLocks noGrp="1"/>
          </p:cNvGraphicFramePr>
          <p:nvPr/>
        </p:nvGraphicFramePr>
        <p:xfrm>
          <a:off x="320040" y="3429000"/>
          <a:ext cx="11612880" cy="1991360"/>
        </p:xfrm>
        <a:graphic>
          <a:graphicData uri="http://schemas.openxmlformats.org/drawingml/2006/table">
            <a:tbl>
              <a:tblPr firstRow="1" bandRow="1">
                <a:tableStyleId>{5C22544A-7EE6-4342-B048-85BDC9FD1C3A}</a:tableStyleId>
              </a:tblPr>
              <a:tblGrid>
                <a:gridCol w="3840480"/>
                <a:gridCol w="7772400"/>
              </a:tblGrid>
              <a:tr h="248920">
                <a:tc>
                  <a:txBody>
                    <a:bodyPr/>
                    <a:lstStyle/>
                    <a:p>
                      <a:pPr>
                        <a:defRPr sz="1050" b="1">
                          <a:solidFill>
                            <a:srgbClr val="000000"/>
                          </a:solidFill>
                          <a:latin typeface="Calibri"/>
                        </a:defRPr>
                      </a:pPr>
                      <a:r>
                        <a:t>Serangan / pelanggaran</a:t>
                      </a:r>
                    </a:p>
                  </a:txBody>
                  <a:tcPr marL="54864" marR="54864" marT="18288" marB="18288">
                    <a:solidFill>
                      <a:srgbClr val="E5E7EB"/>
                    </a:solidFill>
                  </a:tcPr>
                </a:tc>
                <a:tc>
                  <a:txBody>
                    <a:bodyPr/>
                    <a:lstStyle/>
                    <a:p>
                      <a:pPr>
                        <a:defRPr sz="1050" b="1">
                          <a:solidFill>
                            <a:srgbClr val="000000"/>
                          </a:solidFill>
                          <a:latin typeface="Calibri"/>
                        </a:defRPr>
                      </a:pPr>
                      <a:r>
                        <a:t>Hasil pada bus pesan</a:t>
                      </a:r>
                    </a:p>
                  </a:txBody>
                  <a:tcPr marL="54864" marR="54864" marT="18288" marB="18288">
                    <a:solidFill>
                      <a:srgbClr val="E5E7EB"/>
                    </a:solidFill>
                  </a:tcPr>
                </a:tc>
              </a:tr>
              <a:tr h="248920">
                <a:tc>
                  <a:txBody>
                    <a:bodyPr/>
                    <a:lstStyle/>
                    <a:p>
                      <a:pPr>
                        <a:defRPr sz="1050" b="0">
                          <a:solidFill>
                            <a:srgbClr val="000000"/>
                          </a:solidFill>
                          <a:latin typeface="Calibri"/>
                        </a:defRPr>
                      </a:pPr>
                      <a:r>
                        <a:t>spoofed sender</a:t>
                      </a:r>
                    </a:p>
                  </a:txBody>
                  <a:tcPr marL="54864" marR="54864" marT="18288" marB="18288">
                    <a:solidFill>
                      <a:srgbClr val="FFFFFF"/>
                    </a:solidFill>
                  </a:tcPr>
                </a:tc>
                <a:tc>
                  <a:txBody>
                    <a:bodyPr/>
                    <a:lstStyle/>
                    <a:p>
                      <a:pPr>
                        <a:defRPr sz="1050" b="0">
                          <a:solidFill>
                            <a:srgbClr val="000000"/>
                          </a:solidFill>
                          <a:latin typeface="Calibri"/>
                        </a:defRPr>
                      </a:pPr>
                      <a:r>
                        <a:t>blocked: unknown sender (spoofing)</a:t>
                      </a:r>
                    </a:p>
                  </a:txBody>
                  <a:tcPr marL="54864" marR="54864" marT="18288" marB="18288">
                    <a:solidFill>
                      <a:srgbClr val="FFFFFF"/>
                    </a:solidFill>
                  </a:tcPr>
                </a:tc>
              </a:tr>
              <a:tr h="248920">
                <a:tc>
                  <a:txBody>
                    <a:bodyPr/>
                    <a:lstStyle/>
                    <a:p>
                      <a:pPr>
                        <a:defRPr sz="1050" b="0">
                          <a:solidFill>
                            <a:srgbClr val="000000"/>
                          </a:solidFill>
                          <a:latin typeface="Calibri"/>
                        </a:defRPr>
                      </a:pPr>
                      <a:r>
                        <a:t>tampered payload (kg 1.000 -&gt; 99.999)</a:t>
                      </a:r>
                    </a:p>
                  </a:txBody>
                  <a:tcPr marL="54864" marR="54864" marT="18288" marB="18288">
                    <a:solidFill>
                      <a:srgbClr val="FFFFFF"/>
                    </a:solidFill>
                  </a:tcPr>
                </a:tc>
                <a:tc>
                  <a:txBody>
                    <a:bodyPr/>
                    <a:lstStyle/>
                    <a:p>
                      <a:pPr>
                        <a:defRPr sz="1050" b="0">
                          <a:solidFill>
                            <a:srgbClr val="000000"/>
                          </a:solidFill>
                          <a:latin typeface="Calibri"/>
                        </a:defRPr>
                      </a:pPr>
                      <a:r>
                        <a:t>blocked: bad signature (tampering/spoofing)</a:t>
                      </a:r>
                    </a:p>
                  </a:txBody>
                  <a:tcPr marL="54864" marR="54864" marT="18288" marB="18288">
                    <a:solidFill>
                      <a:srgbClr val="FFFFFF"/>
                    </a:solidFill>
                  </a:tcPr>
                </a:tc>
              </a:tr>
              <a:tr h="248920">
                <a:tc>
                  <a:txBody>
                    <a:bodyPr/>
                    <a:lstStyle/>
                    <a:p>
                      <a:pPr>
                        <a:defRPr sz="1050" b="0">
                          <a:solidFill>
                            <a:srgbClr val="000000"/>
                          </a:solidFill>
                          <a:latin typeface="Calibri"/>
                        </a:defRPr>
                      </a:pPr>
                      <a:r>
                        <a:t>replayed message</a:t>
                      </a:r>
                    </a:p>
                  </a:txBody>
                  <a:tcPr marL="54864" marR="54864" marT="18288" marB="18288">
                    <a:solidFill>
                      <a:srgbClr val="FFFFFF"/>
                    </a:solidFill>
                  </a:tcPr>
                </a:tc>
                <a:tc>
                  <a:txBody>
                    <a:bodyPr/>
                    <a:lstStyle/>
                    <a:p>
                      <a:pPr>
                        <a:defRPr sz="1050" b="0">
                          <a:solidFill>
                            <a:srgbClr val="000000"/>
                          </a:solidFill>
                          <a:latin typeface="Calibri"/>
                        </a:defRPr>
                      </a:pPr>
                      <a:r>
                        <a:t>blocked: replay detected</a:t>
                      </a:r>
                    </a:p>
                  </a:txBody>
                  <a:tcPr marL="54864" marR="54864" marT="18288" marB="18288">
                    <a:solidFill>
                      <a:srgbClr val="FFFFFF"/>
                    </a:solidFill>
                  </a:tcPr>
                </a:tc>
              </a:tr>
              <a:tr h="248920">
                <a:tc>
                  <a:txBody>
                    <a:bodyPr/>
                    <a:lstStyle/>
                    <a:p>
                      <a:pPr>
                        <a:defRPr sz="1050" b="0">
                          <a:solidFill>
                            <a:srgbClr val="000000"/>
                          </a:solidFill>
                          <a:latin typeface="Calibri"/>
                        </a:defRPr>
                      </a:pPr>
                      <a:r>
                        <a:t>capability abuse (producer issues ACCEPT)</a:t>
                      </a:r>
                    </a:p>
                  </a:txBody>
                  <a:tcPr marL="54864" marR="54864" marT="18288" marB="18288">
                    <a:solidFill>
                      <a:srgbClr val="FFFFFF"/>
                    </a:solidFill>
                  </a:tcPr>
                </a:tc>
                <a:tc>
                  <a:txBody>
                    <a:bodyPr/>
                    <a:lstStyle/>
                    <a:p>
                      <a:pPr>
                        <a:defRPr sz="1050" b="0">
                          <a:solidFill>
                            <a:srgbClr val="000000"/>
                          </a:solidFill>
                          <a:latin typeface="Calibri"/>
                        </a:defRPr>
                      </a:pPr>
                      <a:r>
                        <a:t>blocked: capability denied: prod1 may not ACCEPT</a:t>
                      </a:r>
                    </a:p>
                  </a:txBody>
                  <a:tcPr marL="54864" marR="54864" marT="18288" marB="18288">
                    <a:solidFill>
                      <a:srgbClr val="FFFFFF"/>
                    </a:solidFill>
                  </a:tcPr>
                </a:tc>
              </a:tr>
              <a:tr h="248920">
                <a:tc>
                  <a:txBody>
                    <a:bodyPr/>
                    <a:lstStyle/>
                    <a:p>
                      <a:pPr>
                        <a:defRPr sz="1050" b="0">
                          <a:solidFill>
                            <a:srgbClr val="000000"/>
                          </a:solidFill>
                          <a:latin typeface="Calibri"/>
                        </a:defRPr>
                      </a:pPr>
                      <a:r>
                        <a:t>protocol violation (ACCEPT without CFP)</a:t>
                      </a:r>
                    </a:p>
                  </a:txBody>
                  <a:tcPr marL="54864" marR="54864" marT="18288" marB="18288">
                    <a:solidFill>
                      <a:srgbClr val="FFFFFF"/>
                    </a:solidFill>
                  </a:tcPr>
                </a:tc>
                <a:tc>
                  <a:txBody>
                    <a:bodyPr/>
                    <a:lstStyle/>
                    <a:p>
                      <a:pPr>
                        <a:defRPr sz="1050" b="0">
                          <a:solidFill>
                            <a:srgbClr val="000000"/>
                          </a:solidFill>
                          <a:latin typeface="Calibri"/>
                        </a:defRPr>
                      </a:pPr>
                      <a:r>
                        <a:t>blocked: protocol violation in CNP-x/5: ACCEPT while IDLE</a:t>
                      </a:r>
                    </a:p>
                  </a:txBody>
                  <a:tcPr marL="54864" marR="54864" marT="18288" marB="18288">
                    <a:solidFill>
                      <a:srgbClr val="FFFFFF"/>
                    </a:solidFill>
                  </a:tcPr>
                </a:tc>
              </a:tr>
              <a:tr h="248920">
                <a:tc>
                  <a:txBody>
                    <a:bodyPr/>
                    <a:lstStyle/>
                    <a:p>
                      <a:pPr>
                        <a:defRPr sz="1050" b="0">
                          <a:solidFill>
                            <a:srgbClr val="000000"/>
                          </a:solidFill>
                          <a:latin typeface="Calibri"/>
                        </a:defRPr>
                      </a:pPr>
                      <a:r>
                        <a:t>stale message (timestamp outside window)</a:t>
                      </a:r>
                    </a:p>
                  </a:txBody>
                  <a:tcPr marL="54864" marR="54864" marT="18288" marB="18288">
                    <a:solidFill>
                      <a:srgbClr val="FFFFFF"/>
                    </a:solidFill>
                  </a:tcPr>
                </a:tc>
                <a:tc>
                  <a:txBody>
                    <a:bodyPr/>
                    <a:lstStyle/>
                    <a:p>
                      <a:pPr>
                        <a:defRPr sz="1050" b="0">
                          <a:solidFill>
                            <a:srgbClr val="000000"/>
                          </a:solidFill>
                          <a:latin typeface="Calibri"/>
                        </a:defRPr>
                      </a:pPr>
                      <a:r>
                        <a:t>blocked: replay detected</a:t>
                      </a:r>
                    </a:p>
                  </a:txBody>
                  <a:tcPr marL="54864" marR="54864" marT="18288" marB="18288">
                    <a:solidFill>
                      <a:srgbClr val="FFFFFF"/>
                    </a:solidFill>
                  </a:tcPr>
                </a:tc>
              </a:tr>
              <a:tr h="248920">
                <a:tc>
                  <a:txBody>
                    <a:bodyPr/>
                    <a:lstStyle/>
                    <a:p>
                      <a:pPr>
                        <a:defRPr sz="1050" b="0">
                          <a:solidFill>
                            <a:srgbClr val="000000"/>
                          </a:solidFill>
                          <a:latin typeface="Calibri"/>
                        </a:defRPr>
                      </a:pPr>
                      <a:r>
                        <a:t>tampered mobile-agent state</a:t>
                      </a:r>
                    </a:p>
                  </a:txBody>
                  <a:tcPr marL="54864" marR="54864" marT="18288" marB="18288">
                    <a:solidFill>
                      <a:srgbClr val="FFFFFF"/>
                    </a:solidFill>
                  </a:tcPr>
                </a:tc>
                <a:tc>
                  <a:txBody>
                    <a:bodyPr/>
                    <a:lstStyle/>
                    <a:p>
                      <a:pPr>
                        <a:defRPr sz="1050" b="0">
                          <a:solidFill>
                            <a:srgbClr val="000000"/>
                          </a:solidFill>
                          <a:latin typeface="Calibri"/>
                        </a:defRPr>
                      </a:pPr>
                      <a:r>
                        <a:t>blocked: state hash mismatch -&gt; migration refused, remote pull</a:t>
                      </a:r>
                    </a:p>
                  </a:txBody>
                  <a:tcPr marL="54864" marR="54864" marT="18288" marB="18288">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5.6 Koordinasi dan negosiasi antaragen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27</a:t>
            </a:r>
          </a:p>
        </p:txBody>
      </p:sp>
      <p:graphicFrame>
        <p:nvGraphicFramePr>
          <p:cNvPr id="6" name="Table 5"/>
          <p:cNvGraphicFramePr>
            <a:graphicFrameLocks noGrp="1"/>
          </p:cNvGraphicFramePr>
          <p:nvPr/>
        </p:nvGraphicFramePr>
        <p:xfrm>
          <a:off x="320040" y="1005840"/>
          <a:ext cx="11521440" cy="2811777"/>
        </p:xfrm>
        <a:graphic>
          <a:graphicData uri="http://schemas.openxmlformats.org/drawingml/2006/table">
            <a:tbl>
              <a:tblPr firstRow="1" bandRow="1">
                <a:tableStyleId>{5C22544A-7EE6-4342-B048-85BDC9FD1C3A}</a:tableStyleId>
              </a:tblPr>
              <a:tblGrid>
                <a:gridCol w="3108960"/>
                <a:gridCol w="8412480"/>
              </a:tblGrid>
              <a:tr h="264160">
                <a:tc>
                  <a:txBody>
                    <a:bodyPr/>
                    <a:lstStyle/>
                    <a:p>
                      <a:pPr>
                        <a:defRPr sz="1150" b="1">
                          <a:solidFill>
                            <a:srgbClr val="000000"/>
                          </a:solidFill>
                          <a:latin typeface="Calibri"/>
                        </a:defRPr>
                      </a:pPr>
                      <a:r>
                        <a:t>Mekanisme</a:t>
                      </a:r>
                    </a:p>
                  </a:txBody>
                  <a:tcPr marL="54864" marR="54864" marT="18288" marB="18288">
                    <a:solidFill>
                      <a:srgbClr val="E5E7EB"/>
                    </a:solidFill>
                  </a:tcPr>
                </a:tc>
                <a:tc>
                  <a:txBody>
                    <a:bodyPr/>
                    <a:lstStyle/>
                    <a:p>
                      <a:pPr>
                        <a:defRPr sz="1150" b="1">
                          <a:solidFill>
                            <a:srgbClr val="000000"/>
                          </a:solidFill>
                          <a:latin typeface="Calibri"/>
                        </a:defRPr>
                      </a:pPr>
                      <a:r>
                        <a:t>Cara kerja pada KCMAS</a:t>
                      </a:r>
                    </a:p>
                  </a:txBody>
                  <a:tcPr marL="54864" marR="54864" marT="18288" marB="18288">
                    <a:solidFill>
                      <a:srgbClr val="E5E7EB"/>
                    </a:solidFill>
                  </a:tcPr>
                </a:tc>
              </a:tr>
              <a:tr h="614680">
                <a:tc>
                  <a:txBody>
                    <a:bodyPr/>
                    <a:lstStyle/>
                    <a:p>
                      <a:pPr>
                        <a:defRPr sz="1150" b="0">
                          <a:solidFill>
                            <a:srgbClr val="000000"/>
                          </a:solidFill>
                          <a:latin typeface="Calibri"/>
                        </a:defRPr>
                      </a:pPr>
                      <a:r>
                        <a:t>Contract Net (kuota produsen, lini gudang, carrier)</a:t>
                      </a:r>
                    </a:p>
                  </a:txBody>
                  <a:tcPr marL="54864" marR="54864" marT="18288" marB="18288">
                    <a:solidFill>
                      <a:srgbClr val="FFFFFF"/>
                    </a:solidFill>
                  </a:tcPr>
                </a:tc>
                <a:tc>
                  <a:txBody>
                    <a:bodyPr/>
                    <a:lstStyle/>
                    <a:p>
                      <a:pPr>
                        <a:defRPr sz="1150" b="0">
                          <a:solidFill>
                            <a:srgbClr val="000000"/>
                          </a:solidFill>
                          <a:latin typeface="Calibri"/>
                        </a:defRPr>
                      </a:pPr>
                      <a:r>
                        <a:t>Manajer menyiarkan permintaan tawaran (CFP); kontraktor menjawab dengan tawaran atau menolak; manajer memilih dan mengirim ACCEPT atau REJECT. Bus memeriksa urutan pesan (IDLE, BIDDING, AWARDED, COMPLETED) dan menolak urutan yang salah; tiap leg punya id percakapan sendiri.</a:t>
                      </a:r>
                    </a:p>
                  </a:txBody>
                  <a:tcPr marL="54864" marR="54864" marT="18288" marB="18288">
                    <a:solidFill>
                      <a:srgbClr val="FFFFFF"/>
                    </a:solidFill>
                  </a:tcPr>
                </a:tc>
              </a:tr>
              <a:tr h="614680">
                <a:tc>
                  <a:txBody>
                    <a:bodyPr/>
                    <a:lstStyle/>
                    <a:p>
                      <a:pPr>
                        <a:defRPr sz="1150" b="0">
                          <a:solidFill>
                            <a:srgbClr val="000000"/>
                          </a:solidFill>
                          <a:latin typeface="Calibri"/>
                        </a:defRPr>
                      </a:pPr>
                      <a:r>
                        <a:t>Skor penilaian tawaran</a:t>
                      </a:r>
                    </a:p>
                  </a:txBody>
                  <a:tcPr marL="54864" marR="54864" marT="18288" marB="18288">
                    <a:solidFill>
                      <a:srgbClr val="FFFFFF"/>
                    </a:solidFill>
                  </a:tcPr>
                </a:tc>
                <a:tc>
                  <a:txBody>
                    <a:bodyPr/>
                    <a:lstStyle/>
                    <a:p>
                      <a:pPr>
                        <a:defRPr sz="1150" b="0">
                          <a:solidFill>
                            <a:srgbClr val="000000"/>
                          </a:solidFill>
                          <a:latin typeface="Calibri"/>
                        </a:defRPr>
                      </a:pPr>
                      <a:r>
                        <a:t>Tawaran produsen dinilai dari harga (30%), waktu siap (50% pada penilaian kecepatan/waktu), dan skor mutu (20%) sesuai bobot konfigurasi; carrier dinilai dengan skor gabungan harga/waktu transit dan peluang ditinggal kapal.</a:t>
                      </a:r>
                    </a:p>
                  </a:txBody>
                  <a:tcPr marL="54864" marR="54864" marT="18288" marB="18288">
                    <a:solidFill>
                      <a:srgbClr val="FFFFFF"/>
                    </a:solidFill>
                  </a:tcPr>
                </a:tc>
              </a:tr>
              <a:tr h="439419">
                <a:tc>
                  <a:txBody>
                    <a:bodyPr/>
                    <a:lstStyle/>
                    <a:p>
                      <a:pPr>
                        <a:defRPr sz="1150" b="0">
                          <a:solidFill>
                            <a:srgbClr val="000000"/>
                          </a:solidFill>
                          <a:latin typeface="Calibri"/>
                        </a:defRPr>
                      </a:pPr>
                      <a:r>
                        <a:t>Negosiasi harga (Sales Agent)</a:t>
                      </a:r>
                    </a:p>
                  </a:txBody>
                  <a:tcPr marL="54864" marR="54864" marT="18288" marB="18288">
                    <a:solidFill>
                      <a:srgbClr val="FFFFFF"/>
                    </a:solidFill>
                  </a:tcPr>
                </a:tc>
                <a:tc>
                  <a:txBody>
                    <a:bodyPr/>
                    <a:lstStyle/>
                    <a:p>
                      <a:pPr>
                        <a:defRPr sz="1150" b="0">
                          <a:solidFill>
                            <a:srgbClr val="000000"/>
                          </a:solidFill>
                          <a:latin typeface="Calibri"/>
                        </a:defRPr>
                      </a:pPr>
                      <a:r>
                        <a:t>Konsesi bertahap dengan batas kebijakan. Model kesabaran pembeli dan waktu balas manusia bersifat asumsi (eksploratif).</a:t>
                      </a:r>
                    </a:p>
                  </a:txBody>
                  <a:tcPr marL="54864" marR="54864" marT="18288" marB="18288">
                    <a:solidFill>
                      <a:srgbClr val="FFFFFF"/>
                    </a:solidFill>
                  </a:tcPr>
                </a:tc>
              </a:tr>
              <a:tr h="439419">
                <a:tc>
                  <a:txBody>
                    <a:bodyPr/>
                    <a:lstStyle/>
                    <a:p>
                      <a:pPr>
                        <a:defRPr sz="1150" b="0">
                          <a:solidFill>
                            <a:srgbClr val="000000"/>
                          </a:solidFill>
                          <a:latin typeface="Calibri"/>
                        </a:defRPr>
                      </a:pPr>
                      <a:r>
                        <a:t>Penanganan konflik dan kegagalan</a:t>
                      </a:r>
                    </a:p>
                  </a:txBody>
                  <a:tcPr marL="54864" marR="54864" marT="18288" marB="18288">
                    <a:solidFill>
                      <a:srgbClr val="FFFFFF"/>
                    </a:solidFill>
                  </a:tcPr>
                </a:tc>
                <a:tc>
                  <a:txBody>
                    <a:bodyPr/>
                    <a:lstStyle/>
                    <a:p>
                      <a:pPr>
                        <a:defRPr sz="1150" b="0">
                          <a:solidFill>
                            <a:srgbClr val="000000"/>
                          </a:solidFill>
                          <a:latin typeface="Calibri"/>
                        </a:defRPr>
                      </a:pPr>
                      <a:r>
                        <a:t>Batas 30% mencegah satu produsen menguasai order; kegagalan kirim memicu re-kontrak; skor mutu memberi insentif keandalan; carrier tidak tepercaya diblokir.</a:t>
                      </a:r>
                    </a:p>
                  </a:txBody>
                  <a:tcPr marL="54864" marR="54864" marT="18288" marB="18288">
                    <a:solidFill>
                      <a:srgbClr val="FFFFFF"/>
                    </a:solidFill>
                  </a:tcPr>
                </a:tc>
              </a:tr>
              <a:tr h="439419">
                <a:tc>
                  <a:txBody>
                    <a:bodyPr/>
                    <a:lstStyle/>
                    <a:p>
                      <a:pPr>
                        <a:defRPr sz="1150" b="0">
                          <a:solidFill>
                            <a:srgbClr val="000000"/>
                          </a:solidFill>
                          <a:latin typeface="Calibri"/>
                        </a:defRPr>
                      </a:pPr>
                      <a:r>
                        <a:t>Keamanan pesan</a:t>
                      </a:r>
                    </a:p>
                  </a:txBody>
                  <a:tcPr marL="54864" marR="54864" marT="18288" marB="18288">
                    <a:solidFill>
                      <a:srgbClr val="FFFFFF"/>
                    </a:solidFill>
                  </a:tcPr>
                </a:tc>
                <a:tc>
                  <a:txBody>
                    <a:bodyPr/>
                    <a:lstStyle/>
                    <a:p>
                      <a:pPr>
                        <a:defRPr sz="1150" b="0">
                          <a:solidFill>
                            <a:srgbClr val="000000"/>
                          </a:solidFill>
                          <a:latin typeface="Calibri"/>
                        </a:defRPr>
                      </a:pPr>
                      <a:r>
                        <a:t>Tanda tangan digital (HMAC), nonce dan jendela waktu anti-ulang, izin per agen, audit log berantai-hash; tujuh serangan diuji dan seluruhnya diblokir.</a:t>
                      </a:r>
                    </a:p>
                  </a:txBody>
                  <a:tcPr marL="54864" marR="54864" marT="18288" marB="18288">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5.6 Mobile agent (Scout): pindahkan kode, bukan data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28</a:t>
            </a:r>
          </a:p>
        </p:txBody>
      </p:sp>
      <p:pic>
        <p:nvPicPr>
          <p:cNvPr id="6" name="Picture 5" descr="fig_mobile.png"/>
          <p:cNvPicPr>
            <a:picLocks noChangeAspect="1"/>
          </p:cNvPicPr>
          <p:nvPr/>
        </p:nvPicPr>
        <p:blipFill>
          <a:blip r:embed="rId2"/>
          <a:stretch>
            <a:fillRect/>
          </a:stretch>
        </p:blipFill>
        <p:spPr>
          <a:xfrm>
            <a:off x="435314" y="1097280"/>
            <a:ext cx="4067131" cy="3108960"/>
          </a:xfrm>
          <a:prstGeom prst="rect">
            <a:avLst/>
          </a:prstGeom>
        </p:spPr>
      </p:pic>
      <p:graphicFrame>
        <p:nvGraphicFramePr>
          <p:cNvPr id="7" name="Table 6"/>
          <p:cNvGraphicFramePr>
            <a:graphicFrameLocks noGrp="1"/>
          </p:cNvGraphicFramePr>
          <p:nvPr/>
        </p:nvGraphicFramePr>
        <p:xfrm>
          <a:off x="4754880" y="1188720"/>
          <a:ext cx="6995160" cy="1404620"/>
        </p:xfrm>
        <a:graphic>
          <a:graphicData uri="http://schemas.openxmlformats.org/drawingml/2006/table">
            <a:tbl>
              <a:tblPr firstRow="1" bandRow="1">
                <a:tableStyleId>{5C22544A-7EE6-4342-B048-85BDC9FD1C3A}</a:tableStyleId>
              </a:tblPr>
              <a:tblGrid>
                <a:gridCol w="2194560"/>
                <a:gridCol w="731520"/>
                <a:gridCol w="868680"/>
                <a:gridCol w="731520"/>
                <a:gridCol w="731520"/>
                <a:gridCol w="1737360"/>
              </a:tblGrid>
              <a:tr h="408940">
                <a:tc>
                  <a:txBody>
                    <a:bodyPr/>
                    <a:lstStyle/>
                    <a:p>
                      <a:pPr>
                        <a:defRPr sz="1050" b="1">
                          <a:solidFill>
                            <a:srgbClr val="000000"/>
                          </a:solidFill>
                          <a:latin typeface="Calibri"/>
                        </a:defRPr>
                      </a:pPr>
                      <a:r>
                        <a:t>Host</a:t>
                      </a:r>
                    </a:p>
                  </a:txBody>
                  <a:tcPr marL="54864" marR="54864" marT="18288" marB="18288">
                    <a:solidFill>
                      <a:srgbClr val="E5E7EB"/>
                    </a:solidFill>
                  </a:tcPr>
                </a:tc>
                <a:tc>
                  <a:txBody>
                    <a:bodyPr/>
                    <a:lstStyle/>
                    <a:p>
                      <a:pPr>
                        <a:defRPr sz="1050" b="1">
                          <a:solidFill>
                            <a:srgbClr val="000000"/>
                          </a:solidFill>
                          <a:latin typeface="Calibri"/>
                        </a:defRPr>
                      </a:pPr>
                      <a:r>
                        <a:t>Trust</a:t>
                      </a:r>
                    </a:p>
                  </a:txBody>
                  <a:tcPr marL="54864" marR="54864" marT="18288" marB="18288">
                    <a:solidFill>
                      <a:srgbClr val="E5E7EB"/>
                    </a:solidFill>
                  </a:tcPr>
                </a:tc>
                <a:tc>
                  <a:txBody>
                    <a:bodyPr/>
                    <a:lstStyle/>
                    <a:p>
                      <a:pPr>
                        <a:defRPr sz="1050" b="1">
                          <a:solidFill>
                            <a:srgbClr val="000000"/>
                          </a:solidFill>
                          <a:latin typeface="Calibri"/>
                        </a:defRPr>
                      </a:pPr>
                      <a:r>
                        <a:t>Latensi (ms)</a:t>
                      </a:r>
                    </a:p>
                  </a:txBody>
                  <a:tcPr marL="54864" marR="54864" marT="18288" marB="18288">
                    <a:solidFill>
                      <a:srgbClr val="E5E7EB"/>
                    </a:solidFill>
                  </a:tcPr>
                </a:tc>
                <a:tc>
                  <a:txBody>
                    <a:bodyPr/>
                    <a:lstStyle/>
                    <a:p>
                      <a:pPr>
                        <a:defRPr sz="1050" b="1">
                          <a:solidFill>
                            <a:srgbClr val="000000"/>
                          </a:solidFill>
                          <a:latin typeface="Calibri"/>
                        </a:defRPr>
                      </a:pPr>
                      <a:r>
                        <a:t>Risiko</a:t>
                      </a:r>
                    </a:p>
                  </a:txBody>
                  <a:tcPr marL="54864" marR="54864" marT="18288" marB="18288">
                    <a:solidFill>
                      <a:srgbClr val="E5E7EB"/>
                    </a:solidFill>
                  </a:tcPr>
                </a:tc>
                <a:tc>
                  <a:txBody>
                    <a:bodyPr/>
                    <a:lstStyle/>
                    <a:p>
                      <a:pPr>
                        <a:defRPr sz="1050" b="1">
                          <a:solidFill>
                            <a:srgbClr val="000000"/>
                          </a:solidFill>
                          <a:latin typeface="Calibri"/>
                        </a:defRPr>
                      </a:pPr>
                      <a:r>
                        <a:t>Skor</a:t>
                      </a:r>
                    </a:p>
                  </a:txBody>
                  <a:tcPr marL="54864" marR="54864" marT="18288" marB="18288">
                    <a:solidFill>
                      <a:srgbClr val="E5E7EB"/>
                    </a:solidFill>
                  </a:tcPr>
                </a:tc>
                <a:tc>
                  <a:txBody>
                    <a:bodyPr/>
                    <a:lstStyle/>
                    <a:p>
                      <a:pPr>
                        <a:defRPr sz="1050" b="1">
                          <a:solidFill>
                            <a:srgbClr val="000000"/>
                          </a:solidFill>
                          <a:latin typeface="Calibri"/>
                        </a:defRPr>
                      </a:pPr>
                      <a:r>
                        <a:t>Keputusan</a:t>
                      </a:r>
                    </a:p>
                  </a:txBody>
                  <a:tcPr marL="54864" marR="54864" marT="18288" marB="18288">
                    <a:solidFill>
                      <a:srgbClr val="E5E7EB"/>
                    </a:solidFill>
                  </a:tcPr>
                </a:tc>
              </a:tr>
              <a:tr h="248920">
                <a:tc>
                  <a:txBody>
                    <a:bodyPr/>
                    <a:lstStyle/>
                    <a:p>
                      <a:pPr>
                        <a:defRPr sz="1050" b="0">
                          <a:solidFill>
                            <a:srgbClr val="000000"/>
                          </a:solidFill>
                          <a:latin typeface="Calibri"/>
                        </a:defRPr>
                      </a:pPr>
                      <a:r>
                        <a:t>carrier_ColdLineA_edge</a:t>
                      </a:r>
                    </a:p>
                  </a:txBody>
                  <a:tcPr marL="54864" marR="54864" marT="18288" marB="18288">
                    <a:solidFill>
                      <a:srgbClr val="FFFFFF"/>
                    </a:solidFill>
                  </a:tcPr>
                </a:tc>
                <a:tc>
                  <a:txBody>
                    <a:bodyPr/>
                    <a:lstStyle/>
                    <a:p>
                      <a:pPr>
                        <a:defRPr sz="1050" b="0">
                          <a:solidFill>
                            <a:srgbClr val="000000"/>
                          </a:solidFill>
                          <a:latin typeface="Calibri"/>
                        </a:defRPr>
                      </a:pPr>
                      <a:r>
                        <a:t>0,71</a:t>
                      </a:r>
                    </a:p>
                  </a:txBody>
                  <a:tcPr marL="54864" marR="54864" marT="18288" marB="18288">
                    <a:solidFill>
                      <a:srgbClr val="FFFFFF"/>
                    </a:solidFill>
                  </a:tcPr>
                </a:tc>
                <a:tc>
                  <a:txBody>
                    <a:bodyPr/>
                    <a:lstStyle/>
                    <a:p>
                      <a:pPr>
                        <a:defRPr sz="1050" b="0">
                          <a:solidFill>
                            <a:srgbClr val="000000"/>
                          </a:solidFill>
                          <a:latin typeface="Calibri"/>
                        </a:defRPr>
                      </a:pPr>
                      <a:r>
                        <a:t>12</a:t>
                      </a:r>
                    </a:p>
                  </a:txBody>
                  <a:tcPr marL="54864" marR="54864" marT="18288" marB="18288">
                    <a:solidFill>
                      <a:srgbClr val="FFFFFF"/>
                    </a:solidFill>
                  </a:tcPr>
                </a:tc>
                <a:tc>
                  <a:txBody>
                    <a:bodyPr/>
                    <a:lstStyle/>
                    <a:p>
                      <a:pPr>
                        <a:defRPr sz="1050" b="0">
                          <a:solidFill>
                            <a:srgbClr val="000000"/>
                          </a:solidFill>
                          <a:latin typeface="Calibri"/>
                        </a:defRPr>
                      </a:pPr>
                      <a:r>
                        <a:t>0,30</a:t>
                      </a:r>
                    </a:p>
                  </a:txBody>
                  <a:tcPr marL="54864" marR="54864" marT="18288" marB="18288">
                    <a:solidFill>
                      <a:srgbClr val="FFFFFF"/>
                    </a:solidFill>
                  </a:tcPr>
                </a:tc>
                <a:tc>
                  <a:txBody>
                    <a:bodyPr/>
                    <a:lstStyle/>
                    <a:p>
                      <a:pPr>
                        <a:defRPr sz="1050" b="0">
                          <a:solidFill>
                            <a:srgbClr val="000000"/>
                          </a:solidFill>
                          <a:latin typeface="Calibri"/>
                        </a:defRPr>
                      </a:pPr>
                      <a:r>
                        <a:t>0,85</a:t>
                      </a:r>
                    </a:p>
                  </a:txBody>
                  <a:tcPr marL="54864" marR="54864" marT="18288" marB="18288">
                    <a:solidFill>
                      <a:srgbClr val="FFFFFF"/>
                    </a:solidFill>
                  </a:tcPr>
                </a:tc>
                <a:tc>
                  <a:txBody>
                    <a:bodyPr/>
                    <a:lstStyle/>
                    <a:p>
                      <a:pPr>
                        <a:defRPr sz="1050" b="0">
                          <a:solidFill>
                            <a:srgbClr val="000000"/>
                          </a:solidFill>
                          <a:latin typeface="Calibri"/>
                        </a:defRPr>
                      </a:pPr>
                      <a:r>
                        <a:t>reject (remote pull)</a:t>
                      </a:r>
                    </a:p>
                  </a:txBody>
                  <a:tcPr marL="54864" marR="54864" marT="18288" marB="18288">
                    <a:solidFill>
                      <a:srgbClr val="FFFFFF"/>
                    </a:solidFill>
                  </a:tcPr>
                </a:tc>
              </a:tr>
              <a:tr h="248920">
                <a:tc>
                  <a:txBody>
                    <a:bodyPr/>
                    <a:lstStyle/>
                    <a:p>
                      <a:pPr>
                        <a:defRPr sz="1050" b="0">
                          <a:solidFill>
                            <a:srgbClr val="000000"/>
                          </a:solidFill>
                          <a:latin typeface="Calibri"/>
                        </a:defRPr>
                      </a:pPr>
                      <a:r>
                        <a:t>carrier_ColdLineB_edge</a:t>
                      </a:r>
                    </a:p>
                  </a:txBody>
                  <a:tcPr marL="54864" marR="54864" marT="18288" marB="18288">
                    <a:solidFill>
                      <a:srgbClr val="FFFFFF"/>
                    </a:solidFill>
                  </a:tcPr>
                </a:tc>
                <a:tc>
                  <a:txBody>
                    <a:bodyPr/>
                    <a:lstStyle/>
                    <a:p>
                      <a:pPr>
                        <a:defRPr sz="1050" b="0">
                          <a:solidFill>
                            <a:srgbClr val="000000"/>
                          </a:solidFill>
                          <a:latin typeface="Calibri"/>
                        </a:defRPr>
                      </a:pPr>
                      <a:r>
                        <a:t>0,90</a:t>
                      </a:r>
                    </a:p>
                  </a:txBody>
                  <a:tcPr marL="54864" marR="54864" marT="18288" marB="18288">
                    <a:solidFill>
                      <a:srgbClr val="FFFFFF"/>
                    </a:solidFill>
                  </a:tcPr>
                </a:tc>
                <a:tc>
                  <a:txBody>
                    <a:bodyPr/>
                    <a:lstStyle/>
                    <a:p>
                      <a:pPr>
                        <a:defRPr sz="1050" b="0">
                          <a:solidFill>
                            <a:srgbClr val="000000"/>
                          </a:solidFill>
                          <a:latin typeface="Calibri"/>
                        </a:defRPr>
                      </a:pPr>
                      <a:r>
                        <a:t>18</a:t>
                      </a:r>
                    </a:p>
                  </a:txBody>
                  <a:tcPr marL="54864" marR="54864" marT="18288" marB="18288">
                    <a:solidFill>
                      <a:srgbClr val="FFFFFF"/>
                    </a:solidFill>
                  </a:tcPr>
                </a:tc>
                <a:tc>
                  <a:txBody>
                    <a:bodyPr/>
                    <a:lstStyle/>
                    <a:p>
                      <a:pPr>
                        <a:defRPr sz="1050" b="0">
                          <a:solidFill>
                            <a:srgbClr val="000000"/>
                          </a:solidFill>
                          <a:latin typeface="Calibri"/>
                        </a:defRPr>
                      </a:pPr>
                      <a:r>
                        <a:t>0,10</a:t>
                      </a:r>
                    </a:p>
                  </a:txBody>
                  <a:tcPr marL="54864" marR="54864" marT="18288" marB="18288">
                    <a:solidFill>
                      <a:srgbClr val="FFFFFF"/>
                    </a:solidFill>
                  </a:tcPr>
                </a:tc>
                <a:tc>
                  <a:txBody>
                    <a:bodyPr/>
                    <a:lstStyle/>
                    <a:p>
                      <a:pPr>
                        <a:defRPr sz="1050" b="0">
                          <a:solidFill>
                            <a:srgbClr val="000000"/>
                          </a:solidFill>
                          <a:latin typeface="Calibri"/>
                        </a:defRPr>
                      </a:pPr>
                      <a:r>
                        <a:t>0,72</a:t>
                      </a:r>
                    </a:p>
                  </a:txBody>
                  <a:tcPr marL="54864" marR="54864" marT="18288" marB="18288">
                    <a:solidFill>
                      <a:srgbClr val="FFFFFF"/>
                    </a:solidFill>
                  </a:tcPr>
                </a:tc>
                <a:tc>
                  <a:txBody>
                    <a:bodyPr/>
                    <a:lstStyle/>
                    <a:p>
                      <a:pPr>
                        <a:defRPr sz="1050" b="0">
                          <a:solidFill>
                            <a:srgbClr val="000000"/>
                          </a:solidFill>
                          <a:latin typeface="Calibri"/>
                        </a:defRPr>
                      </a:pPr>
                      <a:r>
                        <a:t>migrate</a:t>
                      </a:r>
                    </a:p>
                  </a:txBody>
                  <a:tcPr marL="54864" marR="54864" marT="18288" marB="18288">
                    <a:solidFill>
                      <a:srgbClr val="FFFFFF"/>
                    </a:solidFill>
                  </a:tcPr>
                </a:tc>
              </a:tr>
              <a:tr h="248920">
                <a:tc>
                  <a:txBody>
                    <a:bodyPr/>
                    <a:lstStyle/>
                    <a:p>
                      <a:pPr>
                        <a:defRPr sz="1050" b="0">
                          <a:solidFill>
                            <a:srgbClr val="000000"/>
                          </a:solidFill>
                          <a:latin typeface="Calibri"/>
                        </a:defRPr>
                      </a:pPr>
                      <a:r>
                        <a:t>carrier_ColdLinePrime_edge</a:t>
                      </a:r>
                    </a:p>
                  </a:txBody>
                  <a:tcPr marL="54864" marR="54864" marT="18288" marB="18288">
                    <a:solidFill>
                      <a:srgbClr val="FFFFFF"/>
                    </a:solidFill>
                  </a:tcPr>
                </a:tc>
                <a:tc>
                  <a:txBody>
                    <a:bodyPr/>
                    <a:lstStyle/>
                    <a:p>
                      <a:pPr>
                        <a:defRPr sz="1050" b="0">
                          <a:solidFill>
                            <a:srgbClr val="000000"/>
                          </a:solidFill>
                          <a:latin typeface="Calibri"/>
                        </a:defRPr>
                      </a:pPr>
                      <a:r>
                        <a:t>0,86</a:t>
                      </a:r>
                    </a:p>
                  </a:txBody>
                  <a:tcPr marL="54864" marR="54864" marT="18288" marB="18288">
                    <a:solidFill>
                      <a:srgbClr val="FFFFFF"/>
                    </a:solidFill>
                  </a:tcPr>
                </a:tc>
                <a:tc>
                  <a:txBody>
                    <a:bodyPr/>
                    <a:lstStyle/>
                    <a:p>
                      <a:pPr>
                        <a:defRPr sz="1050" b="0">
                          <a:solidFill>
                            <a:srgbClr val="000000"/>
                          </a:solidFill>
                          <a:latin typeface="Calibri"/>
                        </a:defRPr>
                      </a:pPr>
                      <a:r>
                        <a:t>25</a:t>
                      </a:r>
                    </a:p>
                  </a:txBody>
                  <a:tcPr marL="54864" marR="54864" marT="18288" marB="18288">
                    <a:solidFill>
                      <a:srgbClr val="FFFFFF"/>
                    </a:solidFill>
                  </a:tcPr>
                </a:tc>
                <a:tc>
                  <a:txBody>
                    <a:bodyPr/>
                    <a:lstStyle/>
                    <a:p>
                      <a:pPr>
                        <a:defRPr sz="1050" b="0">
                          <a:solidFill>
                            <a:srgbClr val="000000"/>
                          </a:solidFill>
                          <a:latin typeface="Calibri"/>
                        </a:defRPr>
                      </a:pPr>
                      <a:r>
                        <a:t>0,15</a:t>
                      </a:r>
                    </a:p>
                  </a:txBody>
                  <a:tcPr marL="54864" marR="54864" marT="18288" marB="18288">
                    <a:solidFill>
                      <a:srgbClr val="FFFFFF"/>
                    </a:solidFill>
                  </a:tcPr>
                </a:tc>
                <a:tc>
                  <a:txBody>
                    <a:bodyPr/>
                    <a:lstStyle/>
                    <a:p>
                      <a:pPr>
                        <a:defRPr sz="1050" b="0">
                          <a:solidFill>
                            <a:srgbClr val="000000"/>
                          </a:solidFill>
                          <a:latin typeface="Calibri"/>
                        </a:defRPr>
                      </a:pPr>
                      <a:r>
                        <a:t>0,43</a:t>
                      </a:r>
                    </a:p>
                  </a:txBody>
                  <a:tcPr marL="54864" marR="54864" marT="18288" marB="18288">
                    <a:solidFill>
                      <a:srgbClr val="FFFFFF"/>
                    </a:solidFill>
                  </a:tcPr>
                </a:tc>
                <a:tc>
                  <a:txBody>
                    <a:bodyPr/>
                    <a:lstStyle/>
                    <a:p>
                      <a:pPr>
                        <a:defRPr sz="1050" b="0">
                          <a:solidFill>
                            <a:srgbClr val="000000"/>
                          </a:solidFill>
                          <a:latin typeface="Calibri"/>
                        </a:defRPr>
                      </a:pPr>
                      <a:r>
                        <a:t>migrate</a:t>
                      </a:r>
                    </a:p>
                  </a:txBody>
                  <a:tcPr marL="54864" marR="54864" marT="18288" marB="18288">
                    <a:solidFill>
                      <a:srgbClr val="FFFFFF"/>
                    </a:solidFill>
                  </a:tcPr>
                </a:tc>
              </a:tr>
              <a:tr h="248920">
                <a:tc>
                  <a:txBody>
                    <a:bodyPr/>
                    <a:lstStyle/>
                    <a:p>
                      <a:pPr>
                        <a:defRPr sz="1050" b="0">
                          <a:solidFill>
                            <a:srgbClr val="000000"/>
                          </a:solidFill>
                          <a:latin typeface="Calibri"/>
                        </a:defRPr>
                      </a:pPr>
                      <a:r>
                        <a:t>port_community_node</a:t>
                      </a:r>
                    </a:p>
                  </a:txBody>
                  <a:tcPr marL="54864" marR="54864" marT="18288" marB="18288">
                    <a:solidFill>
                      <a:srgbClr val="FFFFFF"/>
                    </a:solidFill>
                  </a:tcPr>
                </a:tc>
                <a:tc>
                  <a:txBody>
                    <a:bodyPr/>
                    <a:lstStyle/>
                    <a:p>
                      <a:pPr>
                        <a:defRPr sz="1050" b="0">
                          <a:solidFill>
                            <a:srgbClr val="000000"/>
                          </a:solidFill>
                          <a:latin typeface="Calibri"/>
                        </a:defRPr>
                      </a:pPr>
                      <a:r>
                        <a:t>0,93</a:t>
                      </a:r>
                    </a:p>
                  </a:txBody>
                  <a:tcPr marL="54864" marR="54864" marT="18288" marB="18288">
                    <a:solidFill>
                      <a:srgbClr val="FFFFFF"/>
                    </a:solidFill>
                  </a:tcPr>
                </a:tc>
                <a:tc>
                  <a:txBody>
                    <a:bodyPr/>
                    <a:lstStyle/>
                    <a:p>
                      <a:pPr>
                        <a:defRPr sz="1050" b="0">
                          <a:solidFill>
                            <a:srgbClr val="000000"/>
                          </a:solidFill>
                          <a:latin typeface="Calibri"/>
                        </a:defRPr>
                      </a:pPr>
                      <a:r>
                        <a:t>15</a:t>
                      </a:r>
                    </a:p>
                  </a:txBody>
                  <a:tcPr marL="54864" marR="54864" marT="18288" marB="18288">
                    <a:solidFill>
                      <a:srgbClr val="FFFFFF"/>
                    </a:solidFill>
                  </a:tcPr>
                </a:tc>
                <a:tc>
                  <a:txBody>
                    <a:bodyPr/>
                    <a:lstStyle/>
                    <a:p>
                      <a:pPr>
                        <a:defRPr sz="1050" b="0">
                          <a:solidFill>
                            <a:srgbClr val="000000"/>
                          </a:solidFill>
                          <a:latin typeface="Calibri"/>
                        </a:defRPr>
                      </a:pPr>
                      <a:r>
                        <a:t>0,08</a:t>
                      </a:r>
                    </a:p>
                  </a:txBody>
                  <a:tcPr marL="54864" marR="54864" marT="18288" marB="18288">
                    <a:solidFill>
                      <a:srgbClr val="FFFFFF"/>
                    </a:solidFill>
                  </a:tcPr>
                </a:tc>
                <a:tc>
                  <a:txBody>
                    <a:bodyPr/>
                    <a:lstStyle/>
                    <a:p>
                      <a:pPr>
                        <a:defRPr sz="1050" b="0">
                          <a:solidFill>
                            <a:srgbClr val="000000"/>
                          </a:solidFill>
                          <a:latin typeface="Calibri"/>
                        </a:defRPr>
                      </a:pPr>
                      <a:r>
                        <a:t>0,85</a:t>
                      </a:r>
                    </a:p>
                  </a:txBody>
                  <a:tcPr marL="54864" marR="54864" marT="18288" marB="18288">
                    <a:solidFill>
                      <a:srgbClr val="FFFFFF"/>
                    </a:solidFill>
                  </a:tcPr>
                </a:tc>
                <a:tc>
                  <a:txBody>
                    <a:bodyPr/>
                    <a:lstStyle/>
                    <a:p>
                      <a:pPr>
                        <a:defRPr sz="1050" b="0">
                          <a:solidFill>
                            <a:srgbClr val="000000"/>
                          </a:solidFill>
                          <a:latin typeface="Calibri"/>
                        </a:defRPr>
                      </a:pPr>
                      <a:r>
                        <a:t>migrate</a:t>
                      </a:r>
                    </a:p>
                  </a:txBody>
                  <a:tcPr marL="54864" marR="54864" marT="18288" marB="18288">
                    <a:solidFill>
                      <a:srgbClr val="FFFFFF"/>
                    </a:solidFill>
                  </a:tcPr>
                </a:tc>
              </a:tr>
            </a:tbl>
          </a:graphicData>
        </a:graphic>
      </p:graphicFrame>
      <p:sp>
        <p:nvSpPr>
          <p:cNvPr id="8" name="TextBox 7"/>
          <p:cNvSpPr txBox="1"/>
          <p:nvPr/>
        </p:nvSpPr>
        <p:spPr>
          <a:xfrm>
            <a:off x="4754880" y="3931920"/>
            <a:ext cx="7040880" cy="2377440"/>
          </a:xfrm>
          <a:prstGeom prst="rect">
            <a:avLst/>
          </a:prstGeom>
          <a:noFill/>
        </p:spPr>
        <p:txBody>
          <a:bodyPr wrap="square">
            <a:spAutoFit/>
          </a:bodyPr>
          <a:lstStyle/>
          <a:p>
            <a:pPr>
              <a:spcAft>
                <a:spcPts val="400"/>
              </a:spcAft>
              <a:defRPr sz="1200" b="0">
                <a:solidFill>
                  <a:srgbClr val="000000"/>
                </a:solidFill>
                <a:latin typeface="Calibri"/>
              </a:defRPr>
            </a:pPr>
            <a:r>
              <a:t>• Migrasi hanya jika trust host &gt;= 0,80, risiko &lt;= 0,20, dan state terverifikasi (SHA-256 + HMAC); selain itu remote pull.</a:t>
            </a:r>
          </a:p>
          <a:p>
            <a:pPr>
              <a:spcAft>
                <a:spcPts val="400"/>
              </a:spcAft>
              <a:defRPr sz="1200" b="0">
                <a:solidFill>
                  <a:srgbClr val="000000"/>
                </a:solidFill>
                <a:latin typeface="Calibri"/>
              </a:defRPr>
            </a:pPr>
            <a:r>
              <a:t>• Skor komposit hanya meranking host yang lolos: keamanan adalah constraint keras (Bab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5.7 Mengapa multi-agent, bukan single agent?</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29</a:t>
            </a:r>
          </a:p>
        </p:txBody>
      </p:sp>
      <p:graphicFrame>
        <p:nvGraphicFramePr>
          <p:cNvPr id="6" name="Table 5"/>
          <p:cNvGraphicFramePr>
            <a:graphicFrameLocks noGrp="1"/>
          </p:cNvGraphicFramePr>
          <p:nvPr/>
        </p:nvGraphicFramePr>
        <p:xfrm>
          <a:off x="411480" y="1005840"/>
          <a:ext cx="11338560" cy="1884680"/>
        </p:xfrm>
        <a:graphic>
          <a:graphicData uri="http://schemas.openxmlformats.org/drawingml/2006/table">
            <a:tbl>
              <a:tblPr firstRow="1" bandRow="1">
                <a:tableStyleId>{5C22544A-7EE6-4342-B048-85BDC9FD1C3A}</a:tableStyleId>
              </a:tblPr>
              <a:tblGrid>
                <a:gridCol w="2194560"/>
                <a:gridCol w="2377440"/>
                <a:gridCol w="2194560"/>
                <a:gridCol w="1828800"/>
                <a:gridCol w="2743200"/>
              </a:tblGrid>
              <a:tr h="248920">
                <a:tc>
                  <a:txBody>
                    <a:bodyPr/>
                    <a:lstStyle/>
                    <a:p>
                      <a:pPr>
                        <a:defRPr sz="1050" b="1">
                          <a:solidFill>
                            <a:srgbClr val="000000"/>
                          </a:solidFill>
                          <a:latin typeface="Calibri"/>
                        </a:defRPr>
                      </a:pPr>
                      <a:r>
                        <a:t>Kriteria (Bab 4)</a:t>
                      </a:r>
                    </a:p>
                  </a:txBody>
                  <a:tcPr marL="54864" marR="54864" marT="18288" marB="18288">
                    <a:solidFill>
                      <a:srgbClr val="E5E7EB"/>
                    </a:solidFill>
                  </a:tcPr>
                </a:tc>
                <a:tc>
                  <a:txBody>
                    <a:bodyPr/>
                    <a:lstStyle/>
                    <a:p>
                      <a:pPr>
                        <a:defRPr sz="1050" b="1">
                          <a:solidFill>
                            <a:srgbClr val="000000"/>
                          </a:solidFill>
                          <a:latin typeface="Calibri"/>
                        </a:defRPr>
                      </a:pPr>
                      <a:r>
                        <a:t>Terpusat</a:t>
                      </a:r>
                    </a:p>
                  </a:txBody>
                  <a:tcPr marL="54864" marR="54864" marT="18288" marB="18288">
                    <a:solidFill>
                      <a:srgbClr val="E5E7EB"/>
                    </a:solidFill>
                  </a:tcPr>
                </a:tc>
                <a:tc>
                  <a:txBody>
                    <a:bodyPr/>
                    <a:lstStyle/>
                    <a:p>
                      <a:pPr>
                        <a:defRPr sz="1050" b="1">
                          <a:solidFill>
                            <a:srgbClr val="000000"/>
                          </a:solidFill>
                          <a:latin typeface="Calibri"/>
                        </a:defRPr>
                      </a:pPr>
                      <a:r>
                        <a:t>Terdesentralisasi</a:t>
                      </a:r>
                    </a:p>
                  </a:txBody>
                  <a:tcPr marL="54864" marR="54864" marT="18288" marB="18288">
                    <a:solidFill>
                      <a:srgbClr val="E5E7EB"/>
                    </a:solidFill>
                  </a:tcPr>
                </a:tc>
                <a:tc>
                  <a:txBody>
                    <a:bodyPr/>
                    <a:lstStyle/>
                    <a:p>
                      <a:pPr>
                        <a:defRPr sz="1050" b="1">
                          <a:solidFill>
                            <a:srgbClr val="000000"/>
                          </a:solidFill>
                          <a:latin typeface="Calibri"/>
                        </a:defRPr>
                      </a:pPr>
                      <a:r>
                        <a:t>Hybrid</a:t>
                      </a:r>
                    </a:p>
                  </a:txBody>
                  <a:tcPr marL="54864" marR="54864" marT="18288" marB="18288">
                    <a:solidFill>
                      <a:srgbClr val="E5E7EB"/>
                    </a:solidFill>
                  </a:tcPr>
                </a:tc>
                <a:tc>
                  <a:txBody>
                    <a:bodyPr/>
                    <a:lstStyle/>
                    <a:p>
                      <a:pPr>
                        <a:defRPr sz="1050" b="1">
                          <a:solidFill>
                            <a:srgbClr val="000000"/>
                          </a:solidFill>
                          <a:latin typeface="Calibri"/>
                        </a:defRPr>
                      </a:pPr>
                      <a:r>
                        <a:t>Posisi KCMAS</a:t>
                      </a:r>
                    </a:p>
                  </a:txBody>
                  <a:tcPr marL="54864" marR="54864" marT="18288" marB="18288">
                    <a:solidFill>
                      <a:srgbClr val="E5E7EB"/>
                    </a:solidFill>
                  </a:tcPr>
                </a:tc>
              </a:tr>
              <a:tr h="408940">
                <a:tc>
                  <a:txBody>
                    <a:bodyPr/>
                    <a:lstStyle/>
                    <a:p>
                      <a:pPr>
                        <a:defRPr sz="1050" b="0">
                          <a:solidFill>
                            <a:srgbClr val="000000"/>
                          </a:solidFill>
                          <a:latin typeface="Calibri"/>
                        </a:defRPr>
                      </a:pPr>
                      <a:r>
                        <a:t>Latensi dan bandwidth</a:t>
                      </a:r>
                    </a:p>
                  </a:txBody>
                  <a:tcPr marL="54864" marR="54864" marT="18288" marB="18288">
                    <a:solidFill>
                      <a:srgbClr val="FFFFFF"/>
                    </a:solidFill>
                  </a:tcPr>
                </a:tc>
                <a:tc>
                  <a:txBody>
                    <a:bodyPr/>
                    <a:lstStyle/>
                    <a:p>
                      <a:pPr>
                        <a:defRPr sz="1050" b="0">
                          <a:solidFill>
                            <a:srgbClr val="000000"/>
                          </a:solidFill>
                          <a:latin typeface="Calibri"/>
                        </a:defRPr>
                      </a:pPr>
                      <a:r>
                        <a:t>Sedang</a:t>
                      </a:r>
                    </a:p>
                  </a:txBody>
                  <a:tcPr marL="54864" marR="54864" marT="18288" marB="18288">
                    <a:solidFill>
                      <a:srgbClr val="FFFFFF"/>
                    </a:solidFill>
                  </a:tcPr>
                </a:tc>
                <a:tc>
                  <a:txBody>
                    <a:bodyPr/>
                    <a:lstStyle/>
                    <a:p>
                      <a:pPr>
                        <a:defRPr sz="1050" b="0">
                          <a:solidFill>
                            <a:srgbClr val="000000"/>
                          </a:solidFill>
                          <a:latin typeface="Calibri"/>
                        </a:defRPr>
                      </a:pPr>
                      <a:r>
                        <a:t>Rendah</a:t>
                      </a:r>
                    </a:p>
                  </a:txBody>
                  <a:tcPr marL="54864" marR="54864" marT="18288" marB="18288">
                    <a:solidFill>
                      <a:srgbClr val="FFFFFF"/>
                    </a:solidFill>
                  </a:tcPr>
                </a:tc>
                <a:tc>
                  <a:txBody>
                    <a:bodyPr/>
                    <a:lstStyle/>
                    <a:p>
                      <a:pPr>
                        <a:defRPr sz="1050" b="0">
                          <a:solidFill>
                            <a:srgbClr val="000000"/>
                          </a:solidFill>
                          <a:latin typeface="Calibri"/>
                        </a:defRPr>
                      </a:pPr>
                      <a:r>
                        <a:t>Rendah-sedang</a:t>
                      </a:r>
                    </a:p>
                  </a:txBody>
                  <a:tcPr marL="54864" marR="54864" marT="18288" marB="18288">
                    <a:solidFill>
                      <a:srgbClr val="FFFFFF"/>
                    </a:solidFill>
                  </a:tcPr>
                </a:tc>
                <a:tc>
                  <a:txBody>
                    <a:bodyPr/>
                    <a:lstStyle/>
                    <a:p>
                      <a:pPr>
                        <a:defRPr sz="1050" b="0">
                          <a:solidFill>
                            <a:srgbClr val="000000"/>
                          </a:solidFill>
                          <a:latin typeface="Calibri"/>
                        </a:defRPr>
                      </a:pPr>
                      <a:r>
                        <a:t>CFP hanya ke kandidat (fan-out dibatasi)</a:t>
                      </a:r>
                    </a:p>
                  </a:txBody>
                  <a:tcPr marL="54864" marR="54864" marT="18288" marB="18288">
                    <a:solidFill>
                      <a:srgbClr val="FFFFFF"/>
                    </a:solidFill>
                  </a:tcPr>
                </a:tc>
              </a:tr>
              <a:tr h="408940">
                <a:tc>
                  <a:txBody>
                    <a:bodyPr/>
                    <a:lstStyle/>
                    <a:p>
                      <a:pPr>
                        <a:defRPr sz="1050" b="0">
                          <a:solidFill>
                            <a:srgbClr val="000000"/>
                          </a:solidFill>
                          <a:latin typeface="Calibri"/>
                        </a:defRPr>
                      </a:pPr>
                      <a:r>
                        <a:t>Fault tolerance</a:t>
                      </a:r>
                    </a:p>
                  </a:txBody>
                  <a:tcPr marL="54864" marR="54864" marT="18288" marB="18288">
                    <a:solidFill>
                      <a:srgbClr val="FFFFFF"/>
                    </a:solidFill>
                  </a:tcPr>
                </a:tc>
                <a:tc>
                  <a:txBody>
                    <a:bodyPr/>
                    <a:lstStyle/>
                    <a:p>
                      <a:pPr>
                        <a:defRPr sz="1050" b="0">
                          <a:solidFill>
                            <a:srgbClr val="000000"/>
                          </a:solidFill>
                          <a:latin typeface="Calibri"/>
                        </a:defRPr>
                      </a:pPr>
                      <a:r>
                        <a:t>Rendah (single point of failure)</a:t>
                      </a:r>
                    </a:p>
                  </a:txBody>
                  <a:tcPr marL="54864" marR="54864" marT="18288" marB="18288">
                    <a:solidFill>
                      <a:srgbClr val="FFFFFF"/>
                    </a:solidFill>
                  </a:tcPr>
                </a:tc>
                <a:tc>
                  <a:txBody>
                    <a:bodyPr/>
                    <a:lstStyle/>
                    <a:p>
                      <a:pPr>
                        <a:defRPr sz="1050" b="0">
                          <a:solidFill>
                            <a:srgbClr val="000000"/>
                          </a:solidFill>
                          <a:latin typeface="Calibri"/>
                        </a:defRPr>
                      </a:pPr>
                      <a:r>
                        <a:t>Tinggi</a:t>
                      </a:r>
                    </a:p>
                  </a:txBody>
                  <a:tcPr marL="54864" marR="54864" marT="18288" marB="18288">
                    <a:solidFill>
                      <a:srgbClr val="FFFFFF"/>
                    </a:solidFill>
                  </a:tcPr>
                </a:tc>
                <a:tc>
                  <a:txBody>
                    <a:bodyPr/>
                    <a:lstStyle/>
                    <a:p>
                      <a:pPr>
                        <a:defRPr sz="1050" b="0">
                          <a:solidFill>
                            <a:srgbClr val="000000"/>
                          </a:solidFill>
                          <a:latin typeface="Calibri"/>
                        </a:defRPr>
                      </a:pPr>
                      <a:r>
                        <a:t>Tinggi</a:t>
                      </a:r>
                    </a:p>
                  </a:txBody>
                  <a:tcPr marL="54864" marR="54864" marT="18288" marB="18288">
                    <a:solidFill>
                      <a:srgbClr val="FFFFFF"/>
                    </a:solidFill>
                  </a:tcPr>
                </a:tc>
                <a:tc>
                  <a:txBody>
                    <a:bodyPr/>
                    <a:lstStyle/>
                    <a:p>
                      <a:pPr>
                        <a:defRPr sz="1050" b="0">
                          <a:solidFill>
                            <a:srgbClr val="000000"/>
                          </a:solidFill>
                          <a:latin typeface="Calibri"/>
                        </a:defRPr>
                      </a:pPr>
                      <a:r>
                        <a:t>Kegagalan satu produsen/agen tidak menghentikan order</a:t>
                      </a:r>
                    </a:p>
                  </a:txBody>
                  <a:tcPr marL="54864" marR="54864" marT="18288" marB="18288">
                    <a:solidFill>
                      <a:srgbClr val="FFFFFF"/>
                    </a:solidFill>
                  </a:tcPr>
                </a:tc>
              </a:tr>
              <a:tr h="408940">
                <a:tc>
                  <a:txBody>
                    <a:bodyPr/>
                    <a:lstStyle/>
                    <a:p>
                      <a:pPr>
                        <a:defRPr sz="1050" b="0">
                          <a:solidFill>
                            <a:srgbClr val="000000"/>
                          </a:solidFill>
                          <a:latin typeface="Calibri"/>
                        </a:defRPr>
                      </a:pPr>
                      <a:r>
                        <a:t>Optimalitas global</a:t>
                      </a:r>
                    </a:p>
                  </a:txBody>
                  <a:tcPr marL="54864" marR="54864" marT="18288" marB="18288">
                    <a:solidFill>
                      <a:srgbClr val="FFFFFF"/>
                    </a:solidFill>
                  </a:tcPr>
                </a:tc>
                <a:tc>
                  <a:txBody>
                    <a:bodyPr/>
                    <a:lstStyle/>
                    <a:p>
                      <a:pPr>
                        <a:defRPr sz="1050" b="0">
                          <a:solidFill>
                            <a:srgbClr val="000000"/>
                          </a:solidFill>
                          <a:latin typeface="Calibri"/>
                        </a:defRPr>
                      </a:pPr>
                      <a:r>
                        <a:t>Tinggi bila data akurat</a:t>
                      </a:r>
                    </a:p>
                  </a:txBody>
                  <a:tcPr marL="54864" marR="54864" marT="18288" marB="18288">
                    <a:solidFill>
                      <a:srgbClr val="FFFFFF"/>
                    </a:solidFill>
                  </a:tcPr>
                </a:tc>
                <a:tc>
                  <a:txBody>
                    <a:bodyPr/>
                    <a:lstStyle/>
                    <a:p>
                      <a:pPr>
                        <a:defRPr sz="1050" b="0">
                          <a:solidFill>
                            <a:srgbClr val="000000"/>
                          </a:solidFill>
                          <a:latin typeface="Calibri"/>
                        </a:defRPr>
                      </a:pPr>
                      <a:r>
                        <a:t>Lokal</a:t>
                      </a:r>
                    </a:p>
                  </a:txBody>
                  <a:tcPr marL="54864" marR="54864" marT="18288" marB="18288">
                    <a:solidFill>
                      <a:srgbClr val="FFFFFF"/>
                    </a:solidFill>
                  </a:tcPr>
                </a:tc>
                <a:tc>
                  <a:txBody>
                    <a:bodyPr/>
                    <a:lstStyle/>
                    <a:p>
                      <a:pPr>
                        <a:defRPr sz="1050" b="0">
                          <a:solidFill>
                            <a:srgbClr val="000000"/>
                          </a:solidFill>
                          <a:latin typeface="Calibri"/>
                        </a:defRPr>
                      </a:pPr>
                      <a:r>
                        <a:t>Cukup tinggi</a:t>
                      </a:r>
                    </a:p>
                  </a:txBody>
                  <a:tcPr marL="54864" marR="54864" marT="18288" marB="18288">
                    <a:solidFill>
                      <a:srgbClr val="FFFFFF"/>
                    </a:solidFill>
                  </a:tcPr>
                </a:tc>
                <a:tc>
                  <a:txBody>
                    <a:bodyPr/>
                    <a:lstStyle/>
                    <a:p>
                      <a:pPr>
                        <a:defRPr sz="1050" b="0">
                          <a:solidFill>
                            <a:srgbClr val="000000"/>
                          </a:solidFill>
                          <a:latin typeface="Calibri"/>
                        </a:defRPr>
                      </a:pPr>
                      <a:r>
                        <a:t>Aturan skor bersama + governance; data segar dari bid</a:t>
                      </a:r>
                    </a:p>
                  </a:txBody>
                  <a:tcPr marL="54864" marR="54864" marT="18288" marB="18288">
                    <a:solidFill>
                      <a:srgbClr val="FFFFFF"/>
                    </a:solidFill>
                  </a:tcPr>
                </a:tc>
              </a:tr>
              <a:tr h="408940">
                <a:tc>
                  <a:txBody>
                    <a:bodyPr/>
                    <a:lstStyle/>
                    <a:p>
                      <a:pPr>
                        <a:defRPr sz="1050" b="0">
                          <a:solidFill>
                            <a:srgbClr val="000000"/>
                          </a:solidFill>
                          <a:latin typeface="Calibri"/>
                        </a:defRPr>
                      </a:pPr>
                      <a:r>
                        <a:t>Biaya koordinasi</a:t>
                      </a:r>
                    </a:p>
                  </a:txBody>
                  <a:tcPr marL="54864" marR="54864" marT="18288" marB="18288">
                    <a:solidFill>
                      <a:srgbClr val="FFFFFF"/>
                    </a:solidFill>
                  </a:tcPr>
                </a:tc>
                <a:tc>
                  <a:txBody>
                    <a:bodyPr/>
                    <a:lstStyle/>
                    <a:p>
                      <a:pPr>
                        <a:defRPr sz="1050" b="0">
                          <a:solidFill>
                            <a:srgbClr val="000000"/>
                          </a:solidFill>
                          <a:latin typeface="Calibri"/>
                        </a:defRPr>
                      </a:pPr>
                      <a:r>
                        <a:t>Fan-in O(n) pada koordinator</a:t>
                      </a:r>
                    </a:p>
                  </a:txBody>
                  <a:tcPr marL="54864" marR="54864" marT="18288" marB="18288">
                    <a:solidFill>
                      <a:srgbClr val="FFFFFF"/>
                    </a:solidFill>
                  </a:tcPr>
                </a:tc>
                <a:tc>
                  <a:txBody>
                    <a:bodyPr/>
                    <a:lstStyle/>
                    <a:p>
                      <a:pPr>
                        <a:defRPr sz="1050" b="0">
                          <a:solidFill>
                            <a:srgbClr val="000000"/>
                          </a:solidFill>
                          <a:latin typeface="Calibri"/>
                        </a:defRPr>
                      </a:pPr>
                      <a:r>
                        <a:t>Tinggi (banyak pesan)</a:t>
                      </a:r>
                    </a:p>
                  </a:txBody>
                  <a:tcPr marL="54864" marR="54864" marT="18288" marB="18288">
                    <a:solidFill>
                      <a:srgbClr val="FFFFFF"/>
                    </a:solidFill>
                  </a:tcPr>
                </a:tc>
                <a:tc>
                  <a:txBody>
                    <a:bodyPr/>
                    <a:lstStyle/>
                    <a:p>
                      <a:pPr>
                        <a:defRPr sz="1050" b="0">
                          <a:solidFill>
                            <a:srgbClr val="000000"/>
                          </a:solidFill>
                          <a:latin typeface="Calibri"/>
                        </a:defRPr>
                      </a:pPr>
                      <a:r>
                        <a:t>Sedang</a:t>
                      </a:r>
                    </a:p>
                  </a:txBody>
                  <a:tcPr marL="54864" marR="54864" marT="18288" marB="18288">
                    <a:solidFill>
                      <a:srgbClr val="FFFFFF"/>
                    </a:solidFill>
                  </a:tcPr>
                </a:tc>
                <a:tc>
                  <a:txBody>
                    <a:bodyPr/>
                    <a:lstStyle/>
                    <a:p>
                      <a:pPr>
                        <a:defRPr sz="1050" b="0">
                          <a:solidFill>
                            <a:srgbClr val="000000"/>
                          </a:solidFill>
                          <a:latin typeface="Calibri"/>
                        </a:defRPr>
                      </a:pPr>
                      <a:r>
                        <a:t>Lebih banyak pesan per order pada pemasokan</a:t>
                      </a:r>
                    </a:p>
                  </a:txBody>
                  <a:tcPr marL="54864" marR="54864" marT="18288" marB="18288">
                    <a:solidFill>
                      <a:srgbClr val="FFFFFF"/>
                    </a:solidFill>
                  </a:tcPr>
                </a:tc>
              </a:tr>
            </a:tbl>
          </a:graphicData>
        </a:graphic>
      </p:graphicFrame>
      <p:sp>
        <p:nvSpPr>
          <p:cNvPr id="7" name="TextBox 6"/>
          <p:cNvSpPr txBox="1"/>
          <p:nvPr/>
        </p:nvSpPr>
        <p:spPr>
          <a:xfrm>
            <a:off x="411480" y="3246120"/>
            <a:ext cx="11338560" cy="3108960"/>
          </a:xfrm>
          <a:prstGeom prst="rect">
            <a:avLst/>
          </a:prstGeom>
          <a:noFill/>
        </p:spPr>
        <p:txBody>
          <a:bodyPr wrap="square">
            <a:spAutoFit/>
          </a:bodyPr>
          <a:lstStyle/>
          <a:p>
            <a:pPr>
              <a:spcAft>
                <a:spcPts val="500"/>
              </a:spcAft>
              <a:defRPr sz="1050" b="0">
                <a:solidFill>
                  <a:srgbClr val="000000"/>
                </a:solidFill>
                <a:latin typeface="Calibri"/>
              </a:defRPr>
            </a:pPr>
            <a:r>
              <a:t>• Batas organisasi dan kepemilikan: Produsen arang, carrier, bea cukai, dan pembeli adalah pihak otonom; planner pusat tidak dapat memerintah mereka, hanya menegosiasikan (minta tawaran, tawaran, terima/tolak). Jaringan KrakaCoal memang berbasis kepercayaan lintas pemilik.</a:t>
            </a:r>
          </a:p>
          <a:p>
            <a:pPr>
              <a:spcAft>
                <a:spcPts val="500"/>
              </a:spcAft>
              <a:defRPr sz="1050" b="0">
                <a:solidFill>
                  <a:srgbClr val="000000"/>
                </a:solidFill>
                <a:latin typeface="Calibri"/>
              </a:defRPr>
            </a:pPr>
            <a:r>
              <a:t>• Informasi lokal yang segar: Kapasitas nyata produsen berubah (pembeli lokal, cuaca, bahan baku). Bid multi-agen memakai kapasitas nyata; data pendaftaran pusat cepat usang. Dengan variasi ketersediaan 45% (default), multi-agen menaikkan margin $120 per order; bila kapasitas stabil (variasi 0%) selisihnya $65.</a:t>
            </a:r>
          </a:p>
          <a:p>
            <a:pPr>
              <a:spcAft>
                <a:spcPts val="500"/>
              </a:spcAft>
              <a:defRPr sz="1050" b="0">
                <a:solidFill>
                  <a:srgbClr val="000000"/>
                </a:solidFill>
                <a:latin typeface="Calibri"/>
              </a:defRPr>
            </a:pPr>
            <a:r>
              <a:t>• Ketahanan terhadap single point of failure: Gangguan koordinator pusat 2-5 hari pada 50% skenario mengubah OTIF agen tunggal dari 45,4% ke 44,7% dan multi-agen dari 51,1% ke 52,3%: perbedaannya kecil karena jadwal memiliki cadangan waktu; ketahanan bukan alasan utama pada kasus ini, tetapi menjadi relevan bila jadwal ketat.</a:t>
            </a:r>
          </a:p>
          <a:p>
            <a:pPr>
              <a:spcAft>
                <a:spcPts val="500"/>
              </a:spcAft>
              <a:defRPr sz="1050" b="0">
                <a:solidFill>
                  <a:srgbClr val="000000"/>
                </a:solidFill>
                <a:latin typeface="Calibri"/>
              </a:defRPr>
            </a:pPr>
            <a:r>
              <a:t>• Beban node puncak dan skala: Pada 600 produsen, koordinator menerima 1348 pesan pada hari tersibuk dibanding 226 pada agen tersibuk multi-agen; total pesan justru lebih banyak pada multi-agen untuk pemasokan (60.681 vs 41.621).</a:t>
            </a:r>
          </a:p>
          <a:p>
            <a:pPr>
              <a:spcAft>
                <a:spcPts val="500"/>
              </a:spcAft>
              <a:defRPr sz="1050" b="0">
                <a:solidFill>
                  <a:srgbClr val="000000"/>
                </a:solidFill>
                <a:latin typeface="Calibri"/>
              </a:defRPr>
            </a:pPr>
            <a:r>
              <a:t>• Modularitas: Tiap peran (produsen, gudang, carrier, pemasaran) adalah agen terpisah sehingga dapat diganti atau ditambah tanpa mengubah agen lain; misalnya Marketing Agent ditambahkan tanpa mengubah alur pemasokan.</a:t>
            </a:r>
          </a:p>
          <a:p>
            <a:pPr>
              <a:spcAft>
                <a:spcPts val="500"/>
              </a:spcAft>
              <a:defRPr sz="1050" b="0">
                <a:solidFill>
                  <a:srgbClr val="000000"/>
                </a:solidFill>
                <a:latin typeface="Calibri"/>
              </a:defRPr>
            </a:pPr>
            <a:r>
              <a:t>• Catatan penting: keunggulan multi-agen bergantung pada seberapa kedaluwarsa data pusat. Bila kapasitas produsen stabil dan registry akurat, agen tunggal terpusat setara. Rekomendasi: arsitektur hybrid: satu inti kognitif per pabrik/gudang, negosiasi multi-agen pada batas organisasi (produsen, carrier), dan governance sebagai bidang kontrol; untuk 20 produsen yang stabil, agen tunggal + WhatsApp sudah cukup, lalu berpindah ke multi-agen saat pool tumbuh ke ratusan produsen dengan kapasitas berubah-ubah.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5.7 Bukti: nilai informasi lokal yang segar</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30</a:t>
            </a:r>
          </a:p>
        </p:txBody>
      </p:sp>
      <p:pic>
        <p:nvPicPr>
          <p:cNvPr id="6" name="Picture 5" descr="fig_staleness.png"/>
          <p:cNvPicPr>
            <a:picLocks noChangeAspect="1"/>
          </p:cNvPicPr>
          <p:nvPr/>
        </p:nvPicPr>
        <p:blipFill>
          <a:blip r:embed="rId2"/>
          <a:stretch>
            <a:fillRect/>
          </a:stretch>
        </p:blipFill>
        <p:spPr>
          <a:xfrm>
            <a:off x="651247" y="960120"/>
            <a:ext cx="10859025" cy="3108960"/>
          </a:xfrm>
          <a:prstGeom prst="rect">
            <a:avLst/>
          </a:prstGeom>
        </p:spPr>
      </p:pic>
      <p:graphicFrame>
        <p:nvGraphicFramePr>
          <p:cNvPr id="7" name="Table 6"/>
          <p:cNvGraphicFramePr>
            <a:graphicFrameLocks noGrp="1"/>
          </p:cNvGraphicFramePr>
          <p:nvPr/>
        </p:nvGraphicFramePr>
        <p:xfrm>
          <a:off x="411480" y="4206240"/>
          <a:ext cx="11338560" cy="1493520"/>
        </p:xfrm>
        <a:graphic>
          <a:graphicData uri="http://schemas.openxmlformats.org/drawingml/2006/table">
            <a:tbl>
              <a:tblPr firstRow="1" bandRow="1">
                <a:tableStyleId>{5C22544A-7EE6-4342-B048-85BDC9FD1C3A}</a:tableStyleId>
              </a:tblPr>
              <a:tblGrid>
                <a:gridCol w="3291840"/>
                <a:gridCol w="4206240"/>
                <a:gridCol w="3840480"/>
              </a:tblGrid>
              <a:tr h="248920">
                <a:tc>
                  <a:txBody>
                    <a:bodyPr/>
                    <a:lstStyle/>
                    <a:p>
                      <a:pPr>
                        <a:defRPr sz="1050" b="1">
                          <a:solidFill>
                            <a:srgbClr val="000000"/>
                          </a:solidFill>
                          <a:latin typeface="Calibri"/>
                        </a:defRPr>
                      </a:pPr>
                      <a:r>
                        <a:t>Variasi ketersediaan (1 - u_min)</a:t>
                      </a:r>
                    </a:p>
                  </a:txBody>
                  <a:tcPr marL="54864" marR="54864" marT="18288" marB="18288">
                    <a:solidFill>
                      <a:srgbClr val="E5E7EB"/>
                    </a:solidFill>
                  </a:tcPr>
                </a:tc>
                <a:tc>
                  <a:txBody>
                    <a:bodyPr/>
                    <a:lstStyle/>
                    <a:p>
                      <a:pPr>
                        <a:defRPr sz="1050" b="1">
                          <a:solidFill>
                            <a:srgbClr val="000000"/>
                          </a:solidFill>
                          <a:latin typeface="Calibri"/>
                        </a:defRPr>
                      </a:pPr>
                      <a:r>
                        <a:t>Margin/order (agen tunggal / multi-agen)</a:t>
                      </a:r>
                    </a:p>
                  </a:txBody>
                  <a:tcPr marL="54864" marR="54864" marT="18288" marB="18288">
                    <a:solidFill>
                      <a:srgbClr val="E5E7EB"/>
                    </a:solidFill>
                  </a:tcPr>
                </a:tc>
                <a:tc>
                  <a:txBody>
                    <a:bodyPr/>
                    <a:lstStyle/>
                    <a:p>
                      <a:pPr>
                        <a:defRPr sz="1050" b="1">
                          <a:solidFill>
                            <a:srgbClr val="000000"/>
                          </a:solidFill>
                          <a:latin typeface="Calibri"/>
                        </a:defRPr>
                      </a:pPr>
                      <a:r>
                        <a:t>OTIF (agen tunggal / multi-agen)</a:t>
                      </a:r>
                    </a:p>
                  </a:txBody>
                  <a:tcPr marL="54864" marR="54864" marT="18288" marB="18288">
                    <a:solidFill>
                      <a:srgbClr val="E5E7EB"/>
                    </a:solidFill>
                  </a:tcPr>
                </a:tc>
              </a:tr>
              <a:tr h="248920">
                <a:tc>
                  <a:txBody>
                    <a:bodyPr/>
                    <a:lstStyle/>
                    <a:p>
                      <a:pPr>
                        <a:defRPr sz="1050" b="0">
                          <a:solidFill>
                            <a:srgbClr val="000000"/>
                          </a:solidFill>
                          <a:latin typeface="Calibri"/>
                        </a:defRPr>
                      </a:pPr>
                      <a:r>
                        <a:t>0%</a:t>
                      </a:r>
                    </a:p>
                  </a:txBody>
                  <a:tcPr marL="54864" marR="54864" marT="18288" marB="18288">
                    <a:solidFill>
                      <a:srgbClr val="FFFFFF"/>
                    </a:solidFill>
                  </a:tcPr>
                </a:tc>
                <a:tc>
                  <a:txBody>
                    <a:bodyPr/>
                    <a:lstStyle/>
                    <a:p>
                      <a:pPr>
                        <a:defRPr sz="1050" b="0">
                          <a:solidFill>
                            <a:srgbClr val="000000"/>
                          </a:solidFill>
                          <a:latin typeface="Calibri"/>
                        </a:defRPr>
                      </a:pPr>
                      <a:r>
                        <a:t>7.081 / 7.146</a:t>
                      </a:r>
                    </a:p>
                  </a:txBody>
                  <a:tcPr marL="54864" marR="54864" marT="18288" marB="18288">
                    <a:solidFill>
                      <a:srgbClr val="FFFFFF"/>
                    </a:solidFill>
                  </a:tcPr>
                </a:tc>
                <a:tc>
                  <a:txBody>
                    <a:bodyPr/>
                    <a:lstStyle/>
                    <a:p>
                      <a:pPr>
                        <a:defRPr sz="1050" b="0">
                          <a:solidFill>
                            <a:srgbClr val="000000"/>
                          </a:solidFill>
                          <a:latin typeface="Calibri"/>
                        </a:defRPr>
                      </a:pPr>
                      <a:r>
                        <a:t>47% / 52%</a:t>
                      </a:r>
                    </a:p>
                  </a:txBody>
                  <a:tcPr marL="54864" marR="54864" marT="18288" marB="18288">
                    <a:solidFill>
                      <a:srgbClr val="FFFFFF"/>
                    </a:solidFill>
                  </a:tcPr>
                </a:tc>
              </a:tr>
              <a:tr h="248920">
                <a:tc>
                  <a:txBody>
                    <a:bodyPr/>
                    <a:lstStyle/>
                    <a:p>
                      <a:pPr>
                        <a:defRPr sz="1050" b="0">
                          <a:solidFill>
                            <a:srgbClr val="000000"/>
                          </a:solidFill>
                          <a:latin typeface="Calibri"/>
                        </a:defRPr>
                      </a:pPr>
                      <a:r>
                        <a:t>15%</a:t>
                      </a:r>
                    </a:p>
                  </a:txBody>
                  <a:tcPr marL="54864" marR="54864" marT="18288" marB="18288">
                    <a:solidFill>
                      <a:srgbClr val="FFFFFF"/>
                    </a:solidFill>
                  </a:tcPr>
                </a:tc>
                <a:tc>
                  <a:txBody>
                    <a:bodyPr/>
                    <a:lstStyle/>
                    <a:p>
                      <a:pPr>
                        <a:defRPr sz="1050" b="0">
                          <a:solidFill>
                            <a:srgbClr val="000000"/>
                          </a:solidFill>
                          <a:latin typeface="Calibri"/>
                        </a:defRPr>
                      </a:pPr>
                      <a:r>
                        <a:t>7.068 / 7.149</a:t>
                      </a:r>
                    </a:p>
                  </a:txBody>
                  <a:tcPr marL="54864" marR="54864" marT="18288" marB="18288">
                    <a:solidFill>
                      <a:srgbClr val="FFFFFF"/>
                    </a:solidFill>
                  </a:tcPr>
                </a:tc>
                <a:tc>
                  <a:txBody>
                    <a:bodyPr/>
                    <a:lstStyle/>
                    <a:p>
                      <a:pPr>
                        <a:defRPr sz="1050" b="0">
                          <a:solidFill>
                            <a:srgbClr val="000000"/>
                          </a:solidFill>
                          <a:latin typeface="Calibri"/>
                        </a:defRPr>
                      </a:pPr>
                      <a:r>
                        <a:t>46% / 52%</a:t>
                      </a:r>
                    </a:p>
                  </a:txBody>
                  <a:tcPr marL="54864" marR="54864" marT="18288" marB="18288">
                    <a:solidFill>
                      <a:srgbClr val="FFFFFF"/>
                    </a:solidFill>
                  </a:tcPr>
                </a:tc>
              </a:tr>
              <a:tr h="248920">
                <a:tc>
                  <a:txBody>
                    <a:bodyPr/>
                    <a:lstStyle/>
                    <a:p>
                      <a:pPr>
                        <a:defRPr sz="1050" b="0">
                          <a:solidFill>
                            <a:srgbClr val="000000"/>
                          </a:solidFill>
                          <a:latin typeface="Calibri"/>
                        </a:defRPr>
                      </a:pPr>
                      <a:r>
                        <a:t>30%</a:t>
                      </a:r>
                    </a:p>
                  </a:txBody>
                  <a:tcPr marL="54864" marR="54864" marT="18288" marB="18288">
                    <a:solidFill>
                      <a:srgbClr val="FFFFFF"/>
                    </a:solidFill>
                  </a:tcPr>
                </a:tc>
                <a:tc>
                  <a:txBody>
                    <a:bodyPr/>
                    <a:lstStyle/>
                    <a:p>
                      <a:pPr>
                        <a:defRPr sz="1050" b="0">
                          <a:solidFill>
                            <a:srgbClr val="000000"/>
                          </a:solidFill>
                          <a:latin typeface="Calibri"/>
                        </a:defRPr>
                      </a:pPr>
                      <a:r>
                        <a:t>7.017 / 7.126</a:t>
                      </a:r>
                    </a:p>
                  </a:txBody>
                  <a:tcPr marL="54864" marR="54864" marT="18288" marB="18288">
                    <a:solidFill>
                      <a:srgbClr val="FFFFFF"/>
                    </a:solidFill>
                  </a:tcPr>
                </a:tc>
                <a:tc>
                  <a:txBody>
                    <a:bodyPr/>
                    <a:lstStyle/>
                    <a:p>
                      <a:pPr>
                        <a:defRPr sz="1050" b="0">
                          <a:solidFill>
                            <a:srgbClr val="000000"/>
                          </a:solidFill>
                          <a:latin typeface="Calibri"/>
                        </a:defRPr>
                      </a:pPr>
                      <a:r>
                        <a:t>47% / 51%</a:t>
                      </a:r>
                    </a:p>
                  </a:txBody>
                  <a:tcPr marL="54864" marR="54864" marT="18288" marB="18288">
                    <a:solidFill>
                      <a:srgbClr val="FFFFFF"/>
                    </a:solidFill>
                  </a:tcPr>
                </a:tc>
              </a:tr>
              <a:tr h="248920">
                <a:tc>
                  <a:txBody>
                    <a:bodyPr/>
                    <a:lstStyle/>
                    <a:p>
                      <a:pPr>
                        <a:defRPr sz="1050" b="0">
                          <a:solidFill>
                            <a:srgbClr val="000000"/>
                          </a:solidFill>
                          <a:latin typeface="Calibri"/>
                        </a:defRPr>
                      </a:pPr>
                      <a:r>
                        <a:t>45%</a:t>
                      </a:r>
                    </a:p>
                  </a:txBody>
                  <a:tcPr marL="54864" marR="54864" marT="18288" marB="18288">
                    <a:solidFill>
                      <a:srgbClr val="FFFFFF"/>
                    </a:solidFill>
                  </a:tcPr>
                </a:tc>
                <a:tc>
                  <a:txBody>
                    <a:bodyPr/>
                    <a:lstStyle/>
                    <a:p>
                      <a:pPr>
                        <a:defRPr sz="1050" b="0">
                          <a:solidFill>
                            <a:srgbClr val="000000"/>
                          </a:solidFill>
                          <a:latin typeface="Calibri"/>
                        </a:defRPr>
                      </a:pPr>
                      <a:r>
                        <a:t>6.968 / 7.088</a:t>
                      </a:r>
                    </a:p>
                  </a:txBody>
                  <a:tcPr marL="54864" marR="54864" marT="18288" marB="18288">
                    <a:solidFill>
                      <a:srgbClr val="FFFFFF"/>
                    </a:solidFill>
                  </a:tcPr>
                </a:tc>
                <a:tc>
                  <a:txBody>
                    <a:bodyPr/>
                    <a:lstStyle/>
                    <a:p>
                      <a:pPr>
                        <a:defRPr sz="1050" b="0">
                          <a:solidFill>
                            <a:srgbClr val="000000"/>
                          </a:solidFill>
                          <a:latin typeface="Calibri"/>
                        </a:defRPr>
                      </a:pPr>
                      <a:r>
                        <a:t>45% / 51%</a:t>
                      </a:r>
                    </a:p>
                  </a:txBody>
                  <a:tcPr marL="54864" marR="54864" marT="18288" marB="18288">
                    <a:solidFill>
                      <a:srgbClr val="FFFFFF"/>
                    </a:solidFill>
                  </a:tcPr>
                </a:tc>
              </a:tr>
              <a:tr h="248920">
                <a:tc>
                  <a:txBody>
                    <a:bodyPr/>
                    <a:lstStyle/>
                    <a:p>
                      <a:pPr>
                        <a:defRPr sz="1050" b="0">
                          <a:solidFill>
                            <a:srgbClr val="000000"/>
                          </a:solidFill>
                          <a:latin typeface="Calibri"/>
                        </a:defRPr>
                      </a:pPr>
                      <a:r>
                        <a:t>60%</a:t>
                      </a:r>
                    </a:p>
                  </a:txBody>
                  <a:tcPr marL="54864" marR="54864" marT="18288" marB="18288">
                    <a:solidFill>
                      <a:srgbClr val="FFFFFF"/>
                    </a:solidFill>
                  </a:tcPr>
                </a:tc>
                <a:tc>
                  <a:txBody>
                    <a:bodyPr/>
                    <a:lstStyle/>
                    <a:p>
                      <a:pPr>
                        <a:defRPr sz="1050" b="0">
                          <a:solidFill>
                            <a:srgbClr val="000000"/>
                          </a:solidFill>
                          <a:latin typeface="Calibri"/>
                        </a:defRPr>
                      </a:pPr>
                      <a:r>
                        <a:t>6.809 / 7.009</a:t>
                      </a:r>
                    </a:p>
                  </a:txBody>
                  <a:tcPr marL="54864" marR="54864" marT="18288" marB="18288">
                    <a:solidFill>
                      <a:srgbClr val="FFFFFF"/>
                    </a:solidFill>
                  </a:tcPr>
                </a:tc>
                <a:tc>
                  <a:txBody>
                    <a:bodyPr/>
                    <a:lstStyle/>
                    <a:p>
                      <a:pPr>
                        <a:defRPr sz="1050" b="0">
                          <a:solidFill>
                            <a:srgbClr val="000000"/>
                          </a:solidFill>
                          <a:latin typeface="Calibri"/>
                        </a:defRPr>
                      </a:pPr>
                      <a:r>
                        <a:t>42% / 49%</a:t>
                      </a:r>
                    </a:p>
                  </a:txBody>
                  <a:tcPr marL="54864" marR="54864" marT="18288" marB="18288">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5.7 Bukti: ketahanan dan skala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31</a:t>
            </a:r>
          </a:p>
        </p:txBody>
      </p:sp>
      <p:pic>
        <p:nvPicPr>
          <p:cNvPr id="6" name="Picture 5" descr="fig_robust.png"/>
          <p:cNvPicPr>
            <a:picLocks noChangeAspect="1"/>
          </p:cNvPicPr>
          <p:nvPr/>
        </p:nvPicPr>
        <p:blipFill>
          <a:blip r:embed="rId2"/>
          <a:stretch>
            <a:fillRect/>
          </a:stretch>
        </p:blipFill>
        <p:spPr>
          <a:xfrm>
            <a:off x="274320" y="2592257"/>
            <a:ext cx="5852160" cy="2039245"/>
          </a:xfrm>
          <a:prstGeom prst="rect">
            <a:avLst/>
          </a:prstGeom>
        </p:spPr>
      </p:pic>
      <p:pic>
        <p:nvPicPr>
          <p:cNvPr id="7" name="Picture 6" descr="fig_scale.png"/>
          <p:cNvPicPr>
            <a:picLocks noChangeAspect="1"/>
          </p:cNvPicPr>
          <p:nvPr/>
        </p:nvPicPr>
        <p:blipFill>
          <a:blip r:embed="rId3"/>
          <a:stretch>
            <a:fillRect/>
          </a:stretch>
        </p:blipFill>
        <p:spPr>
          <a:xfrm>
            <a:off x="6126480" y="2763645"/>
            <a:ext cx="5852160" cy="1696468"/>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6. Sumber data: situs KrakaCoal dan asumsi</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32</a:t>
            </a:r>
          </a:p>
        </p:txBody>
      </p:sp>
      <p:graphicFrame>
        <p:nvGraphicFramePr>
          <p:cNvPr id="6" name="Table 5"/>
          <p:cNvGraphicFramePr>
            <a:graphicFrameLocks noGrp="1"/>
          </p:cNvGraphicFramePr>
          <p:nvPr/>
        </p:nvGraphicFramePr>
        <p:xfrm>
          <a:off x="320040" y="960120"/>
          <a:ext cx="11521440" cy="3581397"/>
        </p:xfrm>
        <a:graphic>
          <a:graphicData uri="http://schemas.openxmlformats.org/drawingml/2006/table">
            <a:tbl>
              <a:tblPr firstRow="1" bandRow="1">
                <a:tableStyleId>{5C22544A-7EE6-4342-B048-85BDC9FD1C3A}</a:tableStyleId>
              </a:tblPr>
              <a:tblGrid>
                <a:gridCol w="3108960"/>
                <a:gridCol w="4206240"/>
                <a:gridCol w="4206240"/>
              </a:tblGrid>
              <a:tr h="256540">
                <a:tc>
                  <a:txBody>
                    <a:bodyPr/>
                    <a:lstStyle/>
                    <a:p>
                      <a:pPr>
                        <a:defRPr sz="1100" b="1">
                          <a:solidFill>
                            <a:srgbClr val="000000"/>
                          </a:solidFill>
                          <a:latin typeface="Calibri"/>
                        </a:defRPr>
                      </a:pPr>
                      <a:r>
                        <a:t>Parameter</a:t>
                      </a:r>
                    </a:p>
                  </a:txBody>
                  <a:tcPr marL="54864" marR="54864" marT="18288" marB="18288">
                    <a:solidFill>
                      <a:srgbClr val="E5E7EB"/>
                    </a:solidFill>
                  </a:tcPr>
                </a:tc>
                <a:tc>
                  <a:txBody>
                    <a:bodyPr/>
                    <a:lstStyle/>
                    <a:p>
                      <a:pPr>
                        <a:defRPr sz="1100" b="1">
                          <a:solidFill>
                            <a:srgbClr val="000000"/>
                          </a:solidFill>
                          <a:latin typeface="Calibri"/>
                        </a:defRPr>
                      </a:pPr>
                      <a:r>
                        <a:t>Nilai pada model</a:t>
                      </a:r>
                    </a:p>
                  </a:txBody>
                  <a:tcPr marL="54864" marR="54864" marT="18288" marB="18288">
                    <a:solidFill>
                      <a:srgbClr val="E5E7EB"/>
                    </a:solidFill>
                  </a:tcPr>
                </a:tc>
                <a:tc>
                  <a:txBody>
                    <a:bodyPr/>
                    <a:lstStyle/>
                    <a:p>
                      <a:pPr>
                        <a:defRPr sz="1100" b="1">
                          <a:solidFill>
                            <a:srgbClr val="000000"/>
                          </a:solidFill>
                          <a:latin typeface="Calibri"/>
                        </a:defRPr>
                      </a:pPr>
                      <a:r>
                        <a:t>Sumber</a:t>
                      </a:r>
                    </a:p>
                  </a:txBody>
                  <a:tcPr marL="54864" marR="54864" marT="18288" marB="18288">
                    <a:solidFill>
                      <a:srgbClr val="E5E7EB"/>
                    </a:solidFill>
                  </a:tcPr>
                </a:tc>
              </a:tr>
              <a:tr h="424179">
                <a:tc>
                  <a:txBody>
                    <a:bodyPr/>
                    <a:lstStyle/>
                    <a:p>
                      <a:pPr>
                        <a:defRPr sz="1100" b="0">
                          <a:solidFill>
                            <a:srgbClr val="000000"/>
                          </a:solidFill>
                          <a:latin typeface="Calibri"/>
                        </a:defRPr>
                      </a:pPr>
                      <a:r>
                        <a:t>Produsen di pool</a:t>
                      </a:r>
                    </a:p>
                  </a:txBody>
                  <a:tcPr marL="54864" marR="54864" marT="18288" marB="18288">
                    <a:solidFill>
                      <a:srgbClr val="FFFFFF"/>
                    </a:solidFill>
                  </a:tcPr>
                </a:tc>
                <a:tc>
                  <a:txBody>
                    <a:bodyPr/>
                    <a:lstStyle/>
                    <a:p>
                      <a:pPr>
                        <a:defRPr sz="1100" b="0">
                          <a:solidFill>
                            <a:srgbClr val="000000"/>
                          </a:solidFill>
                          <a:latin typeface="Calibri"/>
                        </a:defRPr>
                      </a:pPr>
                      <a:r>
                        <a:t>30</a:t>
                      </a:r>
                    </a:p>
                  </a:txBody>
                  <a:tcPr marL="54864" marR="54864" marT="18288" marB="18288">
                    <a:solidFill>
                      <a:srgbClr val="FFFFFF"/>
                    </a:solidFill>
                  </a:tcPr>
                </a:tc>
                <a:tc>
                  <a:txBody>
                    <a:bodyPr/>
                    <a:lstStyle/>
                    <a:p>
                      <a:pPr>
                        <a:defRPr sz="1100" b="0">
                          <a:solidFill>
                            <a:srgbClr val="000000"/>
                          </a:solidFill>
                          <a:latin typeface="Calibri"/>
                        </a:defRPr>
                      </a:pPr>
                      <a:r>
                        <a:t>Setara 300+ ton per bulan (SOURCE: situs KrakaCoal); jumlah produsen ASUMSI</a:t>
                      </a:r>
                    </a:p>
                  </a:txBody>
                  <a:tcPr marL="54864" marR="54864" marT="18288" marB="18288">
                    <a:solidFill>
                      <a:srgbClr val="FFFFFF"/>
                    </a:solidFill>
                  </a:tcPr>
                </a:tc>
              </a:tr>
              <a:tr h="256540">
                <a:tc>
                  <a:txBody>
                    <a:bodyPr/>
                    <a:lstStyle/>
                    <a:p>
                      <a:pPr>
                        <a:defRPr sz="1100" b="0">
                          <a:solidFill>
                            <a:srgbClr val="000000"/>
                          </a:solidFill>
                          <a:latin typeface="Calibri"/>
                        </a:defRPr>
                      </a:pPr>
                      <a:r>
                        <a:t>Kapasitas produsen (kg/hari)</a:t>
                      </a:r>
                    </a:p>
                  </a:txBody>
                  <a:tcPr marL="54864" marR="54864" marT="18288" marB="18288">
                    <a:solidFill>
                      <a:srgbClr val="FFFFFF"/>
                    </a:solidFill>
                  </a:tcPr>
                </a:tc>
                <a:tc>
                  <a:txBody>
                    <a:bodyPr/>
                    <a:lstStyle/>
                    <a:p>
                      <a:pPr>
                        <a:defRPr sz="1100" b="0">
                          <a:solidFill>
                            <a:srgbClr val="000000"/>
                          </a:solidFill>
                          <a:latin typeface="Calibri"/>
                        </a:defRPr>
                      </a:pPr>
                      <a:r>
                        <a:t>rata-rata 350 (rentang 150-600)</a:t>
                      </a:r>
                    </a:p>
                  </a:txBody>
                  <a:tcPr marL="54864" marR="54864" marT="18288" marB="18288">
                    <a:solidFill>
                      <a:srgbClr val="FFFFFF"/>
                    </a:solidFill>
                  </a:tcPr>
                </a:tc>
                <a:tc>
                  <a:txBody>
                    <a:bodyPr/>
                    <a:lstStyle/>
                    <a:p>
                      <a:pPr>
                        <a:defRPr sz="1100" b="0">
                          <a:solidFill>
                            <a:srgbClr val="000000"/>
                          </a:solidFill>
                          <a:latin typeface="Calibri"/>
                        </a:defRPr>
                      </a:pPr>
                      <a:r>
                        <a:t>ASUMSI, dikalibrasi agar 300+ ton per bulan tercapai</a:t>
                      </a:r>
                    </a:p>
                  </a:txBody>
                  <a:tcPr marL="54864" marR="54864" marT="18288" marB="18288">
                    <a:solidFill>
                      <a:srgbClr val="FFFFFF"/>
                    </a:solidFill>
                  </a:tcPr>
                </a:tc>
              </a:tr>
              <a:tr h="256540">
                <a:tc>
                  <a:txBody>
                    <a:bodyPr/>
                    <a:lstStyle/>
                    <a:p>
                      <a:pPr>
                        <a:defRPr sz="1100" b="0">
                          <a:solidFill>
                            <a:srgbClr val="000000"/>
                          </a:solidFill>
                          <a:latin typeface="Calibri"/>
                        </a:defRPr>
                      </a:pPr>
                      <a:r>
                        <a:t>Ukuran order (kontainer)</a:t>
                      </a:r>
                    </a:p>
                  </a:txBody>
                  <a:tcPr marL="54864" marR="54864" marT="18288" marB="18288">
                    <a:solidFill>
                      <a:srgbClr val="FFFFFF"/>
                    </a:solidFill>
                  </a:tcPr>
                </a:tc>
                <a:tc>
                  <a:txBody>
                    <a:bodyPr/>
                    <a:lstStyle/>
                    <a:p>
                      <a:pPr>
                        <a:defRPr sz="1100" b="0">
                          <a:solidFill>
                            <a:srgbClr val="000000"/>
                          </a:solidFill>
                          <a:latin typeface="Calibri"/>
                        </a:defRPr>
                      </a:pPr>
                      <a:r>
                        <a:t>12, 15, 17 ton (20 ft) atau 25, 27 ton (40 ft)</a:t>
                      </a:r>
                    </a:p>
                  </a:txBody>
                  <a:tcPr marL="54864" marR="54864" marT="18288" marB="18288">
                    <a:solidFill>
                      <a:srgbClr val="FFFFFF"/>
                    </a:solidFill>
                  </a:tcPr>
                </a:tc>
                <a:tc>
                  <a:txBody>
                    <a:bodyPr/>
                    <a:lstStyle/>
                    <a:p>
                      <a:pPr>
                        <a:defRPr sz="1100" b="0">
                          <a:solidFill>
                            <a:srgbClr val="000000"/>
                          </a:solidFill>
                          <a:latin typeface="Calibri"/>
                        </a:defRPr>
                      </a:pPr>
                      <a:r>
                        <a:t>SOURCE: situs KrakaCoal</a:t>
                      </a:r>
                    </a:p>
                  </a:txBody>
                  <a:tcPr marL="54864" marR="54864" marT="18288" marB="18288">
                    <a:solidFill>
                      <a:srgbClr val="FFFFFF"/>
                    </a:solidFill>
                  </a:tcPr>
                </a:tc>
              </a:tr>
              <a:tr h="256540">
                <a:tc>
                  <a:txBody>
                    <a:bodyPr/>
                    <a:lstStyle/>
                    <a:p>
                      <a:pPr>
                        <a:defRPr sz="1100" b="0">
                          <a:solidFill>
                            <a:srgbClr val="000000"/>
                          </a:solidFill>
                          <a:latin typeface="Calibri"/>
                        </a:defRPr>
                      </a:pPr>
                      <a:r>
                        <a:t>Harga kontrak (USD/kg)</a:t>
                      </a:r>
                    </a:p>
                  </a:txBody>
                  <a:tcPr marL="54864" marR="54864" marT="18288" marB="18288">
                    <a:solidFill>
                      <a:srgbClr val="FFFFFF"/>
                    </a:solidFill>
                  </a:tcPr>
                </a:tc>
                <a:tc>
                  <a:txBody>
                    <a:bodyPr/>
                    <a:lstStyle/>
                    <a:p>
                      <a:pPr>
                        <a:defRPr sz="1100" b="0">
                          <a:solidFill>
                            <a:srgbClr val="000000"/>
                          </a:solidFill>
                          <a:latin typeface="Calibri"/>
                        </a:defRPr>
                      </a:pPr>
                      <a:r>
                        <a:t>1,10 (medium) dan 1,45 (premium)</a:t>
                      </a:r>
                    </a:p>
                  </a:txBody>
                  <a:tcPr marL="54864" marR="54864" marT="18288" marB="18288">
                    <a:solidFill>
                      <a:srgbClr val="FFFFFF"/>
                    </a:solidFill>
                  </a:tcPr>
                </a:tc>
                <a:tc>
                  <a:txBody>
                    <a:bodyPr/>
                    <a:lstStyle/>
                    <a:p>
                      <a:pPr>
                        <a:defRPr sz="1100" b="0">
                          <a:solidFill>
                            <a:srgbClr val="000000"/>
                          </a:solidFill>
                          <a:latin typeface="Calibri"/>
                        </a:defRPr>
                      </a:pPr>
                      <a:r>
                        <a:t>Harga tidak dipublikasikan: ASUMSI</a:t>
                      </a:r>
                    </a:p>
                  </a:txBody>
                  <a:tcPr marL="54864" marR="54864" marT="18288" marB="18288">
                    <a:solidFill>
                      <a:srgbClr val="FFFFFF"/>
                    </a:solidFill>
                  </a:tcPr>
                </a:tc>
              </a:tr>
              <a:tr h="424179">
                <a:tc>
                  <a:txBody>
                    <a:bodyPr/>
                    <a:lstStyle/>
                    <a:p>
                      <a:pPr>
                        <a:defRPr sz="1100" b="0">
                          <a:solidFill>
                            <a:srgbClr val="000000"/>
                          </a:solidFill>
                          <a:latin typeface="Calibri"/>
                        </a:defRPr>
                      </a:pPr>
                      <a:r>
                        <a:t>Karbonisasi/pendinginan + transport ke gudang</a:t>
                      </a:r>
                    </a:p>
                  </a:txBody>
                  <a:tcPr marL="54864" marR="54864" marT="18288" marB="18288">
                    <a:solidFill>
                      <a:srgbClr val="FFFFFF"/>
                    </a:solidFill>
                  </a:tcPr>
                </a:tc>
                <a:tc>
                  <a:txBody>
                    <a:bodyPr/>
                    <a:lstStyle/>
                    <a:p>
                      <a:pPr>
                        <a:defRPr sz="1100" b="0">
                          <a:solidFill>
                            <a:srgbClr val="000000"/>
                          </a:solidFill>
                          <a:latin typeface="Calibri"/>
                        </a:defRPr>
                      </a:pPr>
                      <a:r>
                        <a:t>4 hari</a:t>
                      </a:r>
                    </a:p>
                  </a:txBody>
                  <a:tcPr marL="54864" marR="54864" marT="18288" marB="18288">
                    <a:solidFill>
                      <a:srgbClr val="FFFFFF"/>
                    </a:solidFill>
                  </a:tcPr>
                </a:tc>
                <a:tc>
                  <a:txBody>
                    <a:bodyPr/>
                    <a:lstStyle/>
                    <a:p>
                      <a:pPr>
                        <a:defRPr sz="1100" b="0">
                          <a:solidFill>
                            <a:srgbClr val="000000"/>
                          </a:solidFill>
                          <a:latin typeface="Calibri"/>
                        </a:defRPr>
                      </a:pPr>
                      <a:r>
                        <a:t>ASUMSI</a:t>
                      </a:r>
                    </a:p>
                  </a:txBody>
                  <a:tcPr marL="54864" marR="54864" marT="18288" marB="18288">
                    <a:solidFill>
                      <a:srgbClr val="FFFFFF"/>
                    </a:solidFill>
                  </a:tcPr>
                </a:tc>
              </a:tr>
              <a:tr h="256540">
                <a:tc>
                  <a:txBody>
                    <a:bodyPr/>
                    <a:lstStyle/>
                    <a:p>
                      <a:pPr>
                        <a:defRPr sz="1100" b="0">
                          <a:solidFill>
                            <a:srgbClr val="000000"/>
                          </a:solidFill>
                          <a:latin typeface="Calibri"/>
                        </a:defRPr>
                      </a:pPr>
                      <a:r>
                        <a:t>Tahap gudang (hari per 20 ton)</a:t>
                      </a:r>
                    </a:p>
                  </a:txBody>
                  <a:tcPr marL="54864" marR="54864" marT="18288" marB="18288">
                    <a:solidFill>
                      <a:srgbClr val="FFFFFF"/>
                    </a:solidFill>
                  </a:tcPr>
                </a:tc>
                <a:tc>
                  <a:txBody>
                    <a:bodyPr/>
                    <a:lstStyle/>
                    <a:p>
                      <a:pPr>
                        <a:defRPr sz="1100" b="0">
                          <a:solidFill>
                            <a:srgbClr val="000000"/>
                          </a:solidFill>
                          <a:latin typeface="Calibri"/>
                        </a:defRPr>
                      </a:pPr>
                      <a:r>
                        <a:t>Uji lab dan sortir 1,5 / packing 4,0 / stuffing 1,0</a:t>
                      </a:r>
                    </a:p>
                  </a:txBody>
                  <a:tcPr marL="54864" marR="54864" marT="18288" marB="18288">
                    <a:solidFill>
                      <a:srgbClr val="FFFFFF"/>
                    </a:solidFill>
                  </a:tcPr>
                </a:tc>
                <a:tc>
                  <a:txBody>
                    <a:bodyPr/>
                    <a:lstStyle/>
                    <a:p>
                      <a:pPr>
                        <a:defRPr sz="1100" b="0">
                          <a:solidFill>
                            <a:srgbClr val="000000"/>
                          </a:solidFill>
                          <a:latin typeface="Calibri"/>
                        </a:defRPr>
                      </a:pPr>
                      <a:r>
                        <a:t>Packing 3-6 hari (SOURCE); lainnya ASUMSI</a:t>
                      </a:r>
                    </a:p>
                  </a:txBody>
                  <a:tcPr marL="54864" marR="54864" marT="18288" marB="18288">
                    <a:solidFill>
                      <a:srgbClr val="FFFFFF"/>
                    </a:solidFill>
                  </a:tcPr>
                </a:tc>
              </a:tr>
              <a:tr h="256540">
                <a:tc>
                  <a:txBody>
                    <a:bodyPr/>
                    <a:lstStyle/>
                    <a:p>
                      <a:pPr>
                        <a:defRPr sz="1100" b="0">
                          <a:solidFill>
                            <a:srgbClr val="000000"/>
                          </a:solidFill>
                          <a:latin typeface="Calibri"/>
                        </a:defRPr>
                      </a:pPr>
                      <a:r>
                        <a:t>Waktu produksi total</a:t>
                      </a:r>
                    </a:p>
                  </a:txBody>
                  <a:tcPr marL="54864" marR="54864" marT="18288" marB="18288">
                    <a:solidFill>
                      <a:srgbClr val="FFFFFF"/>
                    </a:solidFill>
                  </a:tcPr>
                </a:tc>
                <a:tc>
                  <a:txBody>
                    <a:bodyPr/>
                    <a:lstStyle/>
                    <a:p>
                      <a:pPr>
                        <a:defRPr sz="1100" b="0">
                          <a:solidFill>
                            <a:srgbClr val="000000"/>
                          </a:solidFill>
                          <a:latin typeface="Calibri"/>
                        </a:defRPr>
                      </a:pPr>
                      <a:r>
                        <a:t>10 hari (20 ft) sampai 14 hari (40 ft)</a:t>
                      </a:r>
                    </a:p>
                  </a:txBody>
                  <a:tcPr marL="54864" marR="54864" marT="18288" marB="18288">
                    <a:solidFill>
                      <a:srgbClr val="FFFFFF"/>
                    </a:solidFill>
                  </a:tcPr>
                </a:tc>
                <a:tc>
                  <a:txBody>
                    <a:bodyPr/>
                    <a:lstStyle/>
                    <a:p>
                      <a:pPr>
                        <a:defRPr sz="1100" b="0">
                          <a:solidFill>
                            <a:srgbClr val="000000"/>
                          </a:solidFill>
                          <a:latin typeface="Calibri"/>
                        </a:defRPr>
                      </a:pPr>
                      <a:r>
                        <a:t>SOURCE: situs; dipakai untuk kalibrasi pemasokan</a:t>
                      </a:r>
                    </a:p>
                  </a:txBody>
                  <a:tcPr marL="54864" marR="54864" marT="18288" marB="18288">
                    <a:solidFill>
                      <a:srgbClr val="FFFFFF"/>
                    </a:solidFill>
                  </a:tcPr>
                </a:tc>
              </a:tr>
              <a:tr h="256540">
                <a:tc>
                  <a:txBody>
                    <a:bodyPr/>
                    <a:lstStyle/>
                    <a:p>
                      <a:pPr>
                        <a:defRPr sz="1100" b="0">
                          <a:solidFill>
                            <a:srgbClr val="000000"/>
                          </a:solidFill>
                          <a:latin typeface="Calibri"/>
                        </a:defRPr>
                      </a:pPr>
                      <a:r>
                        <a:t>Tipe kontainer dan tarif</a:t>
                      </a:r>
                    </a:p>
                  </a:txBody>
                  <a:tcPr marL="54864" marR="54864" marT="18288" marB="18288">
                    <a:solidFill>
                      <a:srgbClr val="FFFFFF"/>
                    </a:solidFill>
                  </a:tcPr>
                </a:tc>
                <a:tc>
                  <a:txBody>
                    <a:bodyPr/>
                    <a:lstStyle/>
                    <a:p>
                      <a:pPr>
                        <a:defRPr sz="1100" b="0">
                          <a:solidFill>
                            <a:srgbClr val="000000"/>
                          </a:solidFill>
                          <a:latin typeface="Calibri"/>
                        </a:defRPr>
                      </a:pPr>
                      <a:r>
                        <a:t>kering; tarif x 0.55 dari acuan reefer</a:t>
                      </a:r>
                    </a:p>
                  </a:txBody>
                  <a:tcPr marL="54864" marR="54864" marT="18288" marB="18288">
                    <a:solidFill>
                      <a:srgbClr val="FFFFFF"/>
                    </a:solidFill>
                  </a:tcPr>
                </a:tc>
                <a:tc>
                  <a:txBody>
                    <a:bodyPr/>
                    <a:lstStyle/>
                    <a:p>
                      <a:pPr>
                        <a:defRPr sz="1100" b="0">
                          <a:solidFill>
                            <a:srgbClr val="000000"/>
                          </a:solidFill>
                          <a:latin typeface="Calibri"/>
                        </a:defRPr>
                      </a:pPr>
                      <a:r>
                        <a:t>ASUMSI</a:t>
                      </a:r>
                    </a:p>
                  </a:txBody>
                  <a:tcPr marL="54864" marR="54864" marT="18288" marB="18288">
                    <a:solidFill>
                      <a:srgbClr val="FFFFFF"/>
                    </a:solidFill>
                  </a:tcPr>
                </a:tc>
              </a:tr>
              <a:tr h="256540">
                <a:tc>
                  <a:txBody>
                    <a:bodyPr/>
                    <a:lstStyle/>
                    <a:p>
                      <a:pPr>
                        <a:defRPr sz="1100" b="0">
                          <a:solidFill>
                            <a:srgbClr val="000000"/>
                          </a:solidFill>
                          <a:latin typeface="Calibri"/>
                        </a:defRPr>
                      </a:pPr>
                      <a:r>
                        <a:t>Incoterm</a:t>
                      </a:r>
                    </a:p>
                  </a:txBody>
                  <a:tcPr marL="54864" marR="54864" marT="18288" marB="18288">
                    <a:solidFill>
                      <a:srgbClr val="FFFFFF"/>
                    </a:solidFill>
                  </a:tcPr>
                </a:tc>
                <a:tc>
                  <a:txBody>
                    <a:bodyPr/>
                    <a:lstStyle/>
                    <a:p>
                      <a:pPr>
                        <a:defRPr sz="1100" b="0">
                          <a:solidFill>
                            <a:srgbClr val="000000"/>
                          </a:solidFill>
                          <a:latin typeface="Calibri"/>
                        </a:defRPr>
                      </a:pPr>
                      <a:r>
                        <a:t>FOB default, CIF atas permintaan</a:t>
                      </a:r>
                    </a:p>
                  </a:txBody>
                  <a:tcPr marL="54864" marR="54864" marT="18288" marB="18288">
                    <a:solidFill>
                      <a:srgbClr val="FFFFFF"/>
                    </a:solidFill>
                  </a:tcPr>
                </a:tc>
                <a:tc>
                  <a:txBody>
                    <a:bodyPr/>
                    <a:lstStyle/>
                    <a:p>
                      <a:pPr>
                        <a:defRPr sz="1100" b="0">
                          <a:solidFill>
                            <a:srgbClr val="000000"/>
                          </a:solidFill>
                          <a:latin typeface="Calibri"/>
                        </a:defRPr>
                      </a:pPr>
                      <a:r>
                        <a:t>SOURCE: situs</a:t>
                      </a:r>
                    </a:p>
                  </a:txBody>
                  <a:tcPr marL="54864" marR="54864" marT="18288" marB="18288">
                    <a:solidFill>
                      <a:srgbClr val="FFFFFF"/>
                    </a:solidFill>
                  </a:tcPr>
                </a:tc>
              </a:tr>
              <a:tr h="256540">
                <a:tc>
                  <a:txBody>
                    <a:bodyPr/>
                    <a:lstStyle/>
                    <a:p>
                      <a:pPr>
                        <a:defRPr sz="1100" b="0">
                          <a:solidFill>
                            <a:srgbClr val="000000"/>
                          </a:solidFill>
                          <a:latin typeface="Calibri"/>
                        </a:defRPr>
                      </a:pPr>
                      <a:r>
                        <a:t>Dokumen</a:t>
                      </a:r>
                    </a:p>
                  </a:txBody>
                  <a:tcPr marL="54864" marR="54864" marT="18288" marB="18288">
                    <a:solidFill>
                      <a:srgbClr val="FFFFFF"/>
                    </a:solidFill>
                  </a:tcPr>
                </a:tc>
                <a:tc>
                  <a:txBody>
                    <a:bodyPr/>
                    <a:lstStyle/>
                    <a:p>
                      <a:pPr>
                        <a:defRPr sz="1100" b="0">
                          <a:solidFill>
                            <a:srgbClr val="000000"/>
                          </a:solidFill>
                          <a:latin typeface="Calibri"/>
                        </a:defRPr>
                      </a:pPr>
                      <a:r>
                        <a:t>COA, MSDS, uji lab, SABER/ESMA, EUDR, Halal</a:t>
                      </a:r>
                    </a:p>
                  </a:txBody>
                  <a:tcPr marL="54864" marR="54864" marT="18288" marB="18288">
                    <a:solidFill>
                      <a:srgbClr val="FFFFFF"/>
                    </a:solidFill>
                  </a:tcPr>
                </a:tc>
                <a:tc>
                  <a:txBody>
                    <a:bodyPr/>
                    <a:lstStyle/>
                    <a:p>
                      <a:pPr>
                        <a:defRPr sz="1100" b="0">
                          <a:solidFill>
                            <a:srgbClr val="000000"/>
                          </a:solidFill>
                          <a:latin typeface="Calibri"/>
                        </a:defRPr>
                      </a:pPr>
                      <a:r>
                        <a:t>SOURCE: situs</a:t>
                      </a:r>
                    </a:p>
                  </a:txBody>
                  <a:tcPr marL="54864" marR="54864" marT="18288" marB="18288">
                    <a:solidFill>
                      <a:srgbClr val="FFFFFF"/>
                    </a:solidFill>
                  </a:tcPr>
                </a:tc>
              </a:tr>
              <a:tr h="424179">
                <a:tc>
                  <a:txBody>
                    <a:bodyPr/>
                    <a:lstStyle/>
                    <a:p>
                      <a:pPr>
                        <a:defRPr sz="1100" b="0">
                          <a:solidFill>
                            <a:srgbClr val="000000"/>
                          </a:solidFill>
                          <a:latin typeface="Calibri"/>
                        </a:defRPr>
                      </a:pPr>
                      <a:r>
                        <a:t>Syarat pembayaran</a:t>
                      </a:r>
                    </a:p>
                  </a:txBody>
                  <a:tcPr marL="54864" marR="54864" marT="18288" marB="18288">
                    <a:solidFill>
                      <a:srgbClr val="FFFFFF"/>
                    </a:solidFill>
                  </a:tcPr>
                </a:tc>
                <a:tc>
                  <a:txBody>
                    <a:bodyPr/>
                    <a:lstStyle/>
                    <a:p>
                      <a:pPr>
                        <a:defRPr sz="1100" b="0">
                          <a:solidFill>
                            <a:srgbClr val="000000"/>
                          </a:solidFill>
                          <a:latin typeface="Calibri"/>
                        </a:defRPr>
                      </a:pPr>
                      <a:r>
                        <a:t>DP 40% sebagai contoh</a:t>
                      </a:r>
                    </a:p>
                  </a:txBody>
                  <a:tcPr marL="54864" marR="54864" marT="18288" marB="18288">
                    <a:solidFill>
                      <a:srgbClr val="FFFFFF"/>
                    </a:solidFill>
                  </a:tcPr>
                </a:tc>
                <a:tc>
                  <a:txBody>
                    <a:bodyPr/>
                    <a:lstStyle/>
                    <a:p>
                      <a:pPr>
                        <a:defRPr sz="1100" b="0">
                          <a:solidFill>
                            <a:srgbClr val="000000"/>
                          </a:solidFill>
                          <a:latin typeface="Calibri"/>
                        </a:defRPr>
                      </a:pPr>
                      <a:r>
                        <a:t>Tidak dipublikasikan pada situs: ASUMSI, perlu diisi penulis</a:t>
                      </a:r>
                    </a:p>
                  </a:txBody>
                  <a:tcPr marL="54864" marR="54864" marT="18288" marB="18288">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100" b="1">
                <a:solidFill>
                  <a:srgbClr val="000000"/>
                </a:solidFill>
                <a:latin typeface="Calibri"/>
              </a:defRPr>
            </a:pPr>
            <a:r>
              <a:t>6. Perhitungan komputasi yang dapat diperiksa (1/3): kuota produsen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33</a:t>
            </a:r>
          </a:p>
        </p:txBody>
      </p:sp>
      <p:sp>
        <p:nvSpPr>
          <p:cNvPr id="6" name="TextBox 5"/>
          <p:cNvSpPr txBox="1"/>
          <p:nvPr/>
        </p:nvSpPr>
        <p:spPr>
          <a:xfrm>
            <a:off x="411480" y="1005840"/>
            <a:ext cx="5577840" cy="5394960"/>
          </a:xfrm>
          <a:prstGeom prst="rect">
            <a:avLst/>
          </a:prstGeom>
          <a:noFill/>
        </p:spPr>
        <p:txBody>
          <a:bodyPr wrap="square">
            <a:spAutoFit/>
          </a:bodyPr>
          <a:lstStyle/>
          <a:p>
            <a:pPr>
              <a:spcAft>
                <a:spcPts val="800"/>
              </a:spcAft>
              <a:defRPr sz="1200" b="0">
                <a:solidFill>
                  <a:srgbClr val="000000"/>
                </a:solidFill>
                <a:latin typeface="Calibri"/>
              </a:defRPr>
            </a:pPr>
            <a:r>
              <a:t>1. Kebutuhan dengan cadangan (buffer): Order 25 ton. Sistem meminta 25 x 1,15 = 28,75 ton kepada produsen. Alasan: rata-rata sekitar dua produsen per order gagal kirim dan sekitar 6% kg tidak lolos uji mutu; tanpa cadangan OTIF turun tajam (lihat sweep buffer, Bagian 8). Putaran susulan hanya menutup kekurangan nyata ditambah cadangan 5%.</a:t>
            </a:r>
          </a:p>
          <a:p>
            <a:pPr>
              <a:spcAft>
                <a:spcPts val="800"/>
              </a:spcAft>
              <a:defRPr sz="1200" b="0">
                <a:solidFill>
                  <a:srgbClr val="000000"/>
                </a:solidFill>
                <a:latin typeface="Calibri"/>
              </a:defRPr>
            </a:pPr>
            <a:r>
              <a:t>2. Pembagian kuota dengan tawaran kapasitas nyata: Lot 5.000 kg, jendela 6 hari. Lima produsen menawar: P1: rate 210 kg/hari, tawaran 1.260 kg, harga 0,88, q 0,95, skor 0,675; P2: rate 234 kg/hari, tawaran 1.404 kg, harga 0,84, q 0,90, skor 0,818; P3: rate 240 kg/hari, tawaran 1.440 kg, harga 0,80, q 0,78, skor 0,890; P4: rate 192 kg/hari, tawaran 1.152 kg, harga 0,90, q 0,97, skor 0,589; P5: rate 140 kg/hari, tawaran 840 kg, harga 0,81, q 0,82, skor 0,680. Skor menimbang harga (30%), mutu (50%), dan kecepatan (20%). Urutan: P3 &gt; P2 &gt; P5 &gt; P1 &gt; P4. Kuota: P3 1.440 kg, P2 1.404 kg, P5 840 kg, P1 1.260 kg, P4 56 kg.</a:t>
            </a:r>
          </a:p>
        </p:txBody>
      </p:sp>
      <p:sp>
        <p:nvSpPr>
          <p:cNvPr id="7" name="TextBox 6"/>
          <p:cNvSpPr txBox="1"/>
          <p:nvPr/>
        </p:nvSpPr>
        <p:spPr>
          <a:xfrm>
            <a:off x="6172200" y="1005840"/>
            <a:ext cx="5577840" cy="5394960"/>
          </a:xfrm>
          <a:prstGeom prst="rect">
            <a:avLst/>
          </a:prstGeom>
          <a:noFill/>
        </p:spPr>
        <p:txBody>
          <a:bodyPr wrap="square">
            <a:spAutoFit/>
          </a:bodyPr>
          <a:lstStyle/>
          <a:p>
            <a:pPr>
              <a:spcAft>
                <a:spcPts val="800"/>
              </a:spcAft>
              <a:defRPr sz="1200" b="0">
                <a:solidFill>
                  <a:srgbClr val="000000"/>
                </a:solidFill>
                <a:latin typeface="Calibri"/>
              </a:defRPr>
            </a:pPr>
            <a:r>
              <a:t>3. Mengapa data pendaftaran yang usang merugikan (agen tunggal): Agen tunggal memperkirakan kapasitas dari data pendaftaran: P1 1.442 kg, P2 1.232 kg, P3 1.070 kg, P4 1.558 kg, P5 884 kg. Dibanding tawaran nyata di atas, kuota berikut melebihi kemampuan: P5 +44 kg, P1 +182 kg (total 225 kg), sehingga perlu putaran susulan dan lebih banyak pesan. Pada multi-agen kekurangan ini tidak muncul karena produsen hanya menawar sebatas kapasitas nyata.</a:t>
            </a:r>
          </a:p>
          <a:p>
            <a:pPr>
              <a:spcAft>
                <a:spcPts val="800"/>
              </a:spcAft>
              <a:defRPr sz="1200" b="0">
                <a:solidFill>
                  <a:srgbClr val="000000"/>
                </a:solidFill>
                <a:latin typeface="Calibri"/>
              </a:defRPr>
            </a:pPr>
            <a:r>
              <a:t>4. Uji mutu dan skor mutu produsen: Produsen mengirim 1.600 kg dengan tingkat kelolosan 0,86: yang lolos = 1.376 kg. Untuk order premium, produsen berkelolosan di bawah 0,85 hanya 55% yang Grade A: 757 kg. Skor mutu produsen (mulai 0,78) diperbarui 80% dari skor lama ditambah 20% dari hasil terbaru: menjadi 0,796; bila gagal kirim menjadi 0,624; gagal dua kali menjadi 0,499, di bawah 0,60 sehingga produsen diblokir sementara.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100" b="1">
                <a:solidFill>
                  <a:srgbClr val="000000"/>
                </a:solidFill>
                <a:latin typeface="Calibri"/>
              </a:defRPr>
            </a:pPr>
            <a:r>
              <a:t>6. Perhitungan komputasi yang dapat diperiksa (2/3): gudang dan carrier</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34</a:t>
            </a:r>
          </a:p>
        </p:txBody>
      </p:sp>
      <p:sp>
        <p:nvSpPr>
          <p:cNvPr id="6" name="TextBox 5"/>
          <p:cNvSpPr txBox="1"/>
          <p:nvPr/>
        </p:nvSpPr>
        <p:spPr>
          <a:xfrm>
            <a:off x="411480" y="1005840"/>
            <a:ext cx="5577840" cy="5394960"/>
          </a:xfrm>
          <a:prstGeom prst="rect">
            <a:avLst/>
          </a:prstGeom>
          <a:noFill/>
        </p:spPr>
        <p:txBody>
          <a:bodyPr wrap="square">
            <a:spAutoFit/>
          </a:bodyPr>
          <a:lstStyle/>
          <a:p>
            <a:pPr>
              <a:spcAft>
                <a:spcPts val="800"/>
              </a:spcAft>
              <a:defRPr sz="1200" b="0">
                <a:solidFill>
                  <a:srgbClr val="000000"/>
                </a:solidFill>
                <a:latin typeface="Calibri"/>
              </a:defRPr>
            </a:pPr>
            <a:r>
              <a:t>5. Urutan kerja di gudang: Pada hari 5 ada tiga job. J1 tenggat 12,5 sisa kerja 3,2 hari; J2 tenggat 10,5 sisa 4,0; J3 tenggat 9,0 sisa 1,4. Sistem menghitung rasio sisa waktu terhadap sisa kerja (makin kecil makin mendesak): J1 2,34; J2 1,375; J3 2,86. Urutan pengerjaan J2 &gt; J1 &gt; J3.</a:t>
            </a:r>
          </a:p>
          <a:p>
            <a:pPr>
              <a:spcAft>
                <a:spcPts val="800"/>
              </a:spcAft>
              <a:defRPr sz="1200" b="0">
                <a:solidFill>
                  <a:srgbClr val="000000"/>
                </a:solidFill>
                <a:latin typeface="Calibri"/>
              </a:defRPr>
            </a:pPr>
            <a:r>
              <a:t>6. Tawaran antar lini gudang (Contract Net): Job 1,8 hari pada hari ke-5. Lini a: antrean 2,4 hari, kecepatan 1,02, perkiraan selesai hari 9,12. Lini b: antrean 0,9 hari, kecepatan 0,97, selesai hari 7,78, sehingga job diberikan ke lini b. Bila sensor menandai lini b akan rusak sampai hari ke-7,5, perkiraan lini b menjadi 10,28 dan lini a menang.</a:t>
            </a:r>
          </a:p>
          <a:p>
            <a:pPr>
              <a:spcAft>
                <a:spcPts val="800"/>
              </a:spcAft>
              <a:defRPr sz="1200" b="0">
                <a:solidFill>
                  <a:srgbClr val="000000"/>
                </a:solidFill>
                <a:latin typeface="Calibri"/>
              </a:defRPr>
            </a:pPr>
            <a:r>
              <a:t>7. Memilih carrier: Order $42.000, satu kontainer, tiba di gerbang hari 15,2, batas kirim hari 22. ColdLine-A: biaya $2.310, berangkat hari 24, peluang ditinggal kapal 0,08, biaya harapan $2.855; ColdLine-B: biaya $2.640, berangkat hari 20, peluang ditinggal kapal 0,11, biaya harapan $2.758; ColdLine-Prime: biaya $3.135, berangkat hari 22, peluang ditinggal kapal 0,03, biaya harapan $3.185. Skor gabungan (harga, waktu transit, dan peluang ditinggal kapal) memilih ColdLine-B; jika hanya melihat biaya harapan, yang terpilih ColdLine-B.</a:t>
            </a:r>
          </a:p>
        </p:txBody>
      </p:sp>
      <p:sp>
        <p:nvSpPr>
          <p:cNvPr id="7" name="TextBox 6"/>
          <p:cNvSpPr txBox="1"/>
          <p:nvPr/>
        </p:nvSpPr>
        <p:spPr>
          <a:xfrm>
            <a:off x="6172200" y="1005840"/>
            <a:ext cx="5577840" cy="5394960"/>
          </a:xfrm>
          <a:prstGeom prst="rect">
            <a:avLst/>
          </a:prstGeom>
          <a:noFill/>
        </p:spPr>
        <p:txBody>
          <a:bodyPr wrap="square">
            <a:spAutoFit/>
          </a:bodyPr>
          <a:lstStyle/>
          <a:p>
            <a:pPr>
              <a:spcAft>
                <a:spcPts val="800"/>
              </a:spcAft>
              <a:defRPr sz="1200" b="0">
                <a:solidFill>
                  <a:srgbClr val="000000"/>
                </a:solidFill>
                <a:latin typeface="Calibri"/>
              </a:defRPr>
            </a:pPr>
            <a:r>
              <a:t>8. Risiko kontainer ditinggal kapal (roll-over): Untuk ColdLine-A pada kondisi pelabuhan padat (0,6), musim puncak, dan selisih waktu aman 2 hari, model memberi peluang 0,507. Carrier tercepat pada kondisi yang sama 0,139. Model Risk Agent mempelajari peluang ini dari 4.000 pengiriman historis (AUC 0,76).</a:t>
            </a:r>
          </a:p>
          <a:p>
            <a:pPr>
              <a:spcAft>
                <a:spcPts val="800"/>
              </a:spcAft>
              <a:defRPr sz="1200" b="0">
                <a:solidFill>
                  <a:srgbClr val="000000"/>
                </a:solidFill>
                <a:latin typeface="Calibri"/>
              </a:defRPr>
            </a:pPr>
            <a:r>
              <a:t>9. Kepercayaan terhadap carrier: Skor kepercayaan 0,80. Bila kontainer terangkut, skor menjadi 0,84. Bila ditinggal kapal, menjadi 0,68; ditinggal kedua kali menjadi 0,584, di bawah 0,60 sehingga carrier diblokir sementara.</a:t>
            </a:r>
          </a:p>
          <a:p>
            <a:pPr>
              <a:spcAft>
                <a:spcPts val="800"/>
              </a:spcAft>
              <a:defRPr sz="1200" b="0">
                <a:solidFill>
                  <a:srgbClr val="000000"/>
                </a:solidFill>
                <a:latin typeface="Calibri"/>
              </a:defRPr>
            </a:pPr>
            <a:r>
              <a:t>10. Biaya dan margin satu order (skenario 7, order #1 dan #4): Manual order #1: 12 ton, terisi 59%, 4 putaran, 24 produsen, bahan $4.669, freight $3.135, denda $1.861, penyimpanan $48, biaya manusia $1.008, pendapatan $7.960 (terlambat 12 hari); Manual order #4: 27 ton, terisi 88%, 4 putaran, 23 produsen, bahan $15.952, freight $2.640, denda $0, penyimpanan $22, biaya manusia $936, pendapatan $35.756 (terlambat 0 hari); Multi-agen order #1: 12 ton, terisi 100%, 1 putaran, 10 produsen, bahan $7.779, freight $2.310, denda $0, penyimpanan $33, biaya manusia $12, pendapatan $13.466 (terlambat 0 hari); Multi-agen order #4: 27 ton, terisi 100%, 1 putaran, 18 produsen, bahan $17.969, freight $3.135, denda $0, penyimpanan $25, biaya manusia $36, pendapatan $40.419 (terlambat 0 hari).</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100" b="1">
                <a:solidFill>
                  <a:srgbClr val="000000"/>
                </a:solidFill>
                <a:latin typeface="Calibri"/>
              </a:defRPr>
            </a:pPr>
            <a:r>
              <a:t>6. Perhitungan komputasi yang dapat diperiksa (3/3): agen mobile</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35</a:t>
            </a:r>
          </a:p>
        </p:txBody>
      </p:sp>
      <p:sp>
        <p:nvSpPr>
          <p:cNvPr id="6" name="TextBox 5"/>
          <p:cNvSpPr txBox="1"/>
          <p:nvPr/>
        </p:nvSpPr>
        <p:spPr>
          <a:xfrm>
            <a:off x="411480" y="1005840"/>
            <a:ext cx="5577840" cy="5394960"/>
          </a:xfrm>
          <a:prstGeom prst="rect">
            <a:avLst/>
          </a:prstGeom>
          <a:noFill/>
        </p:spPr>
        <p:txBody>
          <a:bodyPr wrap="square">
            <a:spAutoFit/>
          </a:bodyPr>
          <a:lstStyle/>
          <a:p>
            <a:pPr>
              <a:spcAft>
                <a:spcPts val="800"/>
              </a:spcAft>
              <a:defRPr sz="1200" b="0">
                <a:solidFill>
                  <a:srgbClr val="000000"/>
                </a:solidFill>
                <a:latin typeface="Calibri"/>
              </a:defRPr>
            </a:pPr>
            <a:r>
              <a:t>11. Agen mobile (Scout): Scout hanya berpindah ke sistem carrier yang tepercaya (kepercayaan minimal 0,80 dan risiko maksimal 0,20); carrier A (kepercayaan 0,71) ditolak walau paling cepat. Data yang dipindahkan per skenario: 12,4 MB (scout) dibanding 36,0 MB bila menarik seluruh jadwal; hemat 65%.</a:t>
            </a:r>
          </a:p>
        </p:txBody>
      </p:sp>
      <p:sp>
        <p:nvSpPr>
          <p:cNvPr id="7" name="TextBox 6"/>
          <p:cNvSpPr txBox="1"/>
          <p:nvPr/>
        </p:nvSpPr>
        <p:spPr>
          <a:xfrm>
            <a:off x="6172200" y="1005840"/>
            <a:ext cx="5577840" cy="5394960"/>
          </a:xfrm>
          <a:prstGeom prst="rect">
            <a:avLst/>
          </a:prstGeom>
          <a:noFill/>
        </p:spPr>
        <p:txBody>
          <a:bodyPr wrap="square">
            <a:spAutoFit/>
          </a:bodyPr>
          <a:lstStyle/>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7. Cuplikan simulasi: keluaran nyata satu skenario</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36</a:t>
            </a:r>
          </a:p>
        </p:txBody>
      </p:sp>
      <p:pic>
        <p:nvPicPr>
          <p:cNvPr id="6" name="Picture 5" descr="fig_sim_terminal.png"/>
          <p:cNvPicPr>
            <a:picLocks noChangeAspect="1"/>
          </p:cNvPicPr>
          <p:nvPr/>
        </p:nvPicPr>
        <p:blipFill>
          <a:blip r:embed="rId2"/>
          <a:stretch>
            <a:fillRect/>
          </a:stretch>
        </p:blipFill>
        <p:spPr>
          <a:xfrm>
            <a:off x="3073609" y="960120"/>
            <a:ext cx="6014301" cy="5029200"/>
          </a:xfrm>
          <a:prstGeom prst="rect">
            <a:avLst/>
          </a:prstGeom>
        </p:spPr>
      </p:pic>
      <p:sp>
        <p:nvSpPr>
          <p:cNvPr id="7" name="TextBox 6"/>
          <p:cNvSpPr txBox="1"/>
          <p:nvPr/>
        </p:nvSpPr>
        <p:spPr>
          <a:xfrm>
            <a:off x="411480" y="5989320"/>
            <a:ext cx="11338560" cy="457200"/>
          </a:xfrm>
          <a:prstGeom prst="rect">
            <a:avLst/>
          </a:prstGeom>
          <a:noFill/>
        </p:spPr>
        <p:txBody>
          <a:bodyPr wrap="square">
            <a:spAutoFit/>
          </a:bodyPr>
          <a:lstStyle/>
          <a:p>
            <a:pPr>
              <a:spcAft>
                <a:spcPts val="400"/>
              </a:spcAft>
              <a:defRPr sz="1100" b="0">
                <a:solidFill>
                  <a:srgbClr val="333333"/>
                </a:solidFill>
                <a:latin typeface="Calibri"/>
              </a:defRPr>
            </a:pPr>
            <a:r>
              <a:t>Keluaran python -m kraka_mas.demo. NO = order tidak OTIF. Pesan antaragen (CFP, PROPOSE, ACCEPT, ...) diambil dari audit log.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100" b="1">
                <a:solidFill>
                  <a:srgbClr val="000000"/>
                </a:solidFill>
                <a:latin typeface="Calibri"/>
              </a:defRPr>
            </a:pPr>
            <a:r>
              <a:t>7. Cuplikan simulasi: waktu tiap order dan siapa mengirim apa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37</a:t>
            </a:r>
          </a:p>
        </p:txBody>
      </p:sp>
      <p:pic>
        <p:nvPicPr>
          <p:cNvPr id="6" name="Picture 5" descr="fig_gantt.png"/>
          <p:cNvPicPr>
            <a:picLocks noChangeAspect="1"/>
          </p:cNvPicPr>
          <p:nvPr/>
        </p:nvPicPr>
        <p:blipFill>
          <a:blip r:embed="rId2"/>
          <a:stretch>
            <a:fillRect/>
          </a:stretch>
        </p:blipFill>
        <p:spPr>
          <a:xfrm>
            <a:off x="274320" y="1562823"/>
            <a:ext cx="6035040" cy="4189553"/>
          </a:xfrm>
          <a:prstGeom prst="rect">
            <a:avLst/>
          </a:prstGeom>
        </p:spPr>
      </p:pic>
      <p:pic>
        <p:nvPicPr>
          <p:cNvPr id="7" name="Picture 6" descr="fig_sourcing_detail.png"/>
          <p:cNvPicPr>
            <a:picLocks noChangeAspect="1"/>
          </p:cNvPicPr>
          <p:nvPr/>
        </p:nvPicPr>
        <p:blipFill>
          <a:blip r:embed="rId3"/>
          <a:stretch>
            <a:fillRect/>
          </a:stretch>
        </p:blipFill>
        <p:spPr>
          <a:xfrm>
            <a:off x="6400800" y="2085158"/>
            <a:ext cx="5486400" cy="2413362"/>
          </a:xfrm>
          <a:prstGeom prst="rect">
            <a:avLst/>
          </a:prstGeom>
        </p:spPr>
      </p:pic>
      <p:sp>
        <p:nvSpPr>
          <p:cNvPr id="8" name="TextBox 7"/>
          <p:cNvSpPr txBox="1"/>
          <p:nvPr/>
        </p:nvSpPr>
        <p:spPr>
          <a:xfrm>
            <a:off x="6400800" y="5303520"/>
            <a:ext cx="5486400" cy="1097280"/>
          </a:xfrm>
          <a:prstGeom prst="rect">
            <a:avLst/>
          </a:prstGeom>
          <a:noFill/>
        </p:spPr>
        <p:txBody>
          <a:bodyPr wrap="square">
            <a:spAutoFit/>
          </a:bodyPr>
          <a:lstStyle/>
          <a:p>
            <a:pPr>
              <a:spcAft>
                <a:spcPts val="400"/>
              </a:spcAft>
              <a:defRPr sz="1100" b="0">
                <a:solidFill>
                  <a:srgbClr val="333333"/>
                </a:solidFill>
                <a:latin typeface="Calibri"/>
              </a:defRPr>
            </a:pPr>
            <a:r>
              <a:t>Kiri: manual vs multi-agen (3 order). Kanan: order #4 (27 ton), produsen yang dikontrak; merah = gagal kirim.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8.1 Rancangan eksperimen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38</a:t>
            </a:r>
          </a:p>
        </p:txBody>
      </p:sp>
      <p:sp>
        <p:nvSpPr>
          <p:cNvPr id="6" name="TextBox 5"/>
          <p:cNvSpPr txBox="1"/>
          <p:nvPr/>
        </p:nvSpPr>
        <p:spPr>
          <a:xfrm>
            <a:off x="411480" y="1005840"/>
            <a:ext cx="5577840" cy="5394960"/>
          </a:xfrm>
          <a:prstGeom prst="rect">
            <a:avLst/>
          </a:prstGeom>
          <a:noFill/>
        </p:spPr>
        <p:txBody>
          <a:bodyPr wrap="square">
            <a:spAutoFit/>
          </a:bodyPr>
          <a:lstStyle/>
          <a:p>
            <a:pPr>
              <a:spcAft>
                <a:spcPts val="700"/>
              </a:spcAft>
              <a:defRPr sz="1300" b="0">
                <a:solidFill>
                  <a:srgbClr val="000000"/>
                </a:solidFill>
                <a:latin typeface="Calibri"/>
              </a:defRPr>
            </a:pPr>
            <a:r>
              <a:t>• Tiga sistem pada skenario yang sama (common random numbers): manual, agen tunggal, multi-agen.</a:t>
            </a:r>
          </a:p>
          <a:p>
            <a:pPr>
              <a:spcAft>
                <a:spcPts val="700"/>
              </a:spcAft>
              <a:defRPr sz="1300" b="0">
                <a:solidFill>
                  <a:srgbClr val="000000"/>
                </a:solidFill>
                <a:latin typeface="Calibri"/>
              </a:defRPr>
            </a:pPr>
            <a:r>
              <a:t>• Manual: admin WhatsApp satu per satu, bagi rata, cadangan 5%, dokumen setelah produksi, HS manual.</a:t>
            </a:r>
          </a:p>
          <a:p>
            <a:pPr>
              <a:spcAft>
                <a:spcPts val="700"/>
              </a:spcAft>
              <a:defRPr sz="1300" b="0">
                <a:solidFill>
                  <a:srgbClr val="000000"/>
                </a:solidFill>
                <a:latin typeface="Calibri"/>
              </a:defRPr>
            </a:pPr>
            <a:r>
              <a:t>• Agen tunggal: satu inti keputusan dengan data pendaftaran produsen (kapasitas berderau 10% x ketersediaan rata-rata), aturan keputusan hibrida.</a:t>
            </a:r>
          </a:p>
          <a:p>
            <a:pPr>
              <a:spcAft>
                <a:spcPts val="700"/>
              </a:spcAft>
              <a:defRPr sz="1300" b="0">
                <a:solidFill>
                  <a:srgbClr val="000000"/>
                </a:solidFill>
                <a:latin typeface="Calibri"/>
              </a:defRPr>
            </a:pPr>
            <a:r>
              <a:t>• Multi-agen: keputusan sama, kuota via Contract Net; produsen menawar dengan kapasitas nyata.</a:t>
            </a:r>
          </a:p>
          <a:p>
            <a:pPr>
              <a:spcAft>
                <a:spcPts val="700"/>
              </a:spcAft>
              <a:defRPr sz="1300" b="0">
                <a:solidFill>
                  <a:srgbClr val="000000"/>
                </a:solidFill>
                <a:latin typeface="Calibri"/>
              </a:defRPr>
            </a:pPr>
            <a:r>
              <a:t>• 300 skenario, rentang kepercayaan 95% (bootstrap); seed evaluasi 0-299 terpisah dari kalibrasi (1000+) dan pelatihan (10000+); unit test otomatis.</a:t>
            </a:r>
          </a:p>
        </p:txBody>
      </p:sp>
      <p:graphicFrame>
        <p:nvGraphicFramePr>
          <p:cNvPr id="7" name="Table 6"/>
          <p:cNvGraphicFramePr>
            <a:graphicFrameLocks noGrp="1"/>
          </p:cNvGraphicFramePr>
          <p:nvPr/>
        </p:nvGraphicFramePr>
        <p:xfrm>
          <a:off x="6172200" y="1005840"/>
          <a:ext cx="5760720" cy="5176515"/>
        </p:xfrm>
        <a:graphic>
          <a:graphicData uri="http://schemas.openxmlformats.org/drawingml/2006/table">
            <a:tbl>
              <a:tblPr firstRow="1" bandRow="1">
                <a:tableStyleId>{5C22544A-7EE6-4342-B048-85BDC9FD1C3A}</a:tableStyleId>
              </a:tblPr>
              <a:tblGrid>
                <a:gridCol w="1737360"/>
                <a:gridCol w="1737360"/>
                <a:gridCol w="2286000"/>
              </a:tblGrid>
              <a:tr h="233679">
                <a:tc>
                  <a:txBody>
                    <a:bodyPr/>
                    <a:lstStyle/>
                    <a:p>
                      <a:pPr>
                        <a:defRPr sz="950" b="1">
                          <a:solidFill>
                            <a:srgbClr val="000000"/>
                          </a:solidFill>
                          <a:latin typeface="Calibri"/>
                        </a:defRPr>
                      </a:pPr>
                      <a:r>
                        <a:t>Parameter</a:t>
                      </a:r>
                    </a:p>
                  </a:txBody>
                  <a:tcPr marL="54864" marR="54864" marT="18288" marB="18288">
                    <a:solidFill>
                      <a:srgbClr val="E5E7EB"/>
                    </a:solidFill>
                  </a:tcPr>
                </a:tc>
                <a:tc>
                  <a:txBody>
                    <a:bodyPr/>
                    <a:lstStyle/>
                    <a:p>
                      <a:pPr>
                        <a:defRPr sz="950" b="1">
                          <a:solidFill>
                            <a:srgbClr val="000000"/>
                          </a:solidFill>
                          <a:latin typeface="Calibri"/>
                        </a:defRPr>
                      </a:pPr>
                      <a:r>
                        <a:t>Nilai</a:t>
                      </a:r>
                    </a:p>
                  </a:txBody>
                  <a:tcPr marL="54864" marR="54864" marT="18288" marB="18288">
                    <a:solidFill>
                      <a:srgbClr val="E5E7EB"/>
                    </a:solidFill>
                  </a:tcPr>
                </a:tc>
                <a:tc>
                  <a:txBody>
                    <a:bodyPr/>
                    <a:lstStyle/>
                    <a:p>
                      <a:pPr>
                        <a:defRPr sz="950" b="1">
                          <a:solidFill>
                            <a:srgbClr val="000000"/>
                          </a:solidFill>
                          <a:latin typeface="Calibri"/>
                        </a:defRPr>
                      </a:pPr>
                      <a:r>
                        <a:t>Keterangan</a:t>
                      </a:r>
                    </a:p>
                  </a:txBody>
                  <a:tcPr marL="54864" marR="54864" marT="18288" marB="18288">
                    <a:solidFill>
                      <a:srgbClr val="E5E7EB"/>
                    </a:solidFill>
                  </a:tcPr>
                </a:tc>
              </a:tr>
              <a:tr h="668020">
                <a:tc>
                  <a:txBody>
                    <a:bodyPr/>
                    <a:lstStyle/>
                    <a:p>
                      <a:pPr>
                        <a:defRPr sz="950" b="0">
                          <a:solidFill>
                            <a:srgbClr val="000000"/>
                          </a:solidFill>
                          <a:latin typeface="Calibri"/>
                        </a:defRPr>
                      </a:pPr>
                      <a:r>
                        <a:t>Ketersediaan kapasitas u</a:t>
                      </a:r>
                    </a:p>
                  </a:txBody>
                  <a:tcPr marL="54864" marR="54864" marT="18288" marB="18288">
                    <a:solidFill>
                      <a:srgbClr val="FFFFFF"/>
                    </a:solidFill>
                  </a:tcPr>
                </a:tc>
                <a:tc>
                  <a:txBody>
                    <a:bodyPr/>
                    <a:lstStyle/>
                    <a:p>
                      <a:pPr>
                        <a:defRPr sz="950" b="0">
                          <a:solidFill>
                            <a:srgbClr val="000000"/>
                          </a:solidFill>
                          <a:latin typeface="Calibri"/>
                        </a:defRPr>
                      </a:pPr>
                      <a:r>
                        <a:t>U(0.55; 1)</a:t>
                      </a:r>
                    </a:p>
                  </a:txBody>
                  <a:tcPr marL="54864" marR="54864" marT="18288" marB="18288">
                    <a:solidFill>
                      <a:srgbClr val="FFFFFF"/>
                    </a:solidFill>
                  </a:tcPr>
                </a:tc>
                <a:tc>
                  <a:txBody>
                    <a:bodyPr/>
                    <a:lstStyle/>
                    <a:p>
                      <a:pPr>
                        <a:defRPr sz="950" b="0">
                          <a:solidFill>
                            <a:srgbClr val="000000"/>
                          </a:solidFill>
                          <a:latin typeface="Calibri"/>
                        </a:defRPr>
                      </a:pPr>
                      <a:r>
                        <a:t>sisa kapasitas produsen setelah pasar lokal (ASUMSI); registry mengira rata-rata 0,775 dan kapasitas nominal berderau 10%</a:t>
                      </a:r>
                    </a:p>
                  </a:txBody>
                  <a:tcPr marL="54864" marR="54864" marT="18288" marB="18288">
                    <a:solidFill>
                      <a:srgbClr val="FFFFFF"/>
                    </a:solidFill>
                  </a:tcPr>
                </a:tc>
              </a:tr>
              <a:tr h="378460">
                <a:tc>
                  <a:txBody>
                    <a:bodyPr/>
                    <a:lstStyle/>
                    <a:p>
                      <a:pPr>
                        <a:defRPr sz="950" b="0">
                          <a:solidFill>
                            <a:srgbClr val="000000"/>
                          </a:solidFill>
                          <a:latin typeface="Calibri"/>
                        </a:defRPr>
                      </a:pPr>
                      <a:r>
                        <a:t>Waktu balas WhatsApp</a:t>
                      </a:r>
                    </a:p>
                  </a:txBody>
                  <a:tcPr marL="54864" marR="54864" marT="18288" marB="18288">
                    <a:solidFill>
                      <a:srgbClr val="FFFFFF"/>
                    </a:solidFill>
                  </a:tcPr>
                </a:tc>
                <a:tc>
                  <a:txBody>
                    <a:bodyPr/>
                    <a:lstStyle/>
                    <a:p>
                      <a:pPr>
                        <a:defRPr sz="950" b="0">
                          <a:solidFill>
                            <a:srgbClr val="000000"/>
                          </a:solidFill>
                          <a:latin typeface="Calibri"/>
                        </a:defRPr>
                      </a:pPr>
                      <a:r>
                        <a:t>median 1.5 jam, sigma 0.9</a:t>
                      </a:r>
                    </a:p>
                  </a:txBody>
                  <a:tcPr marL="54864" marR="54864" marT="18288" marB="18288">
                    <a:solidFill>
                      <a:srgbClr val="FFFFFF"/>
                    </a:solidFill>
                  </a:tcPr>
                </a:tc>
                <a:tc>
                  <a:txBody>
                    <a:bodyPr/>
                    <a:lstStyle/>
                    <a:p>
                      <a:pPr>
                        <a:defRPr sz="950" b="0">
                          <a:solidFill>
                            <a:srgbClr val="000000"/>
                          </a:solidFill>
                          <a:latin typeface="Calibri"/>
                        </a:defRPr>
                      </a:pPr>
                      <a:r>
                        <a:t>lognormal; bid lebih lambat dari 6 jam diabaikan (ASUMSI)</a:t>
                      </a:r>
                    </a:p>
                  </a:txBody>
                  <a:tcPr marL="54864" marR="54864" marT="18288" marB="18288">
                    <a:solidFill>
                      <a:srgbClr val="FFFFFF"/>
                    </a:solidFill>
                  </a:tcPr>
                </a:tc>
              </a:tr>
              <a:tr h="378460">
                <a:tc>
                  <a:txBody>
                    <a:bodyPr/>
                    <a:lstStyle/>
                    <a:p>
                      <a:pPr>
                        <a:defRPr sz="950" b="0">
                          <a:solidFill>
                            <a:srgbClr val="000000"/>
                          </a:solidFill>
                          <a:latin typeface="Calibri"/>
                        </a:defRPr>
                      </a:pPr>
                      <a:r>
                        <a:t>Buffer over-allocation</a:t>
                      </a:r>
                    </a:p>
                  </a:txBody>
                  <a:tcPr marL="54864" marR="54864" marT="18288" marB="18288">
                    <a:solidFill>
                      <a:srgbClr val="FFFFFF"/>
                    </a:solidFill>
                  </a:tcPr>
                </a:tc>
                <a:tc>
                  <a:txBody>
                    <a:bodyPr/>
                    <a:lstStyle/>
                    <a:p>
                      <a:pPr>
                        <a:defRPr sz="950" b="0">
                          <a:solidFill>
                            <a:srgbClr val="000000"/>
                          </a:solidFill>
                          <a:latin typeface="Calibri"/>
                        </a:defRPr>
                      </a:pPr>
                      <a:r>
                        <a:t>15% (awal), 5% (susulan)</a:t>
                      </a:r>
                    </a:p>
                  </a:txBody>
                  <a:tcPr marL="54864" marR="54864" marT="18288" marB="18288">
                    <a:solidFill>
                      <a:srgbClr val="FFFFFF"/>
                    </a:solidFill>
                  </a:tcPr>
                </a:tc>
                <a:tc>
                  <a:txBody>
                    <a:bodyPr/>
                    <a:lstStyle/>
                    <a:p>
                      <a:pPr>
                        <a:defRPr sz="950" b="0">
                          <a:solidFill>
                            <a:srgbClr val="000000"/>
                          </a:solidFill>
                          <a:latin typeface="Calibri"/>
                        </a:defRPr>
                      </a:pPr>
                      <a:r>
                        <a:t>dipilih dari sweep pada seed kalibrasi; admin manual 5%</a:t>
                      </a:r>
                    </a:p>
                  </a:txBody>
                  <a:tcPr marL="54864" marR="54864" marT="18288" marB="18288">
                    <a:solidFill>
                      <a:srgbClr val="FFFFFF"/>
                    </a:solidFill>
                  </a:tcPr>
                </a:tc>
              </a:tr>
              <a:tr h="523239">
                <a:tc>
                  <a:txBody>
                    <a:bodyPr/>
                    <a:lstStyle/>
                    <a:p>
                      <a:pPr>
                        <a:defRPr sz="950" b="0">
                          <a:solidFill>
                            <a:srgbClr val="000000"/>
                          </a:solidFill>
                          <a:latin typeface="Calibri"/>
                        </a:defRPr>
                      </a:pPr>
                      <a:r>
                        <a:t>Batas konsentrasi</a:t>
                      </a:r>
                    </a:p>
                  </a:txBody>
                  <a:tcPr marL="54864" marR="54864" marT="18288" marB="18288">
                    <a:solidFill>
                      <a:srgbClr val="FFFFFF"/>
                    </a:solidFill>
                  </a:tcPr>
                </a:tc>
                <a:tc>
                  <a:txBody>
                    <a:bodyPr/>
                    <a:lstStyle/>
                    <a:p>
                      <a:pPr>
                        <a:defRPr sz="950" b="0">
                          <a:solidFill>
                            <a:srgbClr val="000000"/>
                          </a:solidFill>
                          <a:latin typeface="Calibri"/>
                        </a:defRPr>
                      </a:pPr>
                      <a:r>
                        <a:t>30%</a:t>
                      </a:r>
                    </a:p>
                  </a:txBody>
                  <a:tcPr marL="54864" marR="54864" marT="18288" marB="18288">
                    <a:solidFill>
                      <a:srgbClr val="FFFFFF"/>
                    </a:solidFill>
                  </a:tcPr>
                </a:tc>
                <a:tc>
                  <a:txBody>
                    <a:bodyPr/>
                    <a:lstStyle/>
                    <a:p>
                      <a:pPr>
                        <a:defRPr sz="950" b="0">
                          <a:solidFill>
                            <a:srgbClr val="000000"/>
                          </a:solidFill>
                          <a:latin typeface="Calibri"/>
                        </a:defRPr>
                      </a:pPr>
                      <a:r>
                        <a:t>tiap produsen maks 30% dari satu order; produsen dengan quality score &lt; 0,60 diblokir</a:t>
                      </a:r>
                    </a:p>
                  </a:txBody>
                  <a:tcPr marL="54864" marR="54864" marT="18288" marB="18288">
                    <a:solidFill>
                      <a:srgbClr val="FFFFFF"/>
                    </a:solidFill>
                  </a:tcPr>
                </a:tc>
              </a:tr>
              <a:tr h="523239">
                <a:tc>
                  <a:txBody>
                    <a:bodyPr/>
                    <a:lstStyle/>
                    <a:p>
                      <a:pPr>
                        <a:defRPr sz="950" b="0">
                          <a:solidFill>
                            <a:srgbClr val="000000"/>
                          </a:solidFill>
                          <a:latin typeface="Calibri"/>
                        </a:defRPr>
                      </a:pPr>
                      <a:r>
                        <a:t>Gagal kirim produsen</a:t>
                      </a:r>
                    </a:p>
                  </a:txBody>
                  <a:tcPr marL="54864" marR="54864" marT="18288" marB="18288">
                    <a:solidFill>
                      <a:srgbClr val="FFFFFF"/>
                    </a:solidFill>
                  </a:tcPr>
                </a:tc>
                <a:tc>
                  <a:txBody>
                    <a:bodyPr/>
                    <a:lstStyle/>
                    <a:p>
                      <a:pPr>
                        <a:defRPr sz="950" b="0">
                          <a:solidFill>
                            <a:srgbClr val="000000"/>
                          </a:solidFill>
                          <a:latin typeface="Calibri"/>
                        </a:defRPr>
                      </a:pPr>
                      <a:r>
                        <a:t>1 - keandalan, keandalan U(0,80; 0,99)</a:t>
                      </a:r>
                    </a:p>
                  </a:txBody>
                  <a:tcPr marL="54864" marR="54864" marT="18288" marB="18288">
                    <a:solidFill>
                      <a:srgbClr val="FFFFFF"/>
                    </a:solidFill>
                  </a:tcPr>
                </a:tc>
                <a:tc>
                  <a:txBody>
                    <a:bodyPr/>
                    <a:lstStyle/>
                    <a:p>
                      <a:pPr>
                        <a:defRPr sz="950" b="0">
                          <a:solidFill>
                            <a:srgbClr val="000000"/>
                          </a:solidFill>
                          <a:latin typeface="Calibri"/>
                        </a:defRPr>
                      </a:pPr>
                      <a:r>
                        <a:t>yield QC = 0,72 + 0,26 x keandalan + derau; premium butuh yield &gt;= 0,85 (Grade A)</a:t>
                      </a:r>
                    </a:p>
                  </a:txBody>
                  <a:tcPr marL="54864" marR="54864" marT="18288" marB="18288">
                    <a:solidFill>
                      <a:srgbClr val="FFFFFF"/>
                    </a:solidFill>
                  </a:tcPr>
                </a:tc>
              </a:tr>
              <a:tr h="378460">
                <a:tc>
                  <a:txBody>
                    <a:bodyPr/>
                    <a:lstStyle/>
                    <a:p>
                      <a:pPr>
                        <a:defRPr sz="950" b="0">
                          <a:solidFill>
                            <a:srgbClr val="000000"/>
                          </a:solidFill>
                          <a:latin typeface="Calibri"/>
                        </a:defRPr>
                      </a:pPr>
                      <a:r>
                        <a:t>Surplus</a:t>
                      </a:r>
                    </a:p>
                  </a:txBody>
                  <a:tcPr marL="54864" marR="54864" marT="18288" marB="18288">
                    <a:solidFill>
                      <a:srgbClr val="FFFFFF"/>
                    </a:solidFill>
                  </a:tcPr>
                </a:tc>
                <a:tc>
                  <a:txBody>
                    <a:bodyPr/>
                    <a:lstStyle/>
                    <a:p>
                      <a:pPr>
                        <a:defRPr sz="950" b="0">
                          <a:solidFill>
                            <a:srgbClr val="000000"/>
                          </a:solidFill>
                          <a:latin typeface="Calibri"/>
                        </a:defRPr>
                      </a:pPr>
                      <a:r>
                        <a:t>dijual lokal 60% harga beli</a:t>
                      </a:r>
                    </a:p>
                  </a:txBody>
                  <a:tcPr marL="54864" marR="54864" marT="18288" marB="18288">
                    <a:solidFill>
                      <a:srgbClr val="FFFFFF"/>
                    </a:solidFill>
                  </a:tcPr>
                </a:tc>
                <a:tc>
                  <a:txBody>
                    <a:bodyPr/>
                    <a:lstStyle/>
                    <a:p>
                      <a:pPr>
                        <a:defRPr sz="950" b="0">
                          <a:solidFill>
                            <a:srgbClr val="000000"/>
                          </a:solidFill>
                          <a:latin typeface="Calibri"/>
                        </a:defRPr>
                      </a:pPr>
                      <a:r>
                        <a:t>biaya limbah = 40% harga beli untuk kg surplus</a:t>
                      </a:r>
                    </a:p>
                  </a:txBody>
                  <a:tcPr marL="54864" marR="54864" marT="18288" marB="18288">
                    <a:solidFill>
                      <a:srgbClr val="FFFFFF"/>
                    </a:solidFill>
                  </a:tcPr>
                </a:tc>
              </a:tr>
              <a:tr h="523239">
                <a:tc>
                  <a:txBody>
                    <a:bodyPr/>
                    <a:lstStyle/>
                    <a:p>
                      <a:pPr>
                        <a:defRPr sz="950" b="0">
                          <a:solidFill>
                            <a:srgbClr val="000000"/>
                          </a:solidFill>
                          <a:latin typeface="Calibri"/>
                        </a:defRPr>
                      </a:pPr>
                      <a:r>
                        <a:t>Lini gudang</a:t>
                      </a:r>
                    </a:p>
                  </a:txBody>
                  <a:tcPr marL="54864" marR="54864" marT="18288" marB="18288">
                    <a:solidFill>
                      <a:srgbClr val="FFFFFF"/>
                    </a:solidFill>
                  </a:tcPr>
                </a:tc>
                <a:tc>
                  <a:txBody>
                    <a:bodyPr/>
                    <a:lstStyle/>
                    <a:p>
                      <a:pPr>
                        <a:defRPr sz="950" b="0">
                          <a:solidFill>
                            <a:srgbClr val="000000"/>
                          </a:solidFill>
                          <a:latin typeface="Calibri"/>
                        </a:defRPr>
                      </a:pPr>
                      <a:r>
                        <a:t>2 mesin/tahap; kerusakan 0.035/hari</a:t>
                      </a:r>
                    </a:p>
                  </a:txBody>
                  <a:tcPr marL="54864" marR="54864" marT="18288" marB="18288">
                    <a:solidFill>
                      <a:srgbClr val="FFFFFF"/>
                    </a:solidFill>
                  </a:tcPr>
                </a:tc>
                <a:tc>
                  <a:txBody>
                    <a:bodyPr/>
                    <a:lstStyle/>
                    <a:p>
                      <a:pPr>
                        <a:defRPr sz="950" b="0">
                          <a:solidFill>
                            <a:srgbClr val="000000"/>
                          </a:solidFill>
                          <a:latin typeface="Calibri"/>
                        </a:defRPr>
                      </a:pPr>
                      <a:r>
                        <a:t>lembur x1.35, 45 USD per hari operasi; anggaran 12 tahap per skenario</a:t>
                      </a:r>
                    </a:p>
                  </a:txBody>
                  <a:tcPr marL="54864" marR="54864" marT="18288" marB="18288">
                    <a:solidFill>
                      <a:srgbClr val="FFFFFF"/>
                    </a:solidFill>
                  </a:tcPr>
                </a:tc>
              </a:tr>
              <a:tr h="523239">
                <a:tc>
                  <a:txBody>
                    <a:bodyPr/>
                    <a:lstStyle/>
                    <a:p>
                      <a:pPr>
                        <a:defRPr sz="950" b="0">
                          <a:solidFill>
                            <a:srgbClr val="000000"/>
                          </a:solidFill>
                          <a:latin typeface="Calibri"/>
                        </a:defRPr>
                      </a:pPr>
                      <a:r>
                        <a:t>Penalti keterlambatan</a:t>
                      </a:r>
                    </a:p>
                  </a:txBody>
                  <a:tcPr marL="54864" marR="54864" marT="18288" marB="18288">
                    <a:solidFill>
                      <a:srgbClr val="FFFFFF"/>
                    </a:solidFill>
                  </a:tcPr>
                </a:tc>
                <a:tc>
                  <a:txBody>
                    <a:bodyPr/>
                    <a:lstStyle/>
                    <a:p>
                      <a:pPr>
                        <a:defRPr sz="950" b="0">
                          <a:solidFill>
                            <a:srgbClr val="000000"/>
                          </a:solidFill>
                          <a:latin typeface="Calibri"/>
                        </a:defRPr>
                      </a:pPr>
                      <a:r>
                        <a:t>0,4% nilai/hari + 45 USD/hari (+5% bila &gt; 10 hari)</a:t>
                      </a:r>
                    </a:p>
                  </a:txBody>
                  <a:tcPr marL="54864" marR="54864" marT="18288" marB="18288">
                    <a:solidFill>
                      <a:srgbClr val="FFFFFF"/>
                    </a:solidFill>
                  </a:tcPr>
                </a:tc>
                <a:tc>
                  <a:txBody>
                    <a:bodyPr/>
                    <a:lstStyle/>
                    <a:p>
                      <a:pPr>
                        <a:defRPr sz="950" b="0">
                          <a:solidFill>
                            <a:srgbClr val="000000"/>
                          </a:solidFill>
                          <a:latin typeface="Calibri"/>
                        </a:defRPr>
                      </a:pPr>
                      <a:r>
                        <a:t>ASUMSI; L/C basi dan reputasi tidak dimodelkan</a:t>
                      </a:r>
                    </a:p>
                  </a:txBody>
                  <a:tcPr marL="54864" marR="54864" marT="18288" marB="18288">
                    <a:solidFill>
                      <a:srgbClr val="FFFFFF"/>
                    </a:solidFill>
                  </a:tcPr>
                </a:tc>
              </a:tr>
              <a:tr h="668020">
                <a:tc>
                  <a:txBody>
                    <a:bodyPr/>
                    <a:lstStyle/>
                    <a:p>
                      <a:pPr>
                        <a:defRPr sz="950" b="0">
                          <a:solidFill>
                            <a:srgbClr val="000000"/>
                          </a:solidFill>
                          <a:latin typeface="Calibri"/>
                        </a:defRPr>
                      </a:pPr>
                      <a:r>
                        <a:t>Verifikasi DP</a:t>
                      </a:r>
                    </a:p>
                  </a:txBody>
                  <a:tcPr marL="54864" marR="54864" marT="18288" marB="18288">
                    <a:solidFill>
                      <a:srgbClr val="FFFFFF"/>
                    </a:solidFill>
                  </a:tcPr>
                </a:tc>
                <a:tc>
                  <a:txBody>
                    <a:bodyPr/>
                    <a:lstStyle/>
                    <a:p>
                      <a:pPr>
                        <a:defRPr sz="950" b="0">
                          <a:solidFill>
                            <a:srgbClr val="000000"/>
                          </a:solidFill>
                          <a:latin typeface="Calibri"/>
                        </a:defRPr>
                      </a:pPr>
                      <a:r>
                        <a:t>0.3-1.2 hari, oleh admin</a:t>
                      </a:r>
                    </a:p>
                  </a:txBody>
                  <a:tcPr marL="54864" marR="54864" marT="18288" marB="18288">
                    <a:solidFill>
                      <a:srgbClr val="FFFFFF"/>
                    </a:solidFill>
                  </a:tcPr>
                </a:tc>
                <a:tc>
                  <a:txBody>
                    <a:bodyPr/>
                    <a:lstStyle/>
                    <a:p>
                      <a:pPr>
                        <a:defRPr sz="950" b="0">
                          <a:solidFill>
                            <a:srgbClr val="000000"/>
                          </a:solidFill>
                          <a:latin typeface="Calibri"/>
                        </a:defRPr>
                      </a:pPr>
                      <a:r>
                        <a:t>Rancangan: manusia memverifikasi uang masuk (human-in-the-loop); berlaku pada semua mode</a:t>
                      </a:r>
                    </a:p>
                  </a:txBody>
                  <a:tcPr marL="54864" marR="54864" marT="18288" marB="18288">
                    <a:solidFill>
                      <a:srgbClr val="FFFFFF"/>
                    </a:solidFill>
                  </a:tcPr>
                </a:tc>
              </a:tr>
              <a:tr h="378460">
                <a:tc>
                  <a:txBody>
                    <a:bodyPr/>
                    <a:lstStyle/>
                    <a:p>
                      <a:pPr>
                        <a:defRPr sz="950" b="0">
                          <a:solidFill>
                            <a:srgbClr val="000000"/>
                          </a:solidFill>
                          <a:latin typeface="Calibri"/>
                        </a:defRPr>
                      </a:pPr>
                      <a:r>
                        <a:t>Respons sales</a:t>
                      </a:r>
                    </a:p>
                  </a:txBody>
                  <a:tcPr marL="54864" marR="54864" marT="18288" marB="18288">
                    <a:solidFill>
                      <a:srgbClr val="FFFFFF"/>
                    </a:solidFill>
                  </a:tcPr>
                </a:tc>
                <a:tc>
                  <a:txBody>
                    <a:bodyPr/>
                    <a:lstStyle/>
                    <a:p>
                      <a:pPr>
                        <a:defRPr sz="950" b="0">
                          <a:solidFill>
                            <a:srgbClr val="000000"/>
                          </a:solidFill>
                          <a:latin typeface="Calibri"/>
                        </a:defRPr>
                      </a:pPr>
                      <a:r>
                        <a:t>manual median 0.75 hari; SDR 0.05 hari</a:t>
                      </a:r>
                    </a:p>
                  </a:txBody>
                  <a:tcPr marL="54864" marR="54864" marT="18288" marB="18288">
                    <a:solidFill>
                      <a:srgbClr val="FFFFFF"/>
                    </a:solidFill>
                  </a:tcPr>
                </a:tc>
                <a:tc>
                  <a:txBody>
                    <a:bodyPr/>
                    <a:lstStyle/>
                    <a:p>
                      <a:pPr>
                        <a:defRPr sz="950" b="0">
                          <a:solidFill>
                            <a:srgbClr val="000000"/>
                          </a:solidFill>
                          <a:latin typeface="Calibri"/>
                        </a:defRPr>
                      </a:pPr>
                      <a:r>
                        <a:t>ASUMSI (zona waktu dan jam kantor)</a:t>
                      </a:r>
                    </a:p>
                  </a:txBody>
                  <a:tcPr marL="54864" marR="54864" marT="18288" marB="18288">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8.2 Hasil utama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39</a:t>
            </a:r>
          </a:p>
        </p:txBody>
      </p:sp>
      <p:pic>
        <p:nvPicPr>
          <p:cNvPr id="6" name="Picture 5" descr="fig_main_results.png"/>
          <p:cNvPicPr>
            <a:picLocks noChangeAspect="1"/>
          </p:cNvPicPr>
          <p:nvPr/>
        </p:nvPicPr>
        <p:blipFill>
          <a:blip r:embed="rId2"/>
          <a:stretch>
            <a:fillRect/>
          </a:stretch>
        </p:blipFill>
        <p:spPr>
          <a:xfrm>
            <a:off x="274320" y="1826137"/>
            <a:ext cx="11612880" cy="3708645"/>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8.2 Hasil utama: tabel</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40</a:t>
            </a:r>
          </a:p>
        </p:txBody>
      </p:sp>
      <p:graphicFrame>
        <p:nvGraphicFramePr>
          <p:cNvPr id="6" name="Table 5"/>
          <p:cNvGraphicFramePr>
            <a:graphicFrameLocks noGrp="1"/>
          </p:cNvGraphicFramePr>
          <p:nvPr/>
        </p:nvGraphicFramePr>
        <p:xfrm>
          <a:off x="365760" y="1005840"/>
          <a:ext cx="11338560" cy="3335020"/>
        </p:xfrm>
        <a:graphic>
          <a:graphicData uri="http://schemas.openxmlformats.org/drawingml/2006/table">
            <a:tbl>
              <a:tblPr firstRow="1" bandRow="1">
                <a:tableStyleId>{5C22544A-7EE6-4342-B048-85BDC9FD1C3A}</a:tableStyleId>
              </a:tblPr>
              <a:tblGrid>
                <a:gridCol w="4206240"/>
                <a:gridCol w="2377440"/>
                <a:gridCol w="2377440"/>
                <a:gridCol w="2377440"/>
              </a:tblGrid>
              <a:tr h="256540">
                <a:tc>
                  <a:txBody>
                    <a:bodyPr/>
                    <a:lstStyle/>
                    <a:p>
                      <a:pPr>
                        <a:defRPr sz="1100" b="1">
                          <a:solidFill>
                            <a:srgbClr val="000000"/>
                          </a:solidFill>
                          <a:latin typeface="Calibri"/>
                        </a:defRPr>
                      </a:pPr>
                      <a:r>
                        <a:t>Metrik</a:t>
                      </a:r>
                    </a:p>
                  </a:txBody>
                  <a:tcPr marL="54864" marR="54864" marT="18288" marB="18288">
                    <a:solidFill>
                      <a:srgbClr val="E5E7EB"/>
                    </a:solidFill>
                  </a:tcPr>
                </a:tc>
                <a:tc>
                  <a:txBody>
                    <a:bodyPr/>
                    <a:lstStyle/>
                    <a:p>
                      <a:pPr>
                        <a:defRPr sz="1100" b="1">
                          <a:solidFill>
                            <a:srgbClr val="000000"/>
                          </a:solidFill>
                          <a:latin typeface="Calibri"/>
                        </a:defRPr>
                      </a:pPr>
                      <a:r>
                        <a:t>Manual (admin WhatsApp)</a:t>
                      </a:r>
                    </a:p>
                  </a:txBody>
                  <a:tcPr marL="54864" marR="54864" marT="18288" marB="18288">
                    <a:solidFill>
                      <a:srgbClr val="E5E7EB"/>
                    </a:solidFill>
                  </a:tcPr>
                </a:tc>
                <a:tc>
                  <a:txBody>
                    <a:bodyPr/>
                    <a:lstStyle/>
                    <a:p>
                      <a:pPr>
                        <a:defRPr sz="1100" b="1">
                          <a:solidFill>
                            <a:srgbClr val="000000"/>
                          </a:solidFill>
                          <a:latin typeface="Calibri"/>
                        </a:defRPr>
                      </a:pPr>
                      <a:r>
                        <a:t>Agen tunggal (registry)</a:t>
                      </a:r>
                    </a:p>
                  </a:txBody>
                  <a:tcPr marL="54864" marR="54864" marT="18288" marB="18288">
                    <a:solidFill>
                      <a:srgbClr val="E5E7EB"/>
                    </a:solidFill>
                  </a:tcPr>
                </a:tc>
                <a:tc>
                  <a:txBody>
                    <a:bodyPr/>
                    <a:lstStyle/>
                    <a:p>
                      <a:pPr>
                        <a:defRPr sz="1100" b="1">
                          <a:solidFill>
                            <a:srgbClr val="000000"/>
                          </a:solidFill>
                          <a:latin typeface="Calibri"/>
                        </a:defRPr>
                      </a:pPr>
                      <a:r>
                        <a:t>Multi-agen (bid live)</a:t>
                      </a:r>
                    </a:p>
                  </a:txBody>
                  <a:tcPr marL="54864" marR="54864" marT="18288" marB="18288">
                    <a:solidFill>
                      <a:srgbClr val="E5E7EB"/>
                    </a:solidFill>
                  </a:tcPr>
                </a:tc>
              </a:tr>
              <a:tr h="256540">
                <a:tc>
                  <a:txBody>
                    <a:bodyPr/>
                    <a:lstStyle/>
                    <a:p>
                      <a:pPr>
                        <a:defRPr sz="1100" b="0">
                          <a:solidFill>
                            <a:srgbClr val="000000"/>
                          </a:solidFill>
                          <a:latin typeface="Calibri"/>
                        </a:defRPr>
                      </a:pPr>
                      <a:r>
                        <a:t>OTIF (tepat waktu dan terisi)</a:t>
                      </a:r>
                    </a:p>
                  </a:txBody>
                  <a:tcPr marL="54864" marR="54864" marT="18288" marB="18288">
                    <a:solidFill>
                      <a:srgbClr val="FFFFFF"/>
                    </a:solidFill>
                  </a:tcPr>
                </a:tc>
                <a:tc>
                  <a:txBody>
                    <a:bodyPr/>
                    <a:lstStyle/>
                    <a:p>
                      <a:pPr>
                        <a:defRPr sz="1100" b="0">
                          <a:solidFill>
                            <a:srgbClr val="000000"/>
                          </a:solidFill>
                          <a:latin typeface="Calibri"/>
                        </a:defRPr>
                      </a:pPr>
                      <a:r>
                        <a:t>2,8%</a:t>
                      </a:r>
                    </a:p>
                  </a:txBody>
                  <a:tcPr marL="54864" marR="54864" marT="18288" marB="18288">
                    <a:solidFill>
                      <a:srgbClr val="FFFFFF"/>
                    </a:solidFill>
                  </a:tcPr>
                </a:tc>
                <a:tc>
                  <a:txBody>
                    <a:bodyPr/>
                    <a:lstStyle/>
                    <a:p>
                      <a:pPr>
                        <a:defRPr sz="1100" b="0">
                          <a:solidFill>
                            <a:srgbClr val="000000"/>
                          </a:solidFill>
                          <a:latin typeface="Calibri"/>
                        </a:defRPr>
                      </a:pPr>
                      <a:r>
                        <a:t>45,2%</a:t>
                      </a:r>
                    </a:p>
                  </a:txBody>
                  <a:tcPr marL="54864" marR="54864" marT="18288" marB="18288">
                    <a:solidFill>
                      <a:srgbClr val="FFFFFF"/>
                    </a:solidFill>
                  </a:tcPr>
                </a:tc>
                <a:tc>
                  <a:txBody>
                    <a:bodyPr/>
                    <a:lstStyle/>
                    <a:p>
                      <a:pPr>
                        <a:defRPr sz="1100" b="0">
                          <a:solidFill>
                            <a:srgbClr val="000000"/>
                          </a:solidFill>
                          <a:latin typeface="Calibri"/>
                        </a:defRPr>
                      </a:pPr>
                      <a:r>
                        <a:t>51,7%</a:t>
                      </a:r>
                    </a:p>
                  </a:txBody>
                  <a:tcPr marL="54864" marR="54864" marT="18288" marB="18288">
                    <a:solidFill>
                      <a:srgbClr val="FFFFFF"/>
                    </a:solidFill>
                  </a:tcPr>
                </a:tc>
              </a:tr>
              <a:tr h="256540">
                <a:tc>
                  <a:txBody>
                    <a:bodyPr/>
                    <a:lstStyle/>
                    <a:p>
                      <a:pPr>
                        <a:defRPr sz="1100" b="0">
                          <a:solidFill>
                            <a:srgbClr val="000000"/>
                          </a:solidFill>
                          <a:latin typeface="Calibri"/>
                        </a:defRPr>
                      </a:pPr>
                      <a:r>
                        <a:t>Tepat waktu</a:t>
                      </a:r>
                    </a:p>
                  </a:txBody>
                  <a:tcPr marL="54864" marR="54864" marT="18288" marB="18288">
                    <a:solidFill>
                      <a:srgbClr val="FFFFFF"/>
                    </a:solidFill>
                  </a:tcPr>
                </a:tc>
                <a:tc>
                  <a:txBody>
                    <a:bodyPr/>
                    <a:lstStyle/>
                    <a:p>
                      <a:pPr>
                        <a:defRPr sz="1100" b="0">
                          <a:solidFill>
                            <a:srgbClr val="000000"/>
                          </a:solidFill>
                          <a:latin typeface="Calibri"/>
                        </a:defRPr>
                      </a:pPr>
                      <a:r>
                        <a:t>42,7%</a:t>
                      </a:r>
                    </a:p>
                  </a:txBody>
                  <a:tcPr marL="54864" marR="54864" marT="18288" marB="18288">
                    <a:solidFill>
                      <a:srgbClr val="FFFFFF"/>
                    </a:solidFill>
                  </a:tcPr>
                </a:tc>
                <a:tc>
                  <a:txBody>
                    <a:bodyPr/>
                    <a:lstStyle/>
                    <a:p>
                      <a:pPr>
                        <a:defRPr sz="1100" b="0">
                          <a:solidFill>
                            <a:srgbClr val="000000"/>
                          </a:solidFill>
                          <a:latin typeface="Calibri"/>
                        </a:defRPr>
                      </a:pPr>
                      <a:r>
                        <a:t>84,5%</a:t>
                      </a:r>
                    </a:p>
                  </a:txBody>
                  <a:tcPr marL="54864" marR="54864" marT="18288" marB="18288">
                    <a:solidFill>
                      <a:srgbClr val="FFFFFF"/>
                    </a:solidFill>
                  </a:tcPr>
                </a:tc>
                <a:tc>
                  <a:txBody>
                    <a:bodyPr/>
                    <a:lstStyle/>
                    <a:p>
                      <a:pPr>
                        <a:defRPr sz="1100" b="0">
                          <a:solidFill>
                            <a:srgbClr val="000000"/>
                          </a:solidFill>
                          <a:latin typeface="Calibri"/>
                        </a:defRPr>
                      </a:pPr>
                      <a:r>
                        <a:t>85,3%</a:t>
                      </a:r>
                    </a:p>
                  </a:txBody>
                  <a:tcPr marL="54864" marR="54864" marT="18288" marB="18288">
                    <a:solidFill>
                      <a:srgbClr val="FFFFFF"/>
                    </a:solidFill>
                  </a:tcPr>
                </a:tc>
              </a:tr>
              <a:tr h="256540">
                <a:tc>
                  <a:txBody>
                    <a:bodyPr/>
                    <a:lstStyle/>
                    <a:p>
                      <a:pPr>
                        <a:defRPr sz="1100" b="0">
                          <a:solidFill>
                            <a:srgbClr val="000000"/>
                          </a:solidFill>
                          <a:latin typeface="Calibri"/>
                        </a:defRPr>
                      </a:pPr>
                      <a:r>
                        <a:t>Fill rate</a:t>
                      </a:r>
                    </a:p>
                  </a:txBody>
                  <a:tcPr marL="54864" marR="54864" marT="18288" marB="18288">
                    <a:solidFill>
                      <a:srgbClr val="FFFFFF"/>
                    </a:solidFill>
                  </a:tcPr>
                </a:tc>
                <a:tc>
                  <a:txBody>
                    <a:bodyPr/>
                    <a:lstStyle/>
                    <a:p>
                      <a:pPr>
                        <a:defRPr sz="1100" b="0">
                          <a:solidFill>
                            <a:srgbClr val="000000"/>
                          </a:solidFill>
                          <a:latin typeface="Calibri"/>
                        </a:defRPr>
                      </a:pPr>
                      <a:r>
                        <a:t>78,6%</a:t>
                      </a:r>
                    </a:p>
                  </a:txBody>
                  <a:tcPr marL="54864" marR="54864" marT="18288" marB="18288">
                    <a:solidFill>
                      <a:srgbClr val="FFFFFF"/>
                    </a:solidFill>
                  </a:tcPr>
                </a:tc>
                <a:tc>
                  <a:txBody>
                    <a:bodyPr/>
                    <a:lstStyle/>
                    <a:p>
                      <a:pPr>
                        <a:defRPr sz="1100" b="0">
                          <a:solidFill>
                            <a:srgbClr val="000000"/>
                          </a:solidFill>
                          <a:latin typeface="Calibri"/>
                        </a:defRPr>
                      </a:pPr>
                      <a:r>
                        <a:t>94,4%</a:t>
                      </a:r>
                    </a:p>
                  </a:txBody>
                  <a:tcPr marL="54864" marR="54864" marT="18288" marB="18288">
                    <a:solidFill>
                      <a:srgbClr val="FFFFFF"/>
                    </a:solidFill>
                  </a:tcPr>
                </a:tc>
                <a:tc>
                  <a:txBody>
                    <a:bodyPr/>
                    <a:lstStyle/>
                    <a:p>
                      <a:pPr>
                        <a:defRPr sz="1100" b="0">
                          <a:solidFill>
                            <a:srgbClr val="000000"/>
                          </a:solidFill>
                          <a:latin typeface="Calibri"/>
                        </a:defRPr>
                      </a:pPr>
                      <a:r>
                        <a:t>95,4%</a:t>
                      </a:r>
                    </a:p>
                  </a:txBody>
                  <a:tcPr marL="54864" marR="54864" marT="18288" marB="18288">
                    <a:solidFill>
                      <a:srgbClr val="FFFFFF"/>
                    </a:solidFill>
                  </a:tcPr>
                </a:tc>
              </a:tr>
              <a:tr h="256540">
                <a:tc>
                  <a:txBody>
                    <a:bodyPr/>
                    <a:lstStyle/>
                    <a:p>
                      <a:pPr>
                        <a:defRPr sz="1100" b="0">
                          <a:solidFill>
                            <a:srgbClr val="000000"/>
                          </a:solidFill>
                          <a:latin typeface="Calibri"/>
                        </a:defRPr>
                      </a:pPr>
                      <a:r>
                        <a:t>Rata-rata hari terlambat</a:t>
                      </a:r>
                    </a:p>
                  </a:txBody>
                  <a:tcPr marL="54864" marR="54864" marT="18288" marB="18288">
                    <a:solidFill>
                      <a:srgbClr val="FFFFFF"/>
                    </a:solidFill>
                  </a:tcPr>
                </a:tc>
                <a:tc>
                  <a:txBody>
                    <a:bodyPr/>
                    <a:lstStyle/>
                    <a:p>
                      <a:pPr>
                        <a:defRPr sz="1100" b="0">
                          <a:solidFill>
                            <a:srgbClr val="000000"/>
                          </a:solidFill>
                          <a:latin typeface="Calibri"/>
                        </a:defRPr>
                      </a:pPr>
                      <a:r>
                        <a:t>3,56</a:t>
                      </a:r>
                    </a:p>
                  </a:txBody>
                  <a:tcPr marL="54864" marR="54864" marT="18288" marB="18288">
                    <a:solidFill>
                      <a:srgbClr val="FFFFFF"/>
                    </a:solidFill>
                  </a:tcPr>
                </a:tc>
                <a:tc>
                  <a:txBody>
                    <a:bodyPr/>
                    <a:lstStyle/>
                    <a:p>
                      <a:pPr>
                        <a:defRPr sz="1100" b="0">
                          <a:solidFill>
                            <a:srgbClr val="000000"/>
                          </a:solidFill>
                          <a:latin typeface="Calibri"/>
                        </a:defRPr>
                      </a:pPr>
                      <a:r>
                        <a:t>0,82</a:t>
                      </a:r>
                    </a:p>
                  </a:txBody>
                  <a:tcPr marL="54864" marR="54864" marT="18288" marB="18288">
                    <a:solidFill>
                      <a:srgbClr val="FFFFFF"/>
                    </a:solidFill>
                  </a:tcPr>
                </a:tc>
                <a:tc>
                  <a:txBody>
                    <a:bodyPr/>
                    <a:lstStyle/>
                    <a:p>
                      <a:pPr>
                        <a:defRPr sz="1100" b="0">
                          <a:solidFill>
                            <a:srgbClr val="000000"/>
                          </a:solidFill>
                          <a:latin typeface="Calibri"/>
                        </a:defRPr>
                      </a:pPr>
                      <a:r>
                        <a:t>0,77</a:t>
                      </a:r>
                    </a:p>
                  </a:txBody>
                  <a:tcPr marL="54864" marR="54864" marT="18288" marB="18288">
                    <a:solidFill>
                      <a:srgbClr val="FFFFFF"/>
                    </a:solidFill>
                  </a:tcPr>
                </a:tc>
              </a:tr>
              <a:tr h="256540">
                <a:tc>
                  <a:txBody>
                    <a:bodyPr/>
                    <a:lstStyle/>
                    <a:p>
                      <a:pPr>
                        <a:defRPr sz="1100" b="0">
                          <a:solidFill>
                            <a:srgbClr val="000000"/>
                          </a:solidFill>
                          <a:latin typeface="Calibri"/>
                        </a:defRPr>
                      </a:pPr>
                      <a:r>
                        <a:t>Margin per order (USD)</a:t>
                      </a:r>
                    </a:p>
                  </a:txBody>
                  <a:tcPr marL="54864" marR="54864" marT="18288" marB="18288">
                    <a:solidFill>
                      <a:srgbClr val="FFFFFF"/>
                    </a:solidFill>
                  </a:tcPr>
                </a:tc>
                <a:tc>
                  <a:txBody>
                    <a:bodyPr/>
                    <a:lstStyle/>
                    <a:p>
                      <a:pPr>
                        <a:defRPr sz="1100" b="0">
                          <a:solidFill>
                            <a:srgbClr val="000000"/>
                          </a:solidFill>
                          <a:latin typeface="Calibri"/>
                        </a:defRPr>
                      </a:pPr>
                      <a:r>
                        <a:t>4.199</a:t>
                      </a:r>
                    </a:p>
                  </a:txBody>
                  <a:tcPr marL="54864" marR="54864" marT="18288" marB="18288">
                    <a:solidFill>
                      <a:srgbClr val="FFFFFF"/>
                    </a:solidFill>
                  </a:tcPr>
                </a:tc>
                <a:tc>
                  <a:txBody>
                    <a:bodyPr/>
                    <a:lstStyle/>
                    <a:p>
                      <a:pPr>
                        <a:defRPr sz="1100" b="0">
                          <a:solidFill>
                            <a:srgbClr val="000000"/>
                          </a:solidFill>
                          <a:latin typeface="Calibri"/>
                        </a:defRPr>
                      </a:pPr>
                      <a:r>
                        <a:t>6.925</a:t>
                      </a:r>
                    </a:p>
                  </a:txBody>
                  <a:tcPr marL="54864" marR="54864" marT="18288" marB="18288">
                    <a:solidFill>
                      <a:srgbClr val="FFFFFF"/>
                    </a:solidFill>
                  </a:tcPr>
                </a:tc>
                <a:tc>
                  <a:txBody>
                    <a:bodyPr/>
                    <a:lstStyle/>
                    <a:p>
                      <a:pPr>
                        <a:defRPr sz="1100" b="0">
                          <a:solidFill>
                            <a:srgbClr val="000000"/>
                          </a:solidFill>
                          <a:latin typeface="Calibri"/>
                        </a:defRPr>
                      </a:pPr>
                      <a:r>
                        <a:t>7.050</a:t>
                      </a:r>
                    </a:p>
                  </a:txBody>
                  <a:tcPr marL="54864" marR="54864" marT="18288" marB="18288">
                    <a:solidFill>
                      <a:srgbClr val="FFFFFF"/>
                    </a:solidFill>
                  </a:tcPr>
                </a:tc>
              </a:tr>
              <a:tr h="256540">
                <a:tc>
                  <a:txBody>
                    <a:bodyPr/>
                    <a:lstStyle/>
                    <a:p>
                      <a:pPr>
                        <a:defRPr sz="1100" b="0">
                          <a:solidFill>
                            <a:srgbClr val="000000"/>
                          </a:solidFill>
                          <a:latin typeface="Calibri"/>
                        </a:defRPr>
                      </a:pPr>
                      <a:r>
                        <a:t>Biaya sourcing per order</a:t>
                      </a:r>
                    </a:p>
                  </a:txBody>
                  <a:tcPr marL="54864" marR="54864" marT="18288" marB="18288">
                    <a:solidFill>
                      <a:srgbClr val="FFFFFF"/>
                    </a:solidFill>
                  </a:tcPr>
                </a:tc>
                <a:tc>
                  <a:txBody>
                    <a:bodyPr/>
                    <a:lstStyle/>
                    <a:p>
                      <a:pPr>
                        <a:defRPr sz="1100" b="0">
                          <a:solidFill>
                            <a:srgbClr val="000000"/>
                          </a:solidFill>
                          <a:latin typeface="Calibri"/>
                        </a:defRPr>
                      </a:pPr>
                      <a:r>
                        <a:t>10.396</a:t>
                      </a:r>
                    </a:p>
                  </a:txBody>
                  <a:tcPr marL="54864" marR="54864" marT="18288" marB="18288">
                    <a:solidFill>
                      <a:srgbClr val="FFFFFF"/>
                    </a:solidFill>
                  </a:tcPr>
                </a:tc>
                <a:tc>
                  <a:txBody>
                    <a:bodyPr/>
                    <a:lstStyle/>
                    <a:p>
                      <a:pPr>
                        <a:defRPr sz="1100" b="0">
                          <a:solidFill>
                            <a:srgbClr val="000000"/>
                          </a:solidFill>
                          <a:latin typeface="Calibri"/>
                        </a:defRPr>
                      </a:pPr>
                      <a:r>
                        <a:t>12.373</a:t>
                      </a:r>
                    </a:p>
                  </a:txBody>
                  <a:tcPr marL="54864" marR="54864" marT="18288" marB="18288">
                    <a:solidFill>
                      <a:srgbClr val="FFFFFF"/>
                    </a:solidFill>
                  </a:tcPr>
                </a:tc>
                <a:tc>
                  <a:txBody>
                    <a:bodyPr/>
                    <a:lstStyle/>
                    <a:p>
                      <a:pPr>
                        <a:defRPr sz="1100" b="0">
                          <a:solidFill>
                            <a:srgbClr val="000000"/>
                          </a:solidFill>
                          <a:latin typeface="Calibri"/>
                        </a:defRPr>
                      </a:pPr>
                      <a:r>
                        <a:t>12.529</a:t>
                      </a:r>
                    </a:p>
                  </a:txBody>
                  <a:tcPr marL="54864" marR="54864" marT="18288" marB="18288">
                    <a:solidFill>
                      <a:srgbClr val="FFFFFF"/>
                    </a:solidFill>
                  </a:tcPr>
                </a:tc>
              </a:tr>
              <a:tr h="256540">
                <a:tc>
                  <a:txBody>
                    <a:bodyPr/>
                    <a:lstStyle/>
                    <a:p>
                      <a:pPr>
                        <a:defRPr sz="1100" b="0">
                          <a:solidFill>
                            <a:srgbClr val="000000"/>
                          </a:solidFill>
                          <a:latin typeface="Calibri"/>
                        </a:defRPr>
                      </a:pPr>
                      <a:r>
                        <a:t>Freight per order</a:t>
                      </a:r>
                    </a:p>
                  </a:txBody>
                  <a:tcPr marL="54864" marR="54864" marT="18288" marB="18288">
                    <a:solidFill>
                      <a:srgbClr val="FFFFFF"/>
                    </a:solidFill>
                  </a:tcPr>
                </a:tc>
                <a:tc>
                  <a:txBody>
                    <a:bodyPr/>
                    <a:lstStyle/>
                    <a:p>
                      <a:pPr>
                        <a:defRPr sz="1100" b="0">
                          <a:solidFill>
                            <a:srgbClr val="000000"/>
                          </a:solidFill>
                          <a:latin typeface="Calibri"/>
                        </a:defRPr>
                      </a:pPr>
                      <a:r>
                        <a:t>2.678</a:t>
                      </a:r>
                    </a:p>
                  </a:txBody>
                  <a:tcPr marL="54864" marR="54864" marT="18288" marB="18288">
                    <a:solidFill>
                      <a:srgbClr val="FFFFFF"/>
                    </a:solidFill>
                  </a:tcPr>
                </a:tc>
                <a:tc>
                  <a:txBody>
                    <a:bodyPr/>
                    <a:lstStyle/>
                    <a:p>
                      <a:pPr>
                        <a:defRPr sz="1100" b="0">
                          <a:solidFill>
                            <a:srgbClr val="000000"/>
                          </a:solidFill>
                          <a:latin typeface="Calibri"/>
                        </a:defRPr>
                      </a:pPr>
                      <a:r>
                        <a:t>2.743</a:t>
                      </a:r>
                    </a:p>
                  </a:txBody>
                  <a:tcPr marL="54864" marR="54864" marT="18288" marB="18288">
                    <a:solidFill>
                      <a:srgbClr val="FFFFFF"/>
                    </a:solidFill>
                  </a:tcPr>
                </a:tc>
                <a:tc>
                  <a:txBody>
                    <a:bodyPr/>
                    <a:lstStyle/>
                    <a:p>
                      <a:pPr>
                        <a:defRPr sz="1100" b="0">
                          <a:solidFill>
                            <a:srgbClr val="000000"/>
                          </a:solidFill>
                          <a:latin typeface="Calibri"/>
                        </a:defRPr>
                      </a:pPr>
                      <a:r>
                        <a:t>2.724</a:t>
                      </a:r>
                    </a:p>
                  </a:txBody>
                  <a:tcPr marL="54864" marR="54864" marT="18288" marB="18288">
                    <a:solidFill>
                      <a:srgbClr val="FFFFFF"/>
                    </a:solidFill>
                  </a:tcPr>
                </a:tc>
              </a:tr>
              <a:tr h="256540">
                <a:tc>
                  <a:txBody>
                    <a:bodyPr/>
                    <a:lstStyle/>
                    <a:p>
                      <a:pPr>
                        <a:defRPr sz="1100" b="0">
                          <a:solidFill>
                            <a:srgbClr val="000000"/>
                          </a:solidFill>
                          <a:latin typeface="Calibri"/>
                        </a:defRPr>
                      </a:pPr>
                      <a:r>
                        <a:t>Penalti per order</a:t>
                      </a:r>
                    </a:p>
                  </a:txBody>
                  <a:tcPr marL="54864" marR="54864" marT="18288" marB="18288">
                    <a:solidFill>
                      <a:srgbClr val="FFFFFF"/>
                    </a:solidFill>
                  </a:tcPr>
                </a:tc>
                <a:tc>
                  <a:txBody>
                    <a:bodyPr/>
                    <a:lstStyle/>
                    <a:p>
                      <a:pPr>
                        <a:defRPr sz="1100" b="0">
                          <a:solidFill>
                            <a:srgbClr val="000000"/>
                          </a:solidFill>
                          <a:latin typeface="Calibri"/>
                        </a:defRPr>
                      </a:pPr>
                      <a:r>
                        <a:t>584</a:t>
                      </a:r>
                    </a:p>
                  </a:txBody>
                  <a:tcPr marL="54864" marR="54864" marT="18288" marB="18288">
                    <a:solidFill>
                      <a:srgbClr val="FFFFFF"/>
                    </a:solidFill>
                  </a:tcPr>
                </a:tc>
                <a:tc>
                  <a:txBody>
                    <a:bodyPr/>
                    <a:lstStyle/>
                    <a:p>
                      <a:pPr>
                        <a:defRPr sz="1100" b="0">
                          <a:solidFill>
                            <a:srgbClr val="000000"/>
                          </a:solidFill>
                          <a:latin typeface="Calibri"/>
                        </a:defRPr>
                      </a:pPr>
                      <a:r>
                        <a:t>115</a:t>
                      </a:r>
                    </a:p>
                  </a:txBody>
                  <a:tcPr marL="54864" marR="54864" marT="18288" marB="18288">
                    <a:solidFill>
                      <a:srgbClr val="FFFFFF"/>
                    </a:solidFill>
                  </a:tcPr>
                </a:tc>
                <a:tc>
                  <a:txBody>
                    <a:bodyPr/>
                    <a:lstStyle/>
                    <a:p>
                      <a:pPr>
                        <a:defRPr sz="1100" b="0">
                          <a:solidFill>
                            <a:srgbClr val="000000"/>
                          </a:solidFill>
                          <a:latin typeface="Calibri"/>
                        </a:defRPr>
                      </a:pPr>
                      <a:r>
                        <a:t>107</a:t>
                      </a:r>
                    </a:p>
                  </a:txBody>
                  <a:tcPr marL="54864" marR="54864" marT="18288" marB="18288">
                    <a:solidFill>
                      <a:srgbClr val="FFFFFF"/>
                    </a:solidFill>
                  </a:tcPr>
                </a:tc>
              </a:tr>
              <a:tr h="256540">
                <a:tc>
                  <a:txBody>
                    <a:bodyPr/>
                    <a:lstStyle/>
                    <a:p>
                      <a:pPr>
                        <a:defRPr sz="1100" b="0">
                          <a:solidFill>
                            <a:srgbClr val="000000"/>
                          </a:solidFill>
                          <a:latin typeface="Calibri"/>
                        </a:defRPr>
                      </a:pPr>
                      <a:r>
                        <a:t>Limbah surplus per order</a:t>
                      </a:r>
                    </a:p>
                  </a:txBody>
                  <a:tcPr marL="54864" marR="54864" marT="18288" marB="18288">
                    <a:solidFill>
                      <a:srgbClr val="FFFFFF"/>
                    </a:solidFill>
                  </a:tcPr>
                </a:tc>
                <a:tc>
                  <a:txBody>
                    <a:bodyPr/>
                    <a:lstStyle/>
                    <a:p>
                      <a:pPr>
                        <a:defRPr sz="1100" b="0">
                          <a:solidFill>
                            <a:srgbClr val="000000"/>
                          </a:solidFill>
                          <a:latin typeface="Calibri"/>
                        </a:defRPr>
                      </a:pPr>
                      <a:r>
                        <a:t>1</a:t>
                      </a:r>
                    </a:p>
                  </a:txBody>
                  <a:tcPr marL="54864" marR="54864" marT="18288" marB="18288">
                    <a:solidFill>
                      <a:srgbClr val="FFFFFF"/>
                    </a:solidFill>
                  </a:tcPr>
                </a:tc>
                <a:tc>
                  <a:txBody>
                    <a:bodyPr/>
                    <a:lstStyle/>
                    <a:p>
                      <a:pPr>
                        <a:defRPr sz="1100" b="0">
                          <a:solidFill>
                            <a:srgbClr val="000000"/>
                          </a:solidFill>
                          <a:latin typeface="Calibri"/>
                        </a:defRPr>
                      </a:pPr>
                      <a:r>
                        <a:t>120</a:t>
                      </a:r>
                    </a:p>
                  </a:txBody>
                  <a:tcPr marL="54864" marR="54864" marT="18288" marB="18288">
                    <a:solidFill>
                      <a:srgbClr val="FFFFFF"/>
                    </a:solidFill>
                  </a:tcPr>
                </a:tc>
                <a:tc>
                  <a:txBody>
                    <a:bodyPr/>
                    <a:lstStyle/>
                    <a:p>
                      <a:pPr>
                        <a:defRPr sz="1100" b="0">
                          <a:solidFill>
                            <a:srgbClr val="000000"/>
                          </a:solidFill>
                          <a:latin typeface="Calibri"/>
                        </a:defRPr>
                      </a:pPr>
                      <a:r>
                        <a:t>133</a:t>
                      </a:r>
                    </a:p>
                  </a:txBody>
                  <a:tcPr marL="54864" marR="54864" marT="18288" marB="18288">
                    <a:solidFill>
                      <a:srgbClr val="FFFFFF"/>
                    </a:solidFill>
                  </a:tcPr>
                </a:tc>
              </a:tr>
              <a:tr h="256540">
                <a:tc>
                  <a:txBody>
                    <a:bodyPr/>
                    <a:lstStyle/>
                    <a:p>
                      <a:pPr>
                        <a:defRPr sz="1100" b="0">
                          <a:solidFill>
                            <a:srgbClr val="000000"/>
                          </a:solidFill>
                          <a:latin typeface="Calibri"/>
                        </a:defRPr>
                      </a:pPr>
                      <a:r>
                        <a:t>Sentuhan manusia per order</a:t>
                      </a:r>
                    </a:p>
                  </a:txBody>
                  <a:tcPr marL="54864" marR="54864" marT="18288" marB="18288">
                    <a:solidFill>
                      <a:srgbClr val="FFFFFF"/>
                    </a:solidFill>
                  </a:tcPr>
                </a:tc>
                <a:tc>
                  <a:txBody>
                    <a:bodyPr/>
                    <a:lstStyle/>
                    <a:p>
                      <a:pPr>
                        <a:defRPr sz="1100" b="0">
                          <a:solidFill>
                            <a:srgbClr val="000000"/>
                          </a:solidFill>
                          <a:latin typeface="Calibri"/>
                        </a:defRPr>
                      </a:pPr>
                      <a:r>
                        <a:t>78,4</a:t>
                      </a:r>
                    </a:p>
                  </a:txBody>
                  <a:tcPr marL="54864" marR="54864" marT="18288" marB="18288">
                    <a:solidFill>
                      <a:srgbClr val="FFFFFF"/>
                    </a:solidFill>
                  </a:tcPr>
                </a:tc>
                <a:tc>
                  <a:txBody>
                    <a:bodyPr/>
                    <a:lstStyle/>
                    <a:p>
                      <a:pPr>
                        <a:defRPr sz="1100" b="0">
                          <a:solidFill>
                            <a:srgbClr val="000000"/>
                          </a:solidFill>
                          <a:latin typeface="Calibri"/>
                        </a:defRPr>
                      </a:pPr>
                      <a:r>
                        <a:t>1,3</a:t>
                      </a:r>
                    </a:p>
                  </a:txBody>
                  <a:tcPr marL="54864" marR="54864" marT="18288" marB="18288">
                    <a:solidFill>
                      <a:srgbClr val="FFFFFF"/>
                    </a:solidFill>
                  </a:tcPr>
                </a:tc>
                <a:tc>
                  <a:txBody>
                    <a:bodyPr/>
                    <a:lstStyle/>
                    <a:p>
                      <a:pPr>
                        <a:defRPr sz="1100" b="0">
                          <a:solidFill>
                            <a:srgbClr val="000000"/>
                          </a:solidFill>
                          <a:latin typeface="Calibri"/>
                        </a:defRPr>
                      </a:pPr>
                      <a:r>
                        <a:t>1,3</a:t>
                      </a:r>
                    </a:p>
                  </a:txBody>
                  <a:tcPr marL="54864" marR="54864" marT="18288" marB="18288">
                    <a:solidFill>
                      <a:srgbClr val="FFFFFF"/>
                    </a:solidFill>
                  </a:tcPr>
                </a:tc>
              </a:tr>
              <a:tr h="256540">
                <a:tc>
                  <a:txBody>
                    <a:bodyPr/>
                    <a:lstStyle/>
                    <a:p>
                      <a:pPr>
                        <a:defRPr sz="1100" b="0">
                          <a:solidFill>
                            <a:srgbClr val="000000"/>
                          </a:solidFill>
                          <a:latin typeface="Calibri"/>
                        </a:defRPr>
                      </a:pPr>
                      <a:r>
                        <a:t>Kesalahan HS</a:t>
                      </a:r>
                    </a:p>
                  </a:txBody>
                  <a:tcPr marL="54864" marR="54864" marT="18288" marB="18288">
                    <a:solidFill>
                      <a:srgbClr val="FFFFFF"/>
                    </a:solidFill>
                  </a:tcPr>
                </a:tc>
                <a:tc>
                  <a:txBody>
                    <a:bodyPr/>
                    <a:lstStyle/>
                    <a:p>
                      <a:pPr>
                        <a:defRPr sz="1100" b="0">
                          <a:solidFill>
                            <a:srgbClr val="000000"/>
                          </a:solidFill>
                          <a:latin typeface="Calibri"/>
                        </a:defRPr>
                      </a:pPr>
                      <a:r>
                        <a:t>8,6%</a:t>
                      </a:r>
                    </a:p>
                  </a:txBody>
                  <a:tcPr marL="54864" marR="54864" marT="18288" marB="18288">
                    <a:solidFill>
                      <a:srgbClr val="FFFFFF"/>
                    </a:solidFill>
                  </a:tcPr>
                </a:tc>
                <a:tc>
                  <a:txBody>
                    <a:bodyPr/>
                    <a:lstStyle/>
                    <a:p>
                      <a:pPr>
                        <a:defRPr sz="1100" b="0">
                          <a:solidFill>
                            <a:srgbClr val="000000"/>
                          </a:solidFill>
                          <a:latin typeface="Calibri"/>
                        </a:defRPr>
                      </a:pPr>
                      <a:r>
                        <a:t>1,0%</a:t>
                      </a:r>
                    </a:p>
                  </a:txBody>
                  <a:tcPr marL="54864" marR="54864" marT="18288" marB="18288">
                    <a:solidFill>
                      <a:srgbClr val="FFFFFF"/>
                    </a:solidFill>
                  </a:tcPr>
                </a:tc>
                <a:tc>
                  <a:txBody>
                    <a:bodyPr/>
                    <a:lstStyle/>
                    <a:p>
                      <a:pPr>
                        <a:defRPr sz="1100" b="0">
                          <a:solidFill>
                            <a:srgbClr val="000000"/>
                          </a:solidFill>
                          <a:latin typeface="Calibri"/>
                        </a:defRPr>
                      </a:pPr>
                      <a:r>
                        <a:t>1,0%</a:t>
                      </a:r>
                    </a:p>
                  </a:txBody>
                  <a:tcPr marL="54864" marR="54864" marT="18288" marB="18288">
                    <a:solidFill>
                      <a:srgbClr val="FFFFFF"/>
                    </a:solidFill>
                  </a:tcPr>
                </a:tc>
              </a:tr>
              <a:tr h="256540">
                <a:tc>
                  <a:txBody>
                    <a:bodyPr/>
                    <a:lstStyle/>
                    <a:p>
                      <a:pPr>
                        <a:defRPr sz="1100" b="0">
                          <a:solidFill>
                            <a:srgbClr val="000000"/>
                          </a:solidFill>
                          <a:latin typeface="Calibri"/>
                        </a:defRPr>
                      </a:pPr>
                      <a:r>
                        <a:t>Putaran sourcing per order</a:t>
                      </a:r>
                    </a:p>
                  </a:txBody>
                  <a:tcPr marL="54864" marR="54864" marT="18288" marB="18288">
                    <a:solidFill>
                      <a:srgbClr val="FFFFFF"/>
                    </a:solidFill>
                  </a:tcPr>
                </a:tc>
                <a:tc>
                  <a:txBody>
                    <a:bodyPr/>
                    <a:lstStyle/>
                    <a:p>
                      <a:pPr>
                        <a:defRPr sz="1100" b="0">
                          <a:solidFill>
                            <a:srgbClr val="000000"/>
                          </a:solidFill>
                          <a:latin typeface="Calibri"/>
                        </a:defRPr>
                      </a:pPr>
                      <a:r>
                        <a:t>3,85</a:t>
                      </a:r>
                    </a:p>
                  </a:txBody>
                  <a:tcPr marL="54864" marR="54864" marT="18288" marB="18288">
                    <a:solidFill>
                      <a:srgbClr val="FFFFFF"/>
                    </a:solidFill>
                  </a:tcPr>
                </a:tc>
                <a:tc>
                  <a:txBody>
                    <a:bodyPr/>
                    <a:lstStyle/>
                    <a:p>
                      <a:pPr>
                        <a:defRPr sz="1100" b="0">
                          <a:solidFill>
                            <a:srgbClr val="000000"/>
                          </a:solidFill>
                          <a:latin typeface="Calibri"/>
                        </a:defRPr>
                      </a:pPr>
                      <a:r>
                        <a:t>1,86</a:t>
                      </a:r>
                    </a:p>
                  </a:txBody>
                  <a:tcPr marL="54864" marR="54864" marT="18288" marB="18288">
                    <a:solidFill>
                      <a:srgbClr val="FFFFFF"/>
                    </a:solidFill>
                  </a:tcPr>
                </a:tc>
                <a:tc>
                  <a:txBody>
                    <a:bodyPr/>
                    <a:lstStyle/>
                    <a:p>
                      <a:pPr>
                        <a:defRPr sz="1100" b="0">
                          <a:solidFill>
                            <a:srgbClr val="000000"/>
                          </a:solidFill>
                          <a:latin typeface="Calibri"/>
                        </a:defRPr>
                      </a:pPr>
                      <a:r>
                        <a:t>1,54</a:t>
                      </a:r>
                    </a:p>
                  </a:txBody>
                  <a:tcPr marL="54864" marR="54864" marT="18288" marB="18288">
                    <a:solidFill>
                      <a:srgbClr val="FFFFFF"/>
                    </a:solidFill>
                  </a:tcPr>
                </a:tc>
              </a:tr>
            </a:tbl>
          </a:graphicData>
        </a:graphic>
      </p:graphicFrame>
      <p:sp>
        <p:nvSpPr>
          <p:cNvPr id="7" name="TextBox 6"/>
          <p:cNvSpPr txBox="1"/>
          <p:nvPr/>
        </p:nvSpPr>
        <p:spPr>
          <a:xfrm>
            <a:off x="365760" y="5394960"/>
            <a:ext cx="11430000" cy="1005840"/>
          </a:xfrm>
          <a:prstGeom prst="rect">
            <a:avLst/>
          </a:prstGeom>
          <a:noFill/>
        </p:spPr>
        <p:txBody>
          <a:bodyPr wrap="square">
            <a:spAutoFit/>
          </a:bodyPr>
          <a:lstStyle/>
          <a:p>
            <a:pPr>
              <a:spcAft>
                <a:spcPts val="400"/>
              </a:spcAft>
              <a:defRPr sz="1200" b="0">
                <a:solidFill>
                  <a:srgbClr val="000000"/>
                </a:solidFill>
                <a:latin typeface="Calibri"/>
              </a:defRPr>
            </a:pPr>
            <a:r>
              <a:t>Multi-agen unggul atas agen tunggal tipis tetapi konsisten: margin $125/order, OTIF 6 poin. Arti tiap istilah: lihat slide Ringkasan eksekutif.</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8.3 Ablation: kontribusi tiap komponen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41</a:t>
            </a:r>
          </a:p>
        </p:txBody>
      </p:sp>
      <p:pic>
        <p:nvPicPr>
          <p:cNvPr id="6" name="Picture 5" descr="fig_ablation.png"/>
          <p:cNvPicPr>
            <a:picLocks noChangeAspect="1"/>
          </p:cNvPicPr>
          <p:nvPr/>
        </p:nvPicPr>
        <p:blipFill>
          <a:blip r:embed="rId2"/>
          <a:stretch>
            <a:fillRect/>
          </a:stretch>
        </p:blipFill>
        <p:spPr>
          <a:xfrm>
            <a:off x="3074988" y="960120"/>
            <a:ext cx="6011543" cy="3931920"/>
          </a:xfrm>
          <a:prstGeom prst="rect">
            <a:avLst/>
          </a:prstGeom>
        </p:spPr>
      </p:pic>
      <p:sp>
        <p:nvSpPr>
          <p:cNvPr id="7" name="TextBox 6"/>
          <p:cNvSpPr txBox="1"/>
          <p:nvPr/>
        </p:nvSpPr>
        <p:spPr>
          <a:xfrm>
            <a:off x="411480" y="4937760"/>
            <a:ext cx="11338560" cy="1463040"/>
          </a:xfrm>
          <a:prstGeom prst="rect">
            <a:avLst/>
          </a:prstGeom>
          <a:noFill/>
        </p:spPr>
        <p:txBody>
          <a:bodyPr wrap="square">
            <a:spAutoFit/>
          </a:bodyPr>
          <a:lstStyle/>
          <a:p>
            <a:pPr>
              <a:spcAft>
                <a:spcPts val="400"/>
              </a:spcAft>
              <a:defRPr sz="1100" b="0">
                <a:solidFill>
                  <a:srgbClr val="000000"/>
                </a:solidFill>
                <a:latin typeface="Calibri"/>
              </a:defRPr>
            </a:pPr>
            <a:r>
              <a:t>• Sumber nilai terbesar (margin per order): kuota berbasis tawaran live ($124), dokumen paralel dengan pemasokan ($57), dan memilih ulang carrier ($-32). Prioritas skor mutu: $-60; tanpa buffer margin turun $570.</a:t>
            </a:r>
          </a:p>
          <a:p>
            <a:pPr>
              <a:spcAft>
                <a:spcPts val="400"/>
              </a:spcAft>
              <a:defRPr sz="1100" b="0">
                <a:solidFill>
                  <a:srgbClr val="000000"/>
                </a:solidFill>
                <a:latin typeface="Calibri"/>
              </a:defRPr>
            </a:pPr>
            <a:r>
              <a:t>• Trade-off: menghapus model risiko atau memilih carrier hanya dari biaya harapan dapat menaikkan margin ($281 dan $317 per order) tetapi menurunkan OTIF; aturan hibrida memprioritaskan tingkat layanan. Pilihan bobot adalah keputusan bisnis; kerugian reputasi tidak dimodelkan sehingga nilai layanan di sini konservatif.</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8.4 Buffer over-allocation: lindung nilai vs limbah</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42</a:t>
            </a:r>
          </a:p>
        </p:txBody>
      </p:sp>
      <p:pic>
        <p:nvPicPr>
          <p:cNvPr id="6" name="Picture 5" descr="fig_buffer.png"/>
          <p:cNvPicPr>
            <a:picLocks noChangeAspect="1"/>
          </p:cNvPicPr>
          <p:nvPr/>
        </p:nvPicPr>
        <p:blipFill>
          <a:blip r:embed="rId2"/>
          <a:stretch>
            <a:fillRect/>
          </a:stretch>
        </p:blipFill>
        <p:spPr>
          <a:xfrm>
            <a:off x="274320" y="1463606"/>
            <a:ext cx="6583680" cy="2193426"/>
          </a:xfrm>
          <a:prstGeom prst="rect">
            <a:avLst/>
          </a:prstGeom>
        </p:spPr>
      </p:pic>
      <p:graphicFrame>
        <p:nvGraphicFramePr>
          <p:cNvPr id="7" name="Table 6"/>
          <p:cNvGraphicFramePr>
            <a:graphicFrameLocks noGrp="1"/>
          </p:cNvGraphicFramePr>
          <p:nvPr/>
        </p:nvGraphicFramePr>
        <p:xfrm>
          <a:off x="411480" y="4251960"/>
          <a:ext cx="7315200" cy="1902460"/>
        </p:xfrm>
        <a:graphic>
          <a:graphicData uri="http://schemas.openxmlformats.org/drawingml/2006/table">
            <a:tbl>
              <a:tblPr firstRow="1" bandRow="1">
                <a:tableStyleId>{5C22544A-7EE6-4342-B048-85BDC9FD1C3A}</a:tableStyleId>
              </a:tblPr>
              <a:tblGrid>
                <a:gridCol w="1463040"/>
                <a:gridCol w="2194560"/>
                <a:gridCol w="1463040"/>
                <a:gridCol w="2194560"/>
              </a:tblGrid>
              <a:tr h="408940">
                <a:tc>
                  <a:txBody>
                    <a:bodyPr/>
                    <a:lstStyle/>
                    <a:p>
                      <a:pPr>
                        <a:defRPr sz="1050" b="1">
                          <a:solidFill>
                            <a:srgbClr val="000000"/>
                          </a:solidFill>
                          <a:latin typeface="Calibri"/>
                        </a:defRPr>
                      </a:pPr>
                      <a:r>
                        <a:t>Buffer awal</a:t>
                      </a:r>
                    </a:p>
                  </a:txBody>
                  <a:tcPr marL="54864" marR="54864" marT="18288" marB="18288">
                    <a:solidFill>
                      <a:srgbClr val="E5E7EB"/>
                    </a:solidFill>
                  </a:tcPr>
                </a:tc>
                <a:tc>
                  <a:txBody>
                    <a:bodyPr/>
                    <a:lstStyle/>
                    <a:p>
                      <a:pPr>
                        <a:defRPr sz="1050" b="1">
                          <a:solidFill>
                            <a:srgbClr val="000000"/>
                          </a:solidFill>
                          <a:latin typeface="Calibri"/>
                        </a:defRPr>
                      </a:pPr>
                      <a:r>
                        <a:t>Margin/order (USD)</a:t>
                      </a:r>
                    </a:p>
                  </a:txBody>
                  <a:tcPr marL="54864" marR="54864" marT="18288" marB="18288">
                    <a:solidFill>
                      <a:srgbClr val="E5E7EB"/>
                    </a:solidFill>
                  </a:tcPr>
                </a:tc>
                <a:tc>
                  <a:txBody>
                    <a:bodyPr/>
                    <a:lstStyle/>
                    <a:p>
                      <a:pPr>
                        <a:defRPr sz="1050" b="1">
                          <a:solidFill>
                            <a:srgbClr val="000000"/>
                          </a:solidFill>
                          <a:latin typeface="Calibri"/>
                        </a:defRPr>
                      </a:pPr>
                      <a:r>
                        <a:t>OTIF</a:t>
                      </a:r>
                    </a:p>
                  </a:txBody>
                  <a:tcPr marL="54864" marR="54864" marT="18288" marB="18288">
                    <a:solidFill>
                      <a:srgbClr val="E5E7EB"/>
                    </a:solidFill>
                  </a:tcPr>
                </a:tc>
                <a:tc>
                  <a:txBody>
                    <a:bodyPr/>
                    <a:lstStyle/>
                    <a:p>
                      <a:pPr>
                        <a:defRPr sz="1050" b="1">
                          <a:solidFill>
                            <a:srgbClr val="000000"/>
                          </a:solidFill>
                          <a:latin typeface="Calibri"/>
                        </a:defRPr>
                      </a:pPr>
                      <a:r>
                        <a:t>Limbah surplus/order (USD)</a:t>
                      </a:r>
                    </a:p>
                  </a:txBody>
                  <a:tcPr marL="54864" marR="54864" marT="18288" marB="18288">
                    <a:solidFill>
                      <a:srgbClr val="E5E7EB"/>
                    </a:solidFill>
                  </a:tcPr>
                </a:tc>
              </a:tr>
              <a:tr h="248920">
                <a:tc>
                  <a:txBody>
                    <a:bodyPr/>
                    <a:lstStyle/>
                    <a:p>
                      <a:pPr>
                        <a:defRPr sz="1050" b="0">
                          <a:solidFill>
                            <a:srgbClr val="000000"/>
                          </a:solidFill>
                          <a:latin typeface="Calibri"/>
                        </a:defRPr>
                      </a:pPr>
                      <a:r>
                        <a:t>0%</a:t>
                      </a:r>
                    </a:p>
                  </a:txBody>
                  <a:tcPr marL="54864" marR="54864" marT="18288" marB="18288">
                    <a:solidFill>
                      <a:srgbClr val="FFFFFF"/>
                    </a:solidFill>
                  </a:tcPr>
                </a:tc>
                <a:tc>
                  <a:txBody>
                    <a:bodyPr/>
                    <a:lstStyle/>
                    <a:p>
                      <a:pPr>
                        <a:defRPr sz="1050" b="0">
                          <a:solidFill>
                            <a:srgbClr val="000000"/>
                          </a:solidFill>
                          <a:latin typeface="Calibri"/>
                        </a:defRPr>
                      </a:pPr>
                      <a:r>
                        <a:t>6.543</a:t>
                      </a:r>
                    </a:p>
                  </a:txBody>
                  <a:tcPr marL="54864" marR="54864" marT="18288" marB="18288">
                    <a:solidFill>
                      <a:srgbClr val="FFFFFF"/>
                    </a:solidFill>
                  </a:tcPr>
                </a:tc>
                <a:tc>
                  <a:txBody>
                    <a:bodyPr/>
                    <a:lstStyle/>
                    <a:p>
                      <a:pPr>
                        <a:defRPr sz="1050" b="0">
                          <a:solidFill>
                            <a:srgbClr val="000000"/>
                          </a:solidFill>
                          <a:latin typeface="Calibri"/>
                        </a:defRPr>
                      </a:pPr>
                      <a:r>
                        <a:t>14%</a:t>
                      </a:r>
                    </a:p>
                  </a:txBody>
                  <a:tcPr marL="54864" marR="54864" marT="18288" marB="18288">
                    <a:solidFill>
                      <a:srgbClr val="FFFFFF"/>
                    </a:solidFill>
                  </a:tcPr>
                </a:tc>
                <a:tc>
                  <a:txBody>
                    <a:bodyPr/>
                    <a:lstStyle/>
                    <a:p>
                      <a:pPr>
                        <a:defRPr sz="1050" b="0">
                          <a:solidFill>
                            <a:srgbClr val="000000"/>
                          </a:solidFill>
                          <a:latin typeface="Calibri"/>
                        </a:defRPr>
                      </a:pPr>
                      <a:r>
                        <a:t>1</a:t>
                      </a:r>
                    </a:p>
                  </a:txBody>
                  <a:tcPr marL="54864" marR="54864" marT="18288" marB="18288">
                    <a:solidFill>
                      <a:srgbClr val="FFFFFF"/>
                    </a:solidFill>
                  </a:tcPr>
                </a:tc>
              </a:tr>
              <a:tr h="248920">
                <a:tc>
                  <a:txBody>
                    <a:bodyPr/>
                    <a:lstStyle/>
                    <a:p>
                      <a:pPr>
                        <a:defRPr sz="1050" b="0">
                          <a:solidFill>
                            <a:srgbClr val="000000"/>
                          </a:solidFill>
                          <a:latin typeface="Calibri"/>
                        </a:defRPr>
                      </a:pPr>
                      <a:r>
                        <a:t>5%</a:t>
                      </a:r>
                    </a:p>
                  </a:txBody>
                  <a:tcPr marL="54864" marR="54864" marT="18288" marB="18288">
                    <a:solidFill>
                      <a:srgbClr val="FFFFFF"/>
                    </a:solidFill>
                  </a:tcPr>
                </a:tc>
                <a:tc>
                  <a:txBody>
                    <a:bodyPr/>
                    <a:lstStyle/>
                    <a:p>
                      <a:pPr>
                        <a:defRPr sz="1050" b="0">
                          <a:solidFill>
                            <a:srgbClr val="000000"/>
                          </a:solidFill>
                          <a:latin typeface="Calibri"/>
                        </a:defRPr>
                      </a:pPr>
                      <a:r>
                        <a:t>6.875</a:t>
                      </a:r>
                    </a:p>
                  </a:txBody>
                  <a:tcPr marL="54864" marR="54864" marT="18288" marB="18288">
                    <a:solidFill>
                      <a:srgbClr val="FFFFFF"/>
                    </a:solidFill>
                  </a:tcPr>
                </a:tc>
                <a:tc>
                  <a:txBody>
                    <a:bodyPr/>
                    <a:lstStyle/>
                    <a:p>
                      <a:pPr>
                        <a:defRPr sz="1050" b="0">
                          <a:solidFill>
                            <a:srgbClr val="000000"/>
                          </a:solidFill>
                          <a:latin typeface="Calibri"/>
                        </a:defRPr>
                      </a:pPr>
                      <a:r>
                        <a:t>30%</a:t>
                      </a:r>
                    </a:p>
                  </a:txBody>
                  <a:tcPr marL="54864" marR="54864" marT="18288" marB="18288">
                    <a:solidFill>
                      <a:srgbClr val="FFFFFF"/>
                    </a:solidFill>
                  </a:tcPr>
                </a:tc>
                <a:tc>
                  <a:txBody>
                    <a:bodyPr/>
                    <a:lstStyle/>
                    <a:p>
                      <a:pPr>
                        <a:defRPr sz="1050" b="0">
                          <a:solidFill>
                            <a:srgbClr val="000000"/>
                          </a:solidFill>
                          <a:latin typeface="Calibri"/>
                        </a:defRPr>
                      </a:pPr>
                      <a:r>
                        <a:t>5</a:t>
                      </a:r>
                    </a:p>
                  </a:txBody>
                  <a:tcPr marL="54864" marR="54864" marT="18288" marB="18288">
                    <a:solidFill>
                      <a:srgbClr val="FFFFFF"/>
                    </a:solidFill>
                  </a:tcPr>
                </a:tc>
              </a:tr>
              <a:tr h="248920">
                <a:tc>
                  <a:txBody>
                    <a:bodyPr/>
                    <a:lstStyle/>
                    <a:p>
                      <a:pPr>
                        <a:defRPr sz="1050" b="0">
                          <a:solidFill>
                            <a:srgbClr val="000000"/>
                          </a:solidFill>
                          <a:latin typeface="Calibri"/>
                        </a:defRPr>
                      </a:pPr>
                      <a:r>
                        <a:t>10%</a:t>
                      </a:r>
                    </a:p>
                  </a:txBody>
                  <a:tcPr marL="54864" marR="54864" marT="18288" marB="18288">
                    <a:solidFill>
                      <a:srgbClr val="FFFFFF"/>
                    </a:solidFill>
                  </a:tcPr>
                </a:tc>
                <a:tc>
                  <a:txBody>
                    <a:bodyPr/>
                    <a:lstStyle/>
                    <a:p>
                      <a:pPr>
                        <a:defRPr sz="1050" b="0">
                          <a:solidFill>
                            <a:srgbClr val="000000"/>
                          </a:solidFill>
                          <a:latin typeface="Calibri"/>
                        </a:defRPr>
                      </a:pPr>
                      <a:r>
                        <a:t>7.050</a:t>
                      </a:r>
                    </a:p>
                  </a:txBody>
                  <a:tcPr marL="54864" marR="54864" marT="18288" marB="18288">
                    <a:solidFill>
                      <a:srgbClr val="FFFFFF"/>
                    </a:solidFill>
                  </a:tcPr>
                </a:tc>
                <a:tc>
                  <a:txBody>
                    <a:bodyPr/>
                    <a:lstStyle/>
                    <a:p>
                      <a:pPr>
                        <a:defRPr sz="1050" b="0">
                          <a:solidFill>
                            <a:srgbClr val="000000"/>
                          </a:solidFill>
                          <a:latin typeface="Calibri"/>
                        </a:defRPr>
                      </a:pPr>
                      <a:r>
                        <a:t>41%</a:t>
                      </a:r>
                    </a:p>
                  </a:txBody>
                  <a:tcPr marL="54864" marR="54864" marT="18288" marB="18288">
                    <a:solidFill>
                      <a:srgbClr val="FFFFFF"/>
                    </a:solidFill>
                  </a:tcPr>
                </a:tc>
                <a:tc>
                  <a:txBody>
                    <a:bodyPr/>
                    <a:lstStyle/>
                    <a:p>
                      <a:pPr>
                        <a:defRPr sz="1050" b="0">
                          <a:solidFill>
                            <a:srgbClr val="000000"/>
                          </a:solidFill>
                          <a:latin typeface="Calibri"/>
                        </a:defRPr>
                      </a:pPr>
                      <a:r>
                        <a:t>53</a:t>
                      </a:r>
                    </a:p>
                  </a:txBody>
                  <a:tcPr marL="54864" marR="54864" marT="18288" marB="18288">
                    <a:solidFill>
                      <a:srgbClr val="FFFFFF"/>
                    </a:solidFill>
                  </a:tcPr>
                </a:tc>
              </a:tr>
              <a:tr h="248920">
                <a:tc>
                  <a:txBody>
                    <a:bodyPr/>
                    <a:lstStyle/>
                    <a:p>
                      <a:pPr>
                        <a:defRPr sz="1050" b="0">
                          <a:solidFill>
                            <a:srgbClr val="000000"/>
                          </a:solidFill>
                          <a:latin typeface="Calibri"/>
                        </a:defRPr>
                      </a:pPr>
                      <a:r>
                        <a:t>15%</a:t>
                      </a:r>
                    </a:p>
                  </a:txBody>
                  <a:tcPr marL="54864" marR="54864" marT="18288" marB="18288">
                    <a:solidFill>
                      <a:srgbClr val="FFFFFF"/>
                    </a:solidFill>
                  </a:tcPr>
                </a:tc>
                <a:tc>
                  <a:txBody>
                    <a:bodyPr/>
                    <a:lstStyle/>
                    <a:p>
                      <a:pPr>
                        <a:defRPr sz="1050" b="0">
                          <a:solidFill>
                            <a:srgbClr val="000000"/>
                          </a:solidFill>
                          <a:latin typeface="Calibri"/>
                        </a:defRPr>
                      </a:pPr>
                      <a:r>
                        <a:t>7.088</a:t>
                      </a:r>
                    </a:p>
                  </a:txBody>
                  <a:tcPr marL="54864" marR="54864" marT="18288" marB="18288">
                    <a:solidFill>
                      <a:srgbClr val="FFFFFF"/>
                    </a:solidFill>
                  </a:tcPr>
                </a:tc>
                <a:tc>
                  <a:txBody>
                    <a:bodyPr/>
                    <a:lstStyle/>
                    <a:p>
                      <a:pPr>
                        <a:defRPr sz="1050" b="0">
                          <a:solidFill>
                            <a:srgbClr val="000000"/>
                          </a:solidFill>
                          <a:latin typeface="Calibri"/>
                        </a:defRPr>
                      </a:pPr>
                      <a:r>
                        <a:t>51%</a:t>
                      </a:r>
                    </a:p>
                  </a:txBody>
                  <a:tcPr marL="54864" marR="54864" marT="18288" marB="18288">
                    <a:solidFill>
                      <a:srgbClr val="FFFFFF"/>
                    </a:solidFill>
                  </a:tcPr>
                </a:tc>
                <a:tc>
                  <a:txBody>
                    <a:bodyPr/>
                    <a:lstStyle/>
                    <a:p>
                      <a:pPr>
                        <a:defRPr sz="1050" b="0">
                          <a:solidFill>
                            <a:srgbClr val="000000"/>
                          </a:solidFill>
                          <a:latin typeface="Calibri"/>
                        </a:defRPr>
                      </a:pPr>
                      <a:r>
                        <a:t>137</a:t>
                      </a:r>
                    </a:p>
                  </a:txBody>
                  <a:tcPr marL="54864" marR="54864" marT="18288" marB="18288">
                    <a:solidFill>
                      <a:srgbClr val="FFFFFF"/>
                    </a:solidFill>
                  </a:tcPr>
                </a:tc>
              </a:tr>
              <a:tr h="248920">
                <a:tc>
                  <a:txBody>
                    <a:bodyPr/>
                    <a:lstStyle/>
                    <a:p>
                      <a:pPr>
                        <a:defRPr sz="1050" b="0">
                          <a:solidFill>
                            <a:srgbClr val="000000"/>
                          </a:solidFill>
                          <a:latin typeface="Calibri"/>
                        </a:defRPr>
                      </a:pPr>
                      <a:r>
                        <a:t>20%</a:t>
                      </a:r>
                    </a:p>
                  </a:txBody>
                  <a:tcPr marL="54864" marR="54864" marT="18288" marB="18288">
                    <a:solidFill>
                      <a:srgbClr val="FFFFFF"/>
                    </a:solidFill>
                  </a:tcPr>
                </a:tc>
                <a:tc>
                  <a:txBody>
                    <a:bodyPr/>
                    <a:lstStyle/>
                    <a:p>
                      <a:pPr>
                        <a:defRPr sz="1050" b="0">
                          <a:solidFill>
                            <a:srgbClr val="000000"/>
                          </a:solidFill>
                          <a:latin typeface="Calibri"/>
                        </a:defRPr>
                      </a:pPr>
                      <a:r>
                        <a:t>6.996</a:t>
                      </a:r>
                    </a:p>
                  </a:txBody>
                  <a:tcPr marL="54864" marR="54864" marT="18288" marB="18288">
                    <a:solidFill>
                      <a:srgbClr val="FFFFFF"/>
                    </a:solidFill>
                  </a:tcPr>
                </a:tc>
                <a:tc>
                  <a:txBody>
                    <a:bodyPr/>
                    <a:lstStyle/>
                    <a:p>
                      <a:pPr>
                        <a:defRPr sz="1050" b="0">
                          <a:solidFill>
                            <a:srgbClr val="000000"/>
                          </a:solidFill>
                          <a:latin typeface="Calibri"/>
                        </a:defRPr>
                      </a:pPr>
                      <a:r>
                        <a:t>61%</a:t>
                      </a:r>
                    </a:p>
                  </a:txBody>
                  <a:tcPr marL="54864" marR="54864" marT="18288" marB="18288">
                    <a:solidFill>
                      <a:srgbClr val="FFFFFF"/>
                    </a:solidFill>
                  </a:tcPr>
                </a:tc>
                <a:tc>
                  <a:txBody>
                    <a:bodyPr/>
                    <a:lstStyle/>
                    <a:p>
                      <a:pPr>
                        <a:defRPr sz="1050" b="0">
                          <a:solidFill>
                            <a:srgbClr val="000000"/>
                          </a:solidFill>
                          <a:latin typeface="Calibri"/>
                        </a:defRPr>
                      </a:pPr>
                      <a:r>
                        <a:t>254</a:t>
                      </a:r>
                    </a:p>
                  </a:txBody>
                  <a:tcPr marL="54864" marR="54864" marT="18288" marB="18288">
                    <a:solidFill>
                      <a:srgbClr val="FFFFFF"/>
                    </a:solidFill>
                  </a:tcPr>
                </a:tc>
              </a:tr>
              <a:tr h="248920">
                <a:tc>
                  <a:txBody>
                    <a:bodyPr/>
                    <a:lstStyle/>
                    <a:p>
                      <a:pPr>
                        <a:defRPr sz="1050" b="0">
                          <a:solidFill>
                            <a:srgbClr val="000000"/>
                          </a:solidFill>
                          <a:latin typeface="Calibri"/>
                        </a:defRPr>
                      </a:pPr>
                      <a:r>
                        <a:t>30%</a:t>
                      </a:r>
                    </a:p>
                  </a:txBody>
                  <a:tcPr marL="54864" marR="54864" marT="18288" marB="18288">
                    <a:solidFill>
                      <a:srgbClr val="FFFFFF"/>
                    </a:solidFill>
                  </a:tcPr>
                </a:tc>
                <a:tc>
                  <a:txBody>
                    <a:bodyPr/>
                    <a:lstStyle/>
                    <a:p>
                      <a:pPr>
                        <a:defRPr sz="1050" b="0">
                          <a:solidFill>
                            <a:srgbClr val="000000"/>
                          </a:solidFill>
                          <a:latin typeface="Calibri"/>
                        </a:defRPr>
                      </a:pPr>
                      <a:r>
                        <a:t>6.472</a:t>
                      </a:r>
                    </a:p>
                  </a:txBody>
                  <a:tcPr marL="54864" marR="54864" marT="18288" marB="18288">
                    <a:solidFill>
                      <a:srgbClr val="FFFFFF"/>
                    </a:solidFill>
                  </a:tcPr>
                </a:tc>
                <a:tc>
                  <a:txBody>
                    <a:bodyPr/>
                    <a:lstStyle/>
                    <a:p>
                      <a:pPr>
                        <a:defRPr sz="1050" b="0">
                          <a:solidFill>
                            <a:srgbClr val="000000"/>
                          </a:solidFill>
                          <a:latin typeface="Calibri"/>
                        </a:defRPr>
                      </a:pPr>
                      <a:r>
                        <a:t>76%</a:t>
                      </a:r>
                    </a:p>
                  </a:txBody>
                  <a:tcPr marL="54864" marR="54864" marT="18288" marB="18288">
                    <a:solidFill>
                      <a:srgbClr val="FFFFFF"/>
                    </a:solidFill>
                  </a:tcPr>
                </a:tc>
                <a:tc>
                  <a:txBody>
                    <a:bodyPr/>
                    <a:lstStyle/>
                    <a:p>
                      <a:pPr>
                        <a:defRPr sz="1050" b="0">
                          <a:solidFill>
                            <a:srgbClr val="000000"/>
                          </a:solidFill>
                          <a:latin typeface="Calibri"/>
                        </a:defRPr>
                      </a:pPr>
                      <a:r>
                        <a:t>573</a:t>
                      </a:r>
                    </a:p>
                  </a:txBody>
                  <a:tcPr marL="54864" marR="54864" marT="18288" marB="18288">
                    <a:solidFill>
                      <a:srgbClr val="FFFFFF"/>
                    </a:solidFill>
                  </a:tcPr>
                </a:tc>
              </a:tr>
            </a:tbl>
          </a:graphicData>
        </a:graphic>
      </p:graphicFrame>
      <p:sp>
        <p:nvSpPr>
          <p:cNvPr id="8" name="TextBox 7"/>
          <p:cNvSpPr txBox="1"/>
          <p:nvPr/>
        </p:nvSpPr>
        <p:spPr>
          <a:xfrm>
            <a:off x="7040880" y="1097280"/>
            <a:ext cx="4846320" cy="3017520"/>
          </a:xfrm>
          <a:prstGeom prst="rect">
            <a:avLst/>
          </a:prstGeom>
          <a:noFill/>
        </p:spPr>
        <p:txBody>
          <a:bodyPr wrap="square">
            <a:spAutoFit/>
          </a:bodyPr>
          <a:lstStyle/>
          <a:p>
            <a:pPr>
              <a:spcAft>
                <a:spcPts val="400"/>
              </a:spcAft>
              <a:defRPr sz="1200" b="0">
                <a:solidFill>
                  <a:srgbClr val="000000"/>
                </a:solidFill>
                <a:latin typeface="Calibri"/>
              </a:defRPr>
            </a:pPr>
            <a:r>
              <a:t>Buffer: margin puncak pada 15-20% karena kekurangan pasokan (gagal kirim, reject uji mutu) lebih mahal daripada limbah surplus yang dijual 60% harga beli. Pada buffer 30% margin turun karena limbah surplus.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8.6 Model ML: klasifikasi HS dan risiko roll-over</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43</a:t>
            </a:r>
          </a:p>
        </p:txBody>
      </p:sp>
      <p:pic>
        <p:nvPicPr>
          <p:cNvPr id="6" name="Picture 5" descr="fig_hs.png"/>
          <p:cNvPicPr>
            <a:picLocks noChangeAspect="1"/>
          </p:cNvPicPr>
          <p:nvPr/>
        </p:nvPicPr>
        <p:blipFill>
          <a:blip r:embed="rId2"/>
          <a:stretch>
            <a:fillRect/>
          </a:stretch>
        </p:blipFill>
        <p:spPr>
          <a:xfrm>
            <a:off x="274320" y="1155504"/>
            <a:ext cx="7315199" cy="2901070"/>
          </a:xfrm>
          <a:prstGeom prst="rect">
            <a:avLst/>
          </a:prstGeom>
        </p:spPr>
      </p:pic>
      <p:pic>
        <p:nvPicPr>
          <p:cNvPr id="7" name="Picture 6" descr="fig_risk.png"/>
          <p:cNvPicPr>
            <a:picLocks noChangeAspect="1"/>
          </p:cNvPicPr>
          <p:nvPr/>
        </p:nvPicPr>
        <p:blipFill>
          <a:blip r:embed="rId3"/>
          <a:stretch>
            <a:fillRect/>
          </a:stretch>
        </p:blipFill>
        <p:spPr>
          <a:xfrm>
            <a:off x="8020727" y="960120"/>
            <a:ext cx="3618144" cy="3291840"/>
          </a:xfrm>
          <a:prstGeom prst="rect">
            <a:avLst/>
          </a:prstGeom>
        </p:spPr>
      </p:pic>
      <p:graphicFrame>
        <p:nvGraphicFramePr>
          <p:cNvPr id="8" name="Table 7"/>
          <p:cNvGraphicFramePr>
            <a:graphicFrameLocks noGrp="1"/>
          </p:cNvGraphicFramePr>
          <p:nvPr/>
        </p:nvGraphicFramePr>
        <p:xfrm>
          <a:off x="411480" y="4434840"/>
          <a:ext cx="11338560" cy="1897380"/>
        </p:xfrm>
        <a:graphic>
          <a:graphicData uri="http://schemas.openxmlformats.org/drawingml/2006/table">
            <a:tbl>
              <a:tblPr firstRow="1" bandRow="1">
                <a:tableStyleId>{5C22544A-7EE6-4342-B048-85BDC9FD1C3A}</a:tableStyleId>
              </a:tblPr>
              <a:tblGrid>
                <a:gridCol w="3291840"/>
                <a:gridCol w="4754880"/>
                <a:gridCol w="3291840"/>
              </a:tblGrid>
              <a:tr h="210820">
                <a:tc>
                  <a:txBody>
                    <a:bodyPr/>
                    <a:lstStyle/>
                    <a:p>
                      <a:pPr>
                        <a:defRPr sz="800" b="1">
                          <a:solidFill>
                            <a:srgbClr val="000000"/>
                          </a:solidFill>
                          <a:latin typeface="Calibri"/>
                        </a:defRPr>
                      </a:pPr>
                      <a:r>
                        <a:t>Model</a:t>
                      </a:r>
                    </a:p>
                  </a:txBody>
                  <a:tcPr marL="54864" marR="54864" marT="18288" marB="18288">
                    <a:solidFill>
                      <a:srgbClr val="E5E7EB"/>
                    </a:solidFill>
                  </a:tcPr>
                </a:tc>
                <a:tc>
                  <a:txBody>
                    <a:bodyPr/>
                    <a:lstStyle/>
                    <a:p>
                      <a:pPr>
                        <a:defRPr sz="800" b="1">
                          <a:solidFill>
                            <a:srgbClr val="000000"/>
                          </a:solidFill>
                          <a:latin typeface="Calibri"/>
                        </a:defRPr>
                      </a:pPr>
                      <a:r>
                        <a:t>Metrik</a:t>
                      </a:r>
                    </a:p>
                  </a:txBody>
                  <a:tcPr marL="54864" marR="54864" marT="18288" marB="18288">
                    <a:solidFill>
                      <a:srgbClr val="E5E7EB"/>
                    </a:solidFill>
                  </a:tcPr>
                </a:tc>
                <a:tc>
                  <a:txBody>
                    <a:bodyPr/>
                    <a:lstStyle/>
                    <a:p>
                      <a:pPr>
                        <a:defRPr sz="800" b="1">
                          <a:solidFill>
                            <a:srgbClr val="000000"/>
                          </a:solidFill>
                          <a:latin typeface="Calibri"/>
                        </a:defRPr>
                      </a:pPr>
                      <a:r>
                        <a:t>Nilai</a:t>
                      </a:r>
                    </a:p>
                  </a:txBody>
                  <a:tcPr marL="54864" marR="54864" marT="18288" marB="18288">
                    <a:solidFill>
                      <a:srgbClr val="E5E7EB"/>
                    </a:solidFill>
                  </a:tcPr>
                </a:tc>
              </a:tr>
              <a:tr h="210820">
                <a:tc>
                  <a:txBody>
                    <a:bodyPr/>
                    <a:lstStyle/>
                    <a:p>
                      <a:pPr>
                        <a:defRPr sz="800" b="0">
                          <a:solidFill>
                            <a:srgbClr val="000000"/>
                          </a:solidFill>
                          <a:latin typeface="Calibri"/>
                        </a:defRPr>
                      </a:pPr>
                      <a:r>
                        <a:t>Klasifikasi HS (uji 25%, 7 heading)</a:t>
                      </a:r>
                    </a:p>
                  </a:txBody>
                  <a:tcPr marL="54864" marR="54864" marT="18288" marB="18288">
                    <a:solidFill>
                      <a:srgbClr val="FFFFFF"/>
                    </a:solidFill>
                  </a:tcPr>
                </a:tc>
                <a:tc>
                  <a:txBody>
                    <a:bodyPr/>
                    <a:lstStyle/>
                    <a:p>
                      <a:pPr>
                        <a:defRPr sz="800" b="0">
                          <a:solidFill>
                            <a:srgbClr val="000000"/>
                          </a:solidFill>
                          <a:latin typeface="Calibri"/>
                        </a:defRPr>
                      </a:pPr>
                      <a:r>
                        <a:t>Akurasi (semua)</a:t>
                      </a:r>
                    </a:p>
                  </a:txBody>
                  <a:tcPr marL="54864" marR="54864" marT="18288" marB="18288">
                    <a:solidFill>
                      <a:srgbClr val="FFFFFF"/>
                    </a:solidFill>
                  </a:tcPr>
                </a:tc>
                <a:tc>
                  <a:txBody>
                    <a:bodyPr/>
                    <a:lstStyle/>
                    <a:p>
                      <a:pPr>
                        <a:defRPr sz="800" b="0">
                          <a:solidFill>
                            <a:srgbClr val="000000"/>
                          </a:solidFill>
                          <a:latin typeface="Calibri"/>
                        </a:defRPr>
                      </a:pPr>
                      <a:r>
                        <a:t>95,9%</a:t>
                      </a:r>
                    </a:p>
                  </a:txBody>
                  <a:tcPr marL="54864" marR="54864" marT="18288" marB="18288">
                    <a:solidFill>
                      <a:srgbClr val="FFFFFF"/>
                    </a:solidFill>
                  </a:tcPr>
                </a:tc>
              </a:tr>
              <a:tr h="210820">
                <a:tc>
                  <a:txBody>
                    <a:bodyPr/>
                    <a:lstStyle/>
                    <a:p>
                      <a:pPr>
                        <a:defRPr sz="800" b="0">
                          <a:solidFill>
                            <a:srgbClr val="000000"/>
                          </a:solidFill>
                          <a:latin typeface="Calibri"/>
                        </a:defRPr>
                      </a:pPr>
                      <a:r>
                        <a:t>Klasifikasi HS</a:t>
                      </a:r>
                    </a:p>
                  </a:txBody>
                  <a:tcPr marL="54864" marR="54864" marT="18288" marB="18288">
                    <a:solidFill>
                      <a:srgbClr val="FFFFFF"/>
                    </a:solidFill>
                  </a:tcPr>
                </a:tc>
                <a:tc>
                  <a:txBody>
                    <a:bodyPr/>
                    <a:lstStyle/>
                    <a:p>
                      <a:pPr>
                        <a:defRPr sz="800" b="0">
                          <a:solidFill>
                            <a:srgbClr val="000000"/>
                          </a:solidFill>
                          <a:latin typeface="Calibri"/>
                        </a:defRPr>
                      </a:pPr>
                      <a:r>
                        <a:t>Akurasi pada yang otomatis (tau = 0,60)</a:t>
                      </a:r>
                    </a:p>
                  </a:txBody>
                  <a:tcPr marL="54864" marR="54864" marT="18288" marB="18288">
                    <a:solidFill>
                      <a:srgbClr val="FFFFFF"/>
                    </a:solidFill>
                  </a:tcPr>
                </a:tc>
                <a:tc>
                  <a:txBody>
                    <a:bodyPr/>
                    <a:lstStyle/>
                    <a:p>
                      <a:pPr>
                        <a:defRPr sz="800" b="0">
                          <a:solidFill>
                            <a:srgbClr val="000000"/>
                          </a:solidFill>
                          <a:latin typeface="Calibri"/>
                        </a:defRPr>
                      </a:pPr>
                      <a:r>
                        <a:t>99,5%</a:t>
                      </a:r>
                    </a:p>
                  </a:txBody>
                  <a:tcPr marL="54864" marR="54864" marT="18288" marB="18288">
                    <a:solidFill>
                      <a:srgbClr val="FFFFFF"/>
                    </a:solidFill>
                  </a:tcPr>
                </a:tc>
              </a:tr>
              <a:tr h="210820">
                <a:tc>
                  <a:txBody>
                    <a:bodyPr/>
                    <a:lstStyle/>
                    <a:p>
                      <a:pPr>
                        <a:defRPr sz="800" b="0">
                          <a:solidFill>
                            <a:srgbClr val="000000"/>
                          </a:solidFill>
                          <a:latin typeface="Calibri"/>
                        </a:defRPr>
                      </a:pPr>
                      <a:r>
                        <a:t>Klasifikasi HS</a:t>
                      </a:r>
                    </a:p>
                  </a:txBody>
                  <a:tcPr marL="54864" marR="54864" marT="18288" marB="18288">
                    <a:solidFill>
                      <a:srgbClr val="FFFFFF"/>
                    </a:solidFill>
                  </a:tcPr>
                </a:tc>
                <a:tc>
                  <a:txBody>
                    <a:bodyPr/>
                    <a:lstStyle/>
                    <a:p>
                      <a:pPr>
                        <a:defRPr sz="800" b="0">
                          <a:solidFill>
                            <a:srgbClr val="000000"/>
                          </a:solidFill>
                          <a:latin typeface="Calibri"/>
                        </a:defRPr>
                      </a:pPr>
                      <a:r>
                        <a:t>Cakupan otomatis (tau = 0,60)</a:t>
                      </a:r>
                    </a:p>
                  </a:txBody>
                  <a:tcPr marL="54864" marR="54864" marT="18288" marB="18288">
                    <a:solidFill>
                      <a:srgbClr val="FFFFFF"/>
                    </a:solidFill>
                  </a:tcPr>
                </a:tc>
                <a:tc>
                  <a:txBody>
                    <a:bodyPr/>
                    <a:lstStyle/>
                    <a:p>
                      <a:pPr>
                        <a:defRPr sz="800" b="0">
                          <a:solidFill>
                            <a:srgbClr val="000000"/>
                          </a:solidFill>
                          <a:latin typeface="Calibri"/>
                        </a:defRPr>
                      </a:pPr>
                      <a:r>
                        <a:t>89,0%</a:t>
                      </a:r>
                    </a:p>
                  </a:txBody>
                  <a:tcPr marL="54864" marR="54864" marT="18288" marB="18288">
                    <a:solidFill>
                      <a:srgbClr val="FFFFFF"/>
                    </a:solidFill>
                  </a:tcPr>
                </a:tc>
              </a:tr>
              <a:tr h="210820">
                <a:tc>
                  <a:txBody>
                    <a:bodyPr/>
                    <a:lstStyle/>
                    <a:p>
                      <a:pPr>
                        <a:defRPr sz="800" b="0">
                          <a:solidFill>
                            <a:srgbClr val="000000"/>
                          </a:solidFill>
                          <a:latin typeface="Calibri"/>
                        </a:defRPr>
                      </a:pPr>
                      <a:r>
                        <a:t>Risiko roll-over (uji 25%)</a:t>
                      </a:r>
                    </a:p>
                  </a:txBody>
                  <a:tcPr marL="54864" marR="54864" marT="18288" marB="18288">
                    <a:solidFill>
                      <a:srgbClr val="FFFFFF"/>
                    </a:solidFill>
                  </a:tcPr>
                </a:tc>
                <a:tc>
                  <a:txBody>
                    <a:bodyPr/>
                    <a:lstStyle/>
                    <a:p>
                      <a:pPr>
                        <a:defRPr sz="800" b="0">
                          <a:solidFill>
                            <a:srgbClr val="000000"/>
                          </a:solidFill>
                          <a:latin typeface="Calibri"/>
                        </a:defRPr>
                      </a:pPr>
                      <a:r>
                        <a:t>AUC</a:t>
                      </a:r>
                    </a:p>
                  </a:txBody>
                  <a:tcPr marL="54864" marR="54864" marT="18288" marB="18288">
                    <a:solidFill>
                      <a:srgbClr val="FFFFFF"/>
                    </a:solidFill>
                  </a:tcPr>
                </a:tc>
                <a:tc>
                  <a:txBody>
                    <a:bodyPr/>
                    <a:lstStyle/>
                    <a:p>
                      <a:pPr>
                        <a:defRPr sz="800" b="0">
                          <a:solidFill>
                            <a:srgbClr val="000000"/>
                          </a:solidFill>
                          <a:latin typeface="Calibri"/>
                        </a:defRPr>
                      </a:pPr>
                      <a:r>
                        <a:t>0,758</a:t>
                      </a:r>
                    </a:p>
                  </a:txBody>
                  <a:tcPr marL="54864" marR="54864" marT="18288" marB="18288">
                    <a:solidFill>
                      <a:srgbClr val="FFFFFF"/>
                    </a:solidFill>
                  </a:tcPr>
                </a:tc>
              </a:tr>
              <a:tr h="210820">
                <a:tc>
                  <a:txBody>
                    <a:bodyPr/>
                    <a:lstStyle/>
                    <a:p>
                      <a:pPr>
                        <a:defRPr sz="800" b="0">
                          <a:solidFill>
                            <a:srgbClr val="000000"/>
                          </a:solidFill>
                          <a:latin typeface="Calibri"/>
                        </a:defRPr>
                      </a:pPr>
                      <a:r>
                        <a:t>Risiko roll-over</a:t>
                      </a:r>
                    </a:p>
                  </a:txBody>
                  <a:tcPr marL="54864" marR="54864" marT="18288" marB="18288">
                    <a:solidFill>
                      <a:srgbClr val="FFFFFF"/>
                    </a:solidFill>
                  </a:tcPr>
                </a:tc>
                <a:tc>
                  <a:txBody>
                    <a:bodyPr/>
                    <a:lstStyle/>
                    <a:p>
                      <a:pPr>
                        <a:defRPr sz="800" b="0">
                          <a:solidFill>
                            <a:srgbClr val="000000"/>
                          </a:solidFill>
                          <a:latin typeface="Calibri"/>
                        </a:defRPr>
                      </a:pPr>
                      <a:r>
                        <a:t>Brier (model / baseline base-rate)</a:t>
                      </a:r>
                    </a:p>
                  </a:txBody>
                  <a:tcPr marL="54864" marR="54864" marT="18288" marB="18288">
                    <a:solidFill>
                      <a:srgbClr val="FFFFFF"/>
                    </a:solidFill>
                  </a:tcPr>
                </a:tc>
                <a:tc>
                  <a:txBody>
                    <a:bodyPr/>
                    <a:lstStyle/>
                    <a:p>
                      <a:pPr>
                        <a:defRPr sz="800" b="0">
                          <a:solidFill>
                            <a:srgbClr val="000000"/>
                          </a:solidFill>
                          <a:latin typeface="Calibri"/>
                        </a:defRPr>
                      </a:pPr>
                      <a:r>
                        <a:t>0,1021 / 0,1162</a:t>
                      </a:r>
                    </a:p>
                  </a:txBody>
                  <a:tcPr marL="54864" marR="54864" marT="18288" marB="18288">
                    <a:solidFill>
                      <a:srgbClr val="FFFFFF"/>
                    </a:solidFill>
                  </a:tcPr>
                </a:tc>
              </a:tr>
              <a:tr h="210820">
                <a:tc>
                  <a:txBody>
                    <a:bodyPr/>
                    <a:lstStyle/>
                    <a:p>
                      <a:pPr>
                        <a:defRPr sz="800" b="0">
                          <a:solidFill>
                            <a:srgbClr val="000000"/>
                          </a:solidFill>
                          <a:latin typeface="Calibri"/>
                        </a:defRPr>
                      </a:pPr>
                      <a:r>
                        <a:t>Q-learning (MDP abstrak)</a:t>
                      </a:r>
                    </a:p>
                  </a:txBody>
                  <a:tcPr marL="54864" marR="54864" marT="18288" marB="18288">
                    <a:solidFill>
                      <a:srgbClr val="FFFFFF"/>
                    </a:solidFill>
                  </a:tcPr>
                </a:tc>
                <a:tc>
                  <a:txBody>
                    <a:bodyPr/>
                    <a:lstStyle/>
                    <a:p>
                      <a:pPr>
                        <a:defRPr sz="800" b="0">
                          <a:solidFill>
                            <a:srgbClr val="000000"/>
                          </a:solidFill>
                          <a:latin typeface="Calibri"/>
                        </a:defRPr>
                      </a:pPr>
                      <a:r>
                        <a:t>Return per order: Q / aturan slack&lt;0 / never</a:t>
                      </a:r>
                    </a:p>
                  </a:txBody>
                  <a:tcPr marL="54864" marR="54864" marT="18288" marB="18288">
                    <a:solidFill>
                      <a:srgbClr val="FFFFFF"/>
                    </a:solidFill>
                  </a:tcPr>
                </a:tc>
                <a:tc>
                  <a:txBody>
                    <a:bodyPr/>
                    <a:lstStyle/>
                    <a:p>
                      <a:pPr>
                        <a:defRPr sz="800" b="0">
                          <a:solidFill>
                            <a:srgbClr val="000000"/>
                          </a:solidFill>
                          <a:latin typeface="Calibri"/>
                        </a:defRPr>
                      </a:pPr>
                      <a:r>
                        <a:t>-340 / -339 / -383</a:t>
                      </a:r>
                    </a:p>
                  </a:txBody>
                  <a:tcPr marL="54864" marR="54864" marT="18288" marB="18288">
                    <a:solidFill>
                      <a:srgbClr val="FFFFFF"/>
                    </a:solidFill>
                  </a:tcPr>
                </a:tc>
              </a:tr>
              <a:tr h="210820">
                <a:tc>
                  <a:txBody>
                    <a:bodyPr/>
                    <a:lstStyle/>
                    <a:p>
                      <a:pPr>
                        <a:defRPr sz="800" b="0">
                          <a:solidFill>
                            <a:srgbClr val="000000"/>
                          </a:solidFill>
                          <a:latin typeface="Calibri"/>
                        </a:defRPr>
                      </a:pPr>
                      <a:r>
                        <a:t>Sales/SDR (eksploratif, 6.000 RFQ)</a:t>
                      </a:r>
                    </a:p>
                  </a:txBody>
                  <a:tcPr marL="54864" marR="54864" marT="18288" marB="18288">
                    <a:solidFill>
                      <a:srgbClr val="FFFFFF"/>
                    </a:solidFill>
                  </a:tcPr>
                </a:tc>
                <a:tc>
                  <a:txBody>
                    <a:bodyPr/>
                    <a:lstStyle/>
                    <a:p>
                      <a:pPr>
                        <a:defRPr sz="800" b="0">
                          <a:solidFill>
                            <a:srgbClr val="000000"/>
                          </a:solidFill>
                          <a:latin typeface="Calibri"/>
                        </a:defRPr>
                      </a:pPr>
                      <a:r>
                        <a:t>Konversi RFQ ke deal: manual / SDR</a:t>
                      </a:r>
                    </a:p>
                  </a:txBody>
                  <a:tcPr marL="54864" marR="54864" marT="18288" marB="18288">
                    <a:solidFill>
                      <a:srgbClr val="FFFFFF"/>
                    </a:solidFill>
                  </a:tcPr>
                </a:tc>
                <a:tc>
                  <a:txBody>
                    <a:bodyPr/>
                    <a:lstStyle/>
                    <a:p>
                      <a:pPr>
                        <a:defRPr sz="800" b="0">
                          <a:solidFill>
                            <a:srgbClr val="000000"/>
                          </a:solidFill>
                          <a:latin typeface="Calibri"/>
                        </a:defRPr>
                      </a:pPr>
                      <a:r>
                        <a:t>44% / 68%</a:t>
                      </a:r>
                    </a:p>
                  </a:txBody>
                  <a:tcPr marL="54864" marR="54864" marT="18288" marB="18288">
                    <a:solidFill>
                      <a:srgbClr val="FFFFFF"/>
                    </a:solidFill>
                  </a:tcPr>
                </a:tc>
              </a:tr>
              <a:tr h="210820">
                <a:tc>
                  <a:txBody>
                    <a:bodyPr/>
                    <a:lstStyle/>
                    <a:p>
                      <a:pPr>
                        <a:defRPr sz="800" b="0">
                          <a:solidFill>
                            <a:srgbClr val="000000"/>
                          </a:solidFill>
                          <a:latin typeface="Calibri"/>
                        </a:defRPr>
                      </a:pPr>
                      <a:r>
                        <a:t>Sales/SDR</a:t>
                      </a:r>
                    </a:p>
                  </a:txBody>
                  <a:tcPr marL="54864" marR="54864" marT="18288" marB="18288">
                    <a:solidFill>
                      <a:srgbClr val="FFFFFF"/>
                    </a:solidFill>
                  </a:tcPr>
                </a:tc>
                <a:tc>
                  <a:txBody>
                    <a:bodyPr/>
                    <a:lstStyle/>
                    <a:p>
                      <a:pPr>
                        <a:defRPr sz="800" b="0">
                          <a:solidFill>
                            <a:srgbClr val="000000"/>
                          </a:solidFill>
                          <a:latin typeface="Calibri"/>
                        </a:defRPr>
                      </a:pPr>
                      <a:r>
                        <a:t>Jam RFQ ke harga sepakat: manual / SDR</a:t>
                      </a:r>
                    </a:p>
                  </a:txBody>
                  <a:tcPr marL="54864" marR="54864" marT="18288" marB="18288">
                    <a:solidFill>
                      <a:srgbClr val="FFFFFF"/>
                    </a:solidFill>
                  </a:tcPr>
                </a:tc>
                <a:tc>
                  <a:txBody>
                    <a:bodyPr/>
                    <a:lstStyle/>
                    <a:p>
                      <a:pPr>
                        <a:defRPr sz="800" b="0">
                          <a:solidFill>
                            <a:srgbClr val="000000"/>
                          </a:solidFill>
                          <a:latin typeface="Calibri"/>
                        </a:defRPr>
                      </a:pPr>
                      <a:r>
                        <a:t>33 / 3</a:t>
                      </a:r>
                    </a:p>
                  </a:txBody>
                  <a:tcPr marL="54864" marR="54864" marT="18288" marB="18288">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8.6 Reinforcement learning, Sales, dan Marketing</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44</a:t>
            </a:r>
          </a:p>
        </p:txBody>
      </p:sp>
      <p:pic>
        <p:nvPicPr>
          <p:cNvPr id="6" name="Picture 5" descr="fig_rl.png"/>
          <p:cNvPicPr>
            <a:picLocks noChangeAspect="1"/>
          </p:cNvPicPr>
          <p:nvPr/>
        </p:nvPicPr>
        <p:blipFill>
          <a:blip r:embed="rId2"/>
          <a:stretch>
            <a:fillRect/>
          </a:stretch>
        </p:blipFill>
        <p:spPr>
          <a:xfrm>
            <a:off x="631654" y="960119"/>
            <a:ext cx="10898211" cy="2743200"/>
          </a:xfrm>
          <a:prstGeom prst="rect">
            <a:avLst/>
          </a:prstGeom>
        </p:spPr>
      </p:pic>
      <p:pic>
        <p:nvPicPr>
          <p:cNvPr id="7" name="Picture 6" descr="fig_sales.png"/>
          <p:cNvPicPr>
            <a:picLocks noChangeAspect="1"/>
          </p:cNvPicPr>
          <p:nvPr/>
        </p:nvPicPr>
        <p:blipFill>
          <a:blip r:embed="rId3"/>
          <a:stretch>
            <a:fillRect/>
          </a:stretch>
        </p:blipFill>
        <p:spPr>
          <a:xfrm>
            <a:off x="274320" y="4096351"/>
            <a:ext cx="5120640" cy="1957136"/>
          </a:xfrm>
          <a:prstGeom prst="rect">
            <a:avLst/>
          </a:prstGeom>
        </p:spPr>
      </p:pic>
      <p:sp>
        <p:nvSpPr>
          <p:cNvPr id="8" name="TextBox 7"/>
          <p:cNvSpPr txBox="1"/>
          <p:nvPr/>
        </p:nvSpPr>
        <p:spPr>
          <a:xfrm>
            <a:off x="5577840" y="3794760"/>
            <a:ext cx="6309360" cy="2651760"/>
          </a:xfrm>
          <a:prstGeom prst="rect">
            <a:avLst/>
          </a:prstGeom>
          <a:noFill/>
        </p:spPr>
        <p:txBody>
          <a:bodyPr wrap="square">
            <a:spAutoFit/>
          </a:bodyPr>
          <a:lstStyle/>
          <a:p>
            <a:pPr>
              <a:spcAft>
                <a:spcPts val="400"/>
              </a:spcAft>
              <a:defRPr sz="1100" b="0">
                <a:solidFill>
                  <a:srgbClr val="000000"/>
                </a:solidFill>
                <a:latin typeface="Calibri"/>
              </a:defRPr>
            </a:pPr>
            <a:r>
              <a:t>• Pembelajaran mesin untuk keputusan lembur: kebijakan yang dilatih pada model sederhana tidak berpindah ke simulator, sedangkan yang dilatih langsung di simulator setara aturan sederhana 'lembur bila sisa waktu negatif'. Pada simulasi ini 'selalu lembur dalam anggaran' bisa lebih baik karena lembur murah dibanding denda.</a:t>
            </a:r>
          </a:p>
          <a:p>
            <a:pPr>
              <a:spcAft>
                <a:spcPts val="400"/>
              </a:spcAft>
              <a:defRPr sz="1100" b="0">
                <a:solidFill>
                  <a:srgbClr val="000000"/>
                </a:solidFill>
                <a:latin typeface="Calibri"/>
              </a:defRPr>
            </a:pPr>
            <a:r>
              <a:t>• Sales dan Marketing (eksploratif, bergantung asumsi): konversi RFQ ke kesepakatan 44% (meja manusia) vs 68% (SDR); waktu ke harga sepakat 33 vs 3 jam. Pembagian anggaran iklan oleh agen menghasilkan sekitar 63% lebih banyak RFQ berkualitas daripada pembagian rata; bila peringkat kanal selalu sama antar pasar, selisihnya 19%. Keduanya perlu divalidasi dengan data nyata.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8.6 Marketing &amp; Ads Agent (eksploratif, asumsi)</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45</a:t>
            </a:r>
          </a:p>
        </p:txBody>
      </p:sp>
      <p:pic>
        <p:nvPicPr>
          <p:cNvPr id="6" name="Picture 5" descr="fig_marketing.png"/>
          <p:cNvPicPr>
            <a:picLocks noChangeAspect="1"/>
          </p:cNvPicPr>
          <p:nvPr/>
        </p:nvPicPr>
        <p:blipFill>
          <a:blip r:embed="rId2"/>
          <a:stretch>
            <a:fillRect/>
          </a:stretch>
        </p:blipFill>
        <p:spPr>
          <a:xfrm>
            <a:off x="728755" y="960120"/>
            <a:ext cx="10704008" cy="3566160"/>
          </a:xfrm>
          <a:prstGeom prst="rect">
            <a:avLst/>
          </a:prstGeom>
        </p:spPr>
      </p:pic>
      <p:graphicFrame>
        <p:nvGraphicFramePr>
          <p:cNvPr id="7" name="Table 6"/>
          <p:cNvGraphicFramePr>
            <a:graphicFrameLocks noGrp="1"/>
          </p:cNvGraphicFramePr>
          <p:nvPr/>
        </p:nvGraphicFramePr>
        <p:xfrm>
          <a:off x="411480" y="4617720"/>
          <a:ext cx="10972800" cy="746760"/>
        </p:xfrm>
        <a:graphic>
          <a:graphicData uri="http://schemas.openxmlformats.org/drawingml/2006/table">
            <a:tbl>
              <a:tblPr firstRow="1" bandRow="1">
                <a:tableStyleId>{5C22544A-7EE6-4342-B048-85BDC9FD1C3A}</a:tableStyleId>
              </a:tblPr>
              <a:tblGrid>
                <a:gridCol w="4023360"/>
                <a:gridCol w="2377440"/>
                <a:gridCol w="2194560"/>
                <a:gridCol w="2377440"/>
              </a:tblGrid>
              <a:tr h="248920">
                <a:tc>
                  <a:txBody>
                    <a:bodyPr/>
                    <a:lstStyle/>
                    <a:p>
                      <a:pPr>
                        <a:defRPr sz="1050" b="1">
                          <a:solidFill>
                            <a:srgbClr val="000000"/>
                          </a:solidFill>
                          <a:latin typeface="Calibri"/>
                        </a:defRPr>
                      </a:pPr>
                      <a:r>
                        <a:t>Strategi (12 minggu, USD 500/minggu)</a:t>
                      </a:r>
                    </a:p>
                  </a:txBody>
                  <a:tcPr marL="54864" marR="54864" marT="18288" marB="18288">
                    <a:solidFill>
                      <a:srgbClr val="E5E7EB"/>
                    </a:solidFill>
                  </a:tcPr>
                </a:tc>
                <a:tc>
                  <a:txBody>
                    <a:bodyPr/>
                    <a:lstStyle/>
                    <a:p>
                      <a:pPr>
                        <a:defRPr sz="1050" b="1">
                          <a:solidFill>
                            <a:srgbClr val="000000"/>
                          </a:solidFill>
                          <a:latin typeface="Calibri"/>
                        </a:defRPr>
                      </a:pPr>
                      <a:r>
                        <a:t>RFQ berkualitas (rata-rata)</a:t>
                      </a:r>
                    </a:p>
                  </a:txBody>
                  <a:tcPr marL="54864" marR="54864" marT="18288" marB="18288">
                    <a:solidFill>
                      <a:srgbClr val="E5E7EB"/>
                    </a:solidFill>
                  </a:tcPr>
                </a:tc>
                <a:tc>
                  <a:txBody>
                    <a:bodyPr/>
                    <a:lstStyle/>
                    <a:p>
                      <a:pPr>
                        <a:defRPr sz="1050" b="1">
                          <a:solidFill>
                            <a:srgbClr val="000000"/>
                          </a:solidFill>
                          <a:latin typeface="Calibri"/>
                        </a:defRPr>
                      </a:pPr>
                      <a:r>
                        <a:t>Rentang 95%</a:t>
                      </a:r>
                    </a:p>
                  </a:txBody>
                  <a:tcPr marL="54864" marR="54864" marT="18288" marB="18288">
                    <a:solidFill>
                      <a:srgbClr val="E5E7EB"/>
                    </a:solidFill>
                  </a:tcPr>
                </a:tc>
                <a:tc>
                  <a:txBody>
                    <a:bodyPr/>
                    <a:lstStyle/>
                    <a:p>
                      <a:pPr>
                        <a:defRPr sz="1050" b="1">
                          <a:solidFill>
                            <a:srgbClr val="000000"/>
                          </a:solidFill>
                          <a:latin typeface="Calibri"/>
                        </a:defRPr>
                      </a:pPr>
                      <a:r>
                        <a:t>Biaya per RFQ (USD)</a:t>
                      </a:r>
                    </a:p>
                  </a:txBody>
                  <a:tcPr marL="54864" marR="54864" marT="18288" marB="18288">
                    <a:solidFill>
                      <a:srgbClr val="E5E7EB"/>
                    </a:solidFill>
                  </a:tcPr>
                </a:tc>
              </a:tr>
              <a:tr h="248920">
                <a:tc>
                  <a:txBody>
                    <a:bodyPr/>
                    <a:lstStyle/>
                    <a:p>
                      <a:pPr>
                        <a:defRPr sz="1050" b="0">
                          <a:solidFill>
                            <a:srgbClr val="000000"/>
                          </a:solidFill>
                          <a:latin typeface="Calibri"/>
                        </a:defRPr>
                      </a:pPr>
                      <a:r>
                        <a:t>Pembagian rata ke semua kanal</a:t>
                      </a:r>
                    </a:p>
                  </a:txBody>
                  <a:tcPr marL="54864" marR="54864" marT="18288" marB="18288">
                    <a:solidFill>
                      <a:srgbClr val="FFFFFF"/>
                    </a:solidFill>
                  </a:tcPr>
                </a:tc>
                <a:tc>
                  <a:txBody>
                    <a:bodyPr/>
                    <a:lstStyle/>
                    <a:p>
                      <a:pPr>
                        <a:defRPr sz="1050" b="0">
                          <a:solidFill>
                            <a:srgbClr val="000000"/>
                          </a:solidFill>
                          <a:latin typeface="Calibri"/>
                        </a:defRPr>
                      </a:pPr>
                      <a:r>
                        <a:t>27,8</a:t>
                      </a:r>
                    </a:p>
                  </a:txBody>
                  <a:tcPr marL="54864" marR="54864" marT="18288" marB="18288">
                    <a:solidFill>
                      <a:srgbClr val="FFFFFF"/>
                    </a:solidFill>
                  </a:tcPr>
                </a:tc>
                <a:tc>
                  <a:txBody>
                    <a:bodyPr/>
                    <a:lstStyle/>
                    <a:p>
                      <a:pPr>
                        <a:defRPr sz="1050" b="0">
                          <a:solidFill>
                            <a:srgbClr val="000000"/>
                          </a:solidFill>
                          <a:latin typeface="Calibri"/>
                        </a:defRPr>
                      </a:pPr>
                      <a:r>
                        <a:t>12 - 53</a:t>
                      </a:r>
                    </a:p>
                  </a:txBody>
                  <a:tcPr marL="54864" marR="54864" marT="18288" marB="18288">
                    <a:solidFill>
                      <a:srgbClr val="FFFFFF"/>
                    </a:solidFill>
                  </a:tcPr>
                </a:tc>
                <a:tc>
                  <a:txBody>
                    <a:bodyPr/>
                    <a:lstStyle/>
                    <a:p>
                      <a:pPr>
                        <a:defRPr sz="1050" b="0">
                          <a:solidFill>
                            <a:srgbClr val="000000"/>
                          </a:solidFill>
                          <a:latin typeface="Calibri"/>
                        </a:defRPr>
                      </a:pPr>
                      <a:r>
                        <a:t>216</a:t>
                      </a:r>
                    </a:p>
                  </a:txBody>
                  <a:tcPr marL="54864" marR="54864" marT="18288" marB="18288">
                    <a:solidFill>
                      <a:srgbClr val="FFFFFF"/>
                    </a:solidFill>
                  </a:tcPr>
                </a:tc>
              </a:tr>
              <a:tr h="248920">
                <a:tc>
                  <a:txBody>
                    <a:bodyPr/>
                    <a:lstStyle/>
                    <a:p>
                      <a:pPr>
                        <a:defRPr sz="1050" b="0">
                          <a:solidFill>
                            <a:srgbClr val="000000"/>
                          </a:solidFill>
                          <a:latin typeface="Calibri"/>
                        </a:defRPr>
                      </a:pPr>
                      <a:r>
                        <a:t>Marketing Agent (bandit)</a:t>
                      </a:r>
                    </a:p>
                  </a:txBody>
                  <a:tcPr marL="54864" marR="54864" marT="18288" marB="18288">
                    <a:solidFill>
                      <a:srgbClr val="FFFFFF"/>
                    </a:solidFill>
                  </a:tcPr>
                </a:tc>
                <a:tc>
                  <a:txBody>
                    <a:bodyPr/>
                    <a:lstStyle/>
                    <a:p>
                      <a:pPr>
                        <a:defRPr sz="1050" b="0">
                          <a:solidFill>
                            <a:srgbClr val="000000"/>
                          </a:solidFill>
                          <a:latin typeface="Calibri"/>
                        </a:defRPr>
                      </a:pPr>
                      <a:r>
                        <a:t>45,2</a:t>
                      </a:r>
                    </a:p>
                  </a:txBody>
                  <a:tcPr marL="54864" marR="54864" marT="18288" marB="18288">
                    <a:solidFill>
                      <a:srgbClr val="FFFFFF"/>
                    </a:solidFill>
                  </a:tcPr>
                </a:tc>
                <a:tc>
                  <a:txBody>
                    <a:bodyPr/>
                    <a:lstStyle/>
                    <a:p>
                      <a:pPr>
                        <a:defRPr sz="1050" b="0">
                          <a:solidFill>
                            <a:srgbClr val="000000"/>
                          </a:solidFill>
                          <a:latin typeface="Calibri"/>
                        </a:defRPr>
                      </a:pPr>
                      <a:r>
                        <a:t>14 - 116</a:t>
                      </a:r>
                    </a:p>
                  </a:txBody>
                  <a:tcPr marL="54864" marR="54864" marT="18288" marB="18288">
                    <a:solidFill>
                      <a:srgbClr val="FFFFFF"/>
                    </a:solidFill>
                  </a:tcPr>
                </a:tc>
                <a:tc>
                  <a:txBody>
                    <a:bodyPr/>
                    <a:lstStyle/>
                    <a:p>
                      <a:pPr>
                        <a:defRPr sz="1050" b="0">
                          <a:solidFill>
                            <a:srgbClr val="000000"/>
                          </a:solidFill>
                          <a:latin typeface="Calibri"/>
                        </a:defRPr>
                      </a:pPr>
                      <a:r>
                        <a:t>133</a:t>
                      </a:r>
                    </a:p>
                  </a:txBody>
                  <a:tcPr marL="54864" marR="54864" marT="18288" marB="18288">
                    <a:solidFill>
                      <a:srgbClr val="FFFFFF"/>
                    </a:solidFill>
                  </a:tcPr>
                </a:tc>
              </a:tr>
            </a:tbl>
          </a:graphicData>
        </a:graphic>
      </p:graphicFrame>
      <p:sp>
        <p:nvSpPr>
          <p:cNvPr id="8" name="TextBox 7"/>
          <p:cNvSpPr txBox="1"/>
          <p:nvPr/>
        </p:nvSpPr>
        <p:spPr>
          <a:xfrm>
            <a:off x="411480" y="5989320"/>
            <a:ext cx="11338560" cy="457200"/>
          </a:xfrm>
          <a:prstGeom prst="rect">
            <a:avLst/>
          </a:prstGeom>
          <a:noFill/>
        </p:spPr>
        <p:txBody>
          <a:bodyPr wrap="square">
            <a:spAutoFit/>
          </a:bodyPr>
          <a:lstStyle/>
          <a:p>
            <a:pPr>
              <a:spcAft>
                <a:spcPts val="400"/>
              </a:spcAft>
              <a:defRPr sz="1050" b="0">
                <a:solidFill>
                  <a:srgbClr val="333333"/>
                </a:solidFill>
                <a:latin typeface="Calibri"/>
              </a:defRPr>
            </a:pPr>
            <a:r>
              <a:t>Tingkat RFQ per dolar tiap kanal adalah ASUMSI, bukan data KrakaCoal; hasil menilai metodenya.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8.7 Implikasi bisnis bagi KrakaCoal</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46</a:t>
            </a:r>
          </a:p>
        </p:txBody>
      </p:sp>
      <p:graphicFrame>
        <p:nvGraphicFramePr>
          <p:cNvPr id="6" name="Table 5"/>
          <p:cNvGraphicFramePr>
            <a:graphicFrameLocks noGrp="1"/>
          </p:cNvGraphicFramePr>
          <p:nvPr/>
        </p:nvGraphicFramePr>
        <p:xfrm>
          <a:off x="365760" y="1005840"/>
          <a:ext cx="11430000" cy="3909052"/>
        </p:xfrm>
        <a:graphic>
          <a:graphicData uri="http://schemas.openxmlformats.org/drawingml/2006/table">
            <a:tbl>
              <a:tblPr firstRow="1" bandRow="1">
                <a:tableStyleId>{5C22544A-7EE6-4342-B048-85BDC9FD1C3A}</a:tableStyleId>
              </a:tblPr>
              <a:tblGrid>
                <a:gridCol w="6583680"/>
                <a:gridCol w="4846320"/>
              </a:tblGrid>
              <a:tr h="271780">
                <a:tc>
                  <a:txBody>
                    <a:bodyPr/>
                    <a:lstStyle/>
                    <a:p>
                      <a:pPr>
                        <a:defRPr sz="1200" b="1">
                          <a:solidFill>
                            <a:srgbClr val="000000"/>
                          </a:solidFill>
                          <a:latin typeface="Calibri"/>
                        </a:defRPr>
                      </a:pPr>
                      <a:r>
                        <a:t>Rekomendasi operasional</a:t>
                      </a:r>
                    </a:p>
                  </a:txBody>
                  <a:tcPr marL="54864" marR="54864" marT="18288" marB="18288">
                    <a:solidFill>
                      <a:srgbClr val="E5E7EB"/>
                    </a:solidFill>
                  </a:tcPr>
                </a:tc>
                <a:tc>
                  <a:txBody>
                    <a:bodyPr/>
                    <a:lstStyle/>
                    <a:p>
                      <a:pPr>
                        <a:defRPr sz="1200" b="1">
                          <a:solidFill>
                            <a:srgbClr val="000000"/>
                          </a:solidFill>
                          <a:latin typeface="Calibri"/>
                        </a:defRPr>
                      </a:pPr>
                      <a:r>
                        <a:t>Dasar pada eksperimen</a:t>
                      </a:r>
                    </a:p>
                  </a:txBody>
                  <a:tcPr marL="54864" marR="54864" marT="18288" marB="18288">
                    <a:solidFill>
                      <a:srgbClr val="E5E7EB"/>
                    </a:solidFill>
                  </a:tcPr>
                </a:tc>
              </a:tr>
              <a:tr h="454659">
                <a:tc>
                  <a:txBody>
                    <a:bodyPr/>
                    <a:lstStyle/>
                    <a:p>
                      <a:pPr>
                        <a:defRPr sz="1200" b="0">
                          <a:solidFill>
                            <a:srgbClr val="000000"/>
                          </a:solidFill>
                          <a:latin typeface="Calibri"/>
                        </a:defRPr>
                      </a:pPr>
                      <a:r>
                        <a:t>Pesan produsen 15% lebih banyak dari kebutuhan pada putaran pertama; pertahankan re-kontrak untuk kekurangan</a:t>
                      </a:r>
                    </a:p>
                  </a:txBody>
                  <a:tcPr marL="54864" marR="54864" marT="18288" marB="18288">
                    <a:solidFill>
                      <a:srgbClr val="FFFFFF"/>
                    </a:solidFill>
                  </a:tcPr>
                </a:tc>
                <a:tc>
                  <a:txBody>
                    <a:bodyPr/>
                    <a:lstStyle/>
                    <a:p>
                      <a:pPr>
                        <a:defRPr sz="1200" b="0">
                          <a:solidFill>
                            <a:srgbClr val="000000"/>
                          </a:solidFill>
                          <a:latin typeface="Calibri"/>
                        </a:defRPr>
                      </a:pPr>
                      <a:r>
                        <a:t>Sweep buffer: margin puncak 15-20%; tanpa buffer OTIF turun tajam</a:t>
                      </a:r>
                    </a:p>
                  </a:txBody>
                  <a:tcPr marL="54864" marR="54864" marT="18288" marB="18288">
                    <a:solidFill>
                      <a:srgbClr val="FFFFFF"/>
                    </a:solidFill>
                  </a:tcPr>
                </a:tc>
              </a:tr>
              <a:tr h="454659">
                <a:tc>
                  <a:txBody>
                    <a:bodyPr/>
                    <a:lstStyle/>
                    <a:p>
                      <a:pPr>
                        <a:defRPr sz="1200" b="0">
                          <a:solidFill>
                            <a:srgbClr val="000000"/>
                          </a:solidFill>
                          <a:latin typeface="Calibri"/>
                        </a:defRPr>
                      </a:pPr>
                      <a:r>
                        <a:t>Minta konfirmasi kapasitas nyata dari produsen (template WhatsApp) sebelum mengunci kuota, bukan mengandalkan data pendaftaran</a:t>
                      </a:r>
                    </a:p>
                  </a:txBody>
                  <a:tcPr marL="54864" marR="54864" marT="18288" marB="18288">
                    <a:solidFill>
                      <a:srgbClr val="FFFFFF"/>
                    </a:solidFill>
                  </a:tcPr>
                </a:tc>
                <a:tc>
                  <a:txBody>
                    <a:bodyPr/>
                    <a:lstStyle/>
                    <a:p>
                      <a:pPr>
                        <a:defRPr sz="1200" b="0">
                          <a:solidFill>
                            <a:srgbClr val="000000"/>
                          </a:solidFill>
                          <a:latin typeface="Calibri"/>
                        </a:defRPr>
                      </a:pPr>
                      <a:r>
                        <a:t>Sweep data usang: nilai tawaran live tumbuh dengan variasi ketersediaan</a:t>
                      </a:r>
                    </a:p>
                  </a:txBody>
                  <a:tcPr marL="54864" marR="54864" marT="18288" marB="18288">
                    <a:solidFill>
                      <a:srgbClr val="FFFFFF"/>
                    </a:solidFill>
                  </a:tcPr>
                </a:tc>
              </a:tr>
              <a:tr h="454659">
                <a:tc>
                  <a:txBody>
                    <a:bodyPr/>
                    <a:lstStyle/>
                    <a:p>
                      <a:pPr>
                        <a:defRPr sz="1200" b="0">
                          <a:solidFill>
                            <a:srgbClr val="000000"/>
                          </a:solidFill>
                          <a:latin typeface="Calibri"/>
                        </a:defRPr>
                      </a:pPr>
                      <a:r>
                        <a:t>Prioritaskan produsen dengan skor mutu tinggi, blokir skor di bawah 0,60, batasi 30% per produsen</a:t>
                      </a:r>
                    </a:p>
                  </a:txBody>
                  <a:tcPr marL="54864" marR="54864" marT="18288" marB="18288">
                    <a:solidFill>
                      <a:srgbClr val="FFFFFF"/>
                    </a:solidFill>
                  </a:tcPr>
                </a:tc>
                <a:tc>
                  <a:txBody>
                    <a:bodyPr/>
                    <a:lstStyle/>
                    <a:p>
                      <a:pPr>
                        <a:defRPr sz="1200" b="0">
                          <a:solidFill>
                            <a:srgbClr val="000000"/>
                          </a:solidFill>
                          <a:latin typeface="Calibri"/>
                        </a:defRPr>
                      </a:pPr>
                      <a:r>
                        <a:t>Ablation skor mutu dan batas konsentrasi</a:t>
                      </a:r>
                    </a:p>
                  </a:txBody>
                  <a:tcPr marL="54864" marR="54864" marT="18288" marB="18288">
                    <a:solidFill>
                      <a:srgbClr val="FFFFFF"/>
                    </a:solidFill>
                  </a:tcPr>
                </a:tc>
              </a:tr>
              <a:tr h="454659">
                <a:tc>
                  <a:txBody>
                    <a:bodyPr/>
                    <a:lstStyle/>
                    <a:p>
                      <a:pPr>
                        <a:defRPr sz="1200" b="0">
                          <a:solidFill>
                            <a:srgbClr val="000000"/>
                          </a:solidFill>
                          <a:latin typeface="Calibri"/>
                        </a:defRPr>
                      </a:pPr>
                      <a:r>
                        <a:t>Mulai dokumen (HS, sertifikat) saat DP terverifikasi, paralel dengan produksi</a:t>
                      </a:r>
                    </a:p>
                  </a:txBody>
                  <a:tcPr marL="54864" marR="54864" marT="18288" marB="18288">
                    <a:solidFill>
                      <a:srgbClr val="FFFFFF"/>
                    </a:solidFill>
                  </a:tcPr>
                </a:tc>
                <a:tc>
                  <a:txBody>
                    <a:bodyPr/>
                    <a:lstStyle/>
                    <a:p>
                      <a:pPr>
                        <a:defRPr sz="1200" b="0">
                          <a:solidFill>
                            <a:srgbClr val="000000"/>
                          </a:solidFill>
                          <a:latin typeface="Calibri"/>
                        </a:defRPr>
                      </a:pPr>
                      <a:r>
                        <a:t>Ablation: dokumen paralel = penghematan waktu terbesar kedua</a:t>
                      </a:r>
                    </a:p>
                  </a:txBody>
                  <a:tcPr marL="54864" marR="54864" marT="18288" marB="18288">
                    <a:solidFill>
                      <a:srgbClr val="FFFFFF"/>
                    </a:solidFill>
                  </a:tcPr>
                </a:tc>
              </a:tr>
              <a:tr h="454659">
                <a:tc>
                  <a:txBody>
                    <a:bodyPr/>
                    <a:lstStyle/>
                    <a:p>
                      <a:pPr>
                        <a:defRPr sz="1200" b="0">
                          <a:solidFill>
                            <a:srgbClr val="000000"/>
                          </a:solidFill>
                          <a:latin typeface="Calibri"/>
                        </a:defRPr>
                      </a:pPr>
                      <a:r>
                        <a:t>Pertahankan verifikasi DP manual (level 2) dan persetujuan order bernilai tinggi</a:t>
                      </a:r>
                    </a:p>
                  </a:txBody>
                  <a:tcPr marL="54864" marR="54864" marT="18288" marB="18288">
                    <a:solidFill>
                      <a:srgbClr val="FFFFFF"/>
                    </a:solidFill>
                  </a:tcPr>
                </a:tc>
                <a:tc>
                  <a:txBody>
                    <a:bodyPr/>
                    <a:lstStyle/>
                    <a:p>
                      <a:pPr>
                        <a:defRPr sz="1200" b="0">
                          <a:solidFill>
                            <a:srgbClr val="000000"/>
                          </a:solidFill>
                          <a:latin typeface="Calibri"/>
                        </a:defRPr>
                      </a:pPr>
                      <a:r>
                        <a:t>Menambah sekitar satu sentuhan per order namun mencegah kesalahan pembayaran</a:t>
                      </a:r>
                    </a:p>
                  </a:txBody>
                  <a:tcPr marL="54864" marR="54864" marT="18288" marB="18288">
                    <a:solidFill>
                      <a:srgbClr val="FFFFFF"/>
                    </a:solidFill>
                  </a:tcPr>
                </a:tc>
              </a:tr>
              <a:tr h="454659">
                <a:tc>
                  <a:txBody>
                    <a:bodyPr/>
                    <a:lstStyle/>
                    <a:p>
                      <a:pPr>
                        <a:defRPr sz="1200" b="0">
                          <a:solidFill>
                            <a:srgbClr val="000000"/>
                          </a:solidFill>
                          <a:latin typeface="Calibri"/>
                        </a:defRPr>
                      </a:pPr>
                      <a:r>
                        <a:t>Bagi anggaran iklan antar kanal secara adaptif, dan hanya iklankan produk yang kapasitasnya tersedia</a:t>
                      </a:r>
                    </a:p>
                  </a:txBody>
                  <a:tcPr marL="54864" marR="54864" marT="18288" marB="18288">
                    <a:solidFill>
                      <a:srgbClr val="FFFFFF"/>
                    </a:solidFill>
                  </a:tcPr>
                </a:tc>
                <a:tc>
                  <a:txBody>
                    <a:bodyPr/>
                    <a:lstStyle/>
                    <a:p>
                      <a:pPr>
                        <a:defRPr sz="1200" b="0">
                          <a:solidFill>
                            <a:srgbClr val="000000"/>
                          </a:solidFill>
                          <a:latin typeface="Calibri"/>
                        </a:defRPr>
                      </a:pPr>
                      <a:r>
                        <a:t>Simulasi Marketing (eksploratif); sinyal kapasitas dari Order Agent</a:t>
                      </a:r>
                    </a:p>
                  </a:txBody>
                  <a:tcPr marL="54864" marR="54864" marT="18288" marB="18288">
                    <a:solidFill>
                      <a:srgbClr val="FFFFFF"/>
                    </a:solidFill>
                  </a:tcPr>
                </a:tc>
              </a:tr>
              <a:tr h="454659">
                <a:tc>
                  <a:txBody>
                    <a:bodyPr/>
                    <a:lstStyle/>
                    <a:p>
                      <a:pPr>
                        <a:defRPr sz="1200" b="0">
                          <a:solidFill>
                            <a:srgbClr val="000000"/>
                          </a:solidFill>
                          <a:latin typeface="Calibri"/>
                        </a:defRPr>
                      </a:pPr>
                      <a:r>
                        <a:t>Untuk 20 produsen yang stabil, mulai dengan agen tunggal; pindah ke multi-agen saat pool ratusan produsen</a:t>
                      </a:r>
                    </a:p>
                  </a:txBody>
                  <a:tcPr marL="54864" marR="54864" marT="18288" marB="18288">
                    <a:solidFill>
                      <a:srgbClr val="FFFFFF"/>
                    </a:solidFill>
                  </a:tcPr>
                </a:tc>
                <a:tc>
                  <a:txBody>
                    <a:bodyPr/>
                    <a:lstStyle/>
                    <a:p>
                      <a:pPr>
                        <a:defRPr sz="1200" b="0">
                          <a:solidFill>
                            <a:srgbClr val="000000"/>
                          </a:solidFill>
                          <a:latin typeface="Calibri"/>
                        </a:defRPr>
                      </a:pPr>
                      <a:r>
                        <a:t>Kesimpulan sensitivitas dan skala</a:t>
                      </a:r>
                    </a:p>
                  </a:txBody>
                  <a:tcPr marL="54864" marR="54864" marT="18288" marB="18288">
                    <a:solidFill>
                      <a:srgbClr val="FFFFFF"/>
                    </a:solidFill>
                  </a:tcPr>
                </a:tc>
              </a:tr>
              <a:tr h="454659">
                <a:tc>
                  <a:txBody>
                    <a:bodyPr/>
                    <a:lstStyle/>
                    <a:p>
                      <a:pPr>
                        <a:defRPr sz="1200" b="0">
                          <a:solidFill>
                            <a:srgbClr val="000000"/>
                          </a:solidFill>
                          <a:latin typeface="Calibri"/>
                        </a:defRPr>
                      </a:pPr>
                      <a:r>
                        <a:t>Kumpulkan data untuk kalibrasi: syarat pembayaran, harga beli per produsen, tingkat gagal kirim dan reject, waktu balas WhatsApp, performa tiap kanal iklan</a:t>
                      </a:r>
                    </a:p>
                  </a:txBody>
                  <a:tcPr marL="54864" marR="54864" marT="18288" marB="18288">
                    <a:solidFill>
                      <a:srgbClr val="FFFFFF"/>
                    </a:solidFill>
                  </a:tcPr>
                </a:tc>
                <a:tc>
                  <a:txBody>
                    <a:bodyPr/>
                    <a:lstStyle/>
                    <a:p>
                      <a:pPr>
                        <a:defRPr sz="1200" b="0">
                          <a:solidFill>
                            <a:srgbClr val="000000"/>
                          </a:solidFill>
                          <a:latin typeface="Calibri"/>
                        </a:defRPr>
                      </a:pPr>
                      <a:r>
                        <a:t>Batasan data sintetis</a:t>
                      </a:r>
                    </a:p>
                  </a:txBody>
                  <a:tcPr marL="54864" marR="54864" marT="18288" marB="18288">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8.8 Keterbatasan dan validitas</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47</a:t>
            </a:r>
          </a:p>
        </p:txBody>
      </p:sp>
      <p:sp>
        <p:nvSpPr>
          <p:cNvPr id="6" name="TextBox 5"/>
          <p:cNvSpPr txBox="1"/>
          <p:nvPr/>
        </p:nvSpPr>
        <p:spPr>
          <a:xfrm>
            <a:off x="411480" y="1005840"/>
            <a:ext cx="11338560" cy="5394960"/>
          </a:xfrm>
          <a:prstGeom prst="rect">
            <a:avLst/>
          </a:prstGeom>
          <a:noFill/>
        </p:spPr>
        <p:txBody>
          <a:bodyPr wrap="square">
            <a:spAutoFit/>
          </a:bodyPr>
          <a:lstStyle/>
          <a:p>
            <a:pPr>
              <a:spcAft>
                <a:spcPts val="600"/>
              </a:spcAft>
              <a:defRPr sz="1300" b="0">
                <a:solidFill>
                  <a:srgbClr val="000000"/>
                </a:solidFill>
                <a:latin typeface="Calibri"/>
              </a:defRPr>
            </a:pPr>
            <a:r>
              <a:t>• Data sintetis: KrakaCoal tidak mempublikasikan harga atau syarat pembayaran. Tidak ada klaim performa nyata; kalibrasi ke data operasional riil (ERP/CRM, riwayat produsen) adalah langkah wajib berikutnya.</a:t>
            </a:r>
          </a:p>
          <a:p>
            <a:pPr>
              <a:spcAft>
                <a:spcPts val="600"/>
              </a:spcAft>
              <a:defRPr sz="1300" b="0">
                <a:solidFill>
                  <a:srgbClr val="000000"/>
                </a:solidFill>
                <a:latin typeface="Calibri"/>
              </a:defRPr>
            </a:pPr>
            <a:r>
              <a:t>• Keunggulan multi-agen bergantung pada asumsi variasi ketersediaan (45%) dan galat data pendaftaran (10%); sweep sensitivitas ditampilkan dan pada variasi 0% keunggulan hilang.</a:t>
            </a:r>
          </a:p>
          <a:p>
            <a:pPr>
              <a:spcAft>
                <a:spcPts val="600"/>
              </a:spcAft>
              <a:defRPr sz="1300" b="0">
                <a:solidFill>
                  <a:srgbClr val="000000"/>
                </a:solidFill>
                <a:latin typeface="Calibri"/>
              </a:defRPr>
            </a:pPr>
            <a:r>
              <a:t>• Jumlah pesan pusat vs multi-agen bergantung pada asumsi refresh data mingguan dan batas fan-out CFP; pada pemasokan multi-agen memakai lebih banyak pesan.</a:t>
            </a:r>
          </a:p>
          <a:p>
            <a:pPr>
              <a:spcAft>
                <a:spcPts val="600"/>
              </a:spcAft>
              <a:defRPr sz="1300" b="0">
                <a:solidFill>
                  <a:srgbClr val="000000"/>
                </a:solidFill>
                <a:latin typeface="Calibri"/>
              </a:defRPr>
            </a:pPr>
            <a:r>
              <a:t>• Uji mutu berbasis citra (CNN) dan LLM untuk Sales dan Marketing tidak diimplementasikan sebagai model; uji mutu dimodelkan sebagai tingkat kelolosan statistik, Sales sebagai logika konsesi, dan Marketing sebagai simulasi pembagian anggaran. Ketiganya eksploratif.</a:t>
            </a:r>
          </a:p>
          <a:p>
            <a:pPr>
              <a:spcAft>
                <a:spcPts val="600"/>
              </a:spcAft>
              <a:defRPr sz="1300" b="0">
                <a:solidFill>
                  <a:srgbClr val="000000"/>
                </a:solidFill>
                <a:latin typeface="Calibri"/>
              </a:defRPr>
            </a:pPr>
            <a:r>
              <a:t>• Denda keterlambatan, harga jual, dan tarif carrier adalah asumsi; kerugian reputasi, pembatalan L/C, dan kurs tidak dimodelkan. Angka simulasi Marketing (tingkat RFQ per dolar tiap kanal) adalah asumsi, bukan data KrakaCoal.</a:t>
            </a:r>
          </a:p>
          <a:p>
            <a:pPr>
              <a:spcAft>
                <a:spcPts val="600"/>
              </a:spcAft>
              <a:defRPr sz="1300" b="0">
                <a:solidFill>
                  <a:srgbClr val="000000"/>
                </a:solidFill>
                <a:latin typeface="Calibri"/>
              </a:defRPr>
            </a:pPr>
            <a:r>
              <a:t>• Model risiko (AUC 0,76) dilatih pada data yang dibangkitkan dari proses yang kami tulis sendiri; belum ada uji drift atau retraining online.</a:t>
            </a:r>
          </a:p>
          <a:p>
            <a:pPr>
              <a:spcAft>
                <a:spcPts val="600"/>
              </a:spcAft>
              <a:defRPr sz="1300" b="0">
                <a:solidFill>
                  <a:srgbClr val="000000"/>
                </a:solidFill>
                <a:latin typeface="Calibri"/>
              </a:defRPr>
            </a:pPr>
            <a:r>
              <a:t>• Simulasi diskret (langkah 0,05 hari), 300 skenario evaluasi (seed 0-299), terpisah dari seed kalibrasi (1000+) dan pelatihan pembelajaran mesin (10000+).</a:t>
            </a:r>
          </a:p>
          <a:p>
            <a:pPr>
              <a:spcAft>
                <a:spcPts val="600"/>
              </a:spcAft>
              <a:defRPr sz="1300" b="0">
                <a:solidFill>
                  <a:srgbClr val="000000"/>
                </a:solidFill>
                <a:latin typeface="Calibri"/>
              </a:defRPr>
            </a:pPr>
            <a:r>
              <a:t>• Belum ada UI dashboard, integrasi WhatsApp Business API, API iklan (Google/LinkedIn), atau API bea cukai/carrier nyata; itu rencana Project #1.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Peta materi kuliah ke implementasi</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48</a:t>
            </a:r>
          </a:p>
        </p:txBody>
      </p:sp>
      <p:graphicFrame>
        <p:nvGraphicFramePr>
          <p:cNvPr id="6" name="Table 5"/>
          <p:cNvGraphicFramePr>
            <a:graphicFrameLocks noGrp="1"/>
          </p:cNvGraphicFramePr>
          <p:nvPr/>
        </p:nvGraphicFramePr>
        <p:xfrm>
          <a:off x="274320" y="960120"/>
          <a:ext cx="11704320" cy="3947160"/>
        </p:xfrm>
        <a:graphic>
          <a:graphicData uri="http://schemas.openxmlformats.org/drawingml/2006/table">
            <a:tbl>
              <a:tblPr firstRow="1" bandRow="1">
                <a:tableStyleId>{5C22544A-7EE6-4342-B048-85BDC9FD1C3A}</a:tableStyleId>
              </a:tblPr>
              <a:tblGrid>
                <a:gridCol w="4480560"/>
                <a:gridCol w="4572000"/>
                <a:gridCol w="2651760"/>
              </a:tblGrid>
              <a:tr h="248920">
                <a:tc>
                  <a:txBody>
                    <a:bodyPr/>
                    <a:lstStyle/>
                    <a:p>
                      <a:pPr>
                        <a:defRPr sz="1050" b="1">
                          <a:solidFill>
                            <a:srgbClr val="000000"/>
                          </a:solidFill>
                          <a:latin typeface="Calibri"/>
                        </a:defRPr>
                      </a:pPr>
                      <a:r>
                        <a:t>Materi kuliah</a:t>
                      </a:r>
                    </a:p>
                  </a:txBody>
                  <a:tcPr marL="54864" marR="54864" marT="18288" marB="18288">
                    <a:solidFill>
                      <a:srgbClr val="E5E7EB"/>
                    </a:solidFill>
                  </a:tcPr>
                </a:tc>
                <a:tc>
                  <a:txBody>
                    <a:bodyPr/>
                    <a:lstStyle/>
                    <a:p>
                      <a:pPr>
                        <a:defRPr sz="1050" b="1">
                          <a:solidFill>
                            <a:srgbClr val="000000"/>
                          </a:solidFill>
                          <a:latin typeface="Calibri"/>
                        </a:defRPr>
                      </a:pPr>
                      <a:r>
                        <a:t>Penerapan pada KCMAS</a:t>
                      </a:r>
                    </a:p>
                  </a:txBody>
                  <a:tcPr marL="54864" marR="54864" marT="18288" marB="18288">
                    <a:solidFill>
                      <a:srgbClr val="E5E7EB"/>
                    </a:solidFill>
                  </a:tcPr>
                </a:tc>
                <a:tc>
                  <a:txBody>
                    <a:bodyPr/>
                    <a:lstStyle/>
                    <a:p>
                      <a:pPr>
                        <a:defRPr sz="1050" b="1">
                          <a:solidFill>
                            <a:srgbClr val="000000"/>
                          </a:solidFill>
                          <a:latin typeface="Calibri"/>
                        </a:defRPr>
                      </a:pPr>
                      <a:r>
                        <a:t>Berkas kode</a:t>
                      </a:r>
                    </a:p>
                  </a:txBody>
                  <a:tcPr marL="54864" marR="54864" marT="18288" marB="18288">
                    <a:solidFill>
                      <a:srgbClr val="E5E7EB"/>
                    </a:solidFill>
                  </a:tcPr>
                </a:tc>
              </a:tr>
              <a:tr h="408940">
                <a:tc>
                  <a:txBody>
                    <a:bodyPr/>
                    <a:lstStyle/>
                    <a:p>
                      <a:pPr>
                        <a:defRPr sz="1050" b="0">
                          <a:solidFill>
                            <a:srgbClr val="000000"/>
                          </a:solidFill>
                          <a:latin typeface="Calibri"/>
                        </a:defRPr>
                      </a:pPr>
                      <a:r>
                        <a:t>Bab 1: hibrida prediksi + aturan; model paling sederhana yang memadai</a:t>
                      </a:r>
                    </a:p>
                  </a:txBody>
                  <a:tcPr marL="54864" marR="54864" marT="18288" marB="18288">
                    <a:solidFill>
                      <a:srgbClr val="FFFFFF"/>
                    </a:solidFill>
                  </a:tcPr>
                </a:tc>
                <a:tc>
                  <a:txBody>
                    <a:bodyPr/>
                    <a:lstStyle/>
                    <a:p>
                      <a:pPr>
                        <a:defRPr sz="1050" b="0">
                          <a:solidFill>
                            <a:srgbClr val="000000"/>
                          </a:solidFill>
                          <a:latin typeface="Calibri"/>
                        </a:defRPr>
                      </a:pPr>
                      <a:r>
                        <a:t>Risk/Compliance = ML klasik; governance = aturan; DL/LLM sesuai porsi</a:t>
                      </a:r>
                    </a:p>
                  </a:txBody>
                  <a:tcPr marL="54864" marR="54864" marT="18288" marB="18288">
                    <a:solidFill>
                      <a:srgbClr val="FFFFFF"/>
                    </a:solidFill>
                  </a:tcPr>
                </a:tc>
                <a:tc>
                  <a:txBody>
                    <a:bodyPr/>
                    <a:lstStyle/>
                    <a:p>
                      <a:pPr>
                        <a:defRPr sz="1050" b="0">
                          <a:solidFill>
                            <a:srgbClr val="000000"/>
                          </a:solidFill>
                          <a:latin typeface="Calibri"/>
                        </a:defRPr>
                      </a:pPr>
                      <a:r>
                        <a:t>ml.py, sim.py</a:t>
                      </a:r>
                    </a:p>
                  </a:txBody>
                  <a:tcPr marL="54864" marR="54864" marT="18288" marB="18288">
                    <a:solidFill>
                      <a:srgbClr val="FFFFFF"/>
                    </a:solidFill>
                  </a:tcPr>
                </a:tc>
              </a:tr>
              <a:tr h="248920">
                <a:tc>
                  <a:txBody>
                    <a:bodyPr/>
                    <a:lstStyle/>
                    <a:p>
                      <a:pPr>
                        <a:defRPr sz="1050" b="0">
                          <a:solidFill>
                            <a:srgbClr val="000000"/>
                          </a:solidFill>
                          <a:latin typeface="Calibri"/>
                        </a:defRPr>
                      </a:pPr>
                      <a:r>
                        <a:t>Bab 2: PEAS, klasifikasi lingkungan, rational agent</a:t>
                      </a:r>
                    </a:p>
                  </a:txBody>
                  <a:tcPr marL="54864" marR="54864" marT="18288" marB="18288">
                    <a:solidFill>
                      <a:srgbClr val="FFFFFF"/>
                    </a:solidFill>
                  </a:tcPr>
                </a:tc>
                <a:tc>
                  <a:txBody>
                    <a:bodyPr/>
                    <a:lstStyle/>
                    <a:p>
                      <a:pPr>
                        <a:defRPr sz="1050" b="0">
                          <a:solidFill>
                            <a:srgbClr val="000000"/>
                          </a:solidFill>
                          <a:latin typeface="Calibri"/>
                        </a:defRPr>
                      </a:pPr>
                      <a:r>
                        <a:t>Bagian 2.2-2.3</a:t>
                      </a:r>
                    </a:p>
                  </a:txBody>
                  <a:tcPr marL="54864" marR="54864" marT="18288" marB="18288">
                    <a:solidFill>
                      <a:srgbClr val="FFFFFF"/>
                    </a:solidFill>
                  </a:tcPr>
                </a:tc>
                <a:tc>
                  <a:txBody>
                    <a:bodyPr/>
                    <a:lstStyle/>
                    <a:p>
                      <a:pPr>
                        <a:defRPr sz="1050" b="0">
                          <a:solidFill>
                            <a:srgbClr val="000000"/>
                          </a:solidFill>
                          <a:latin typeface="Calibri"/>
                        </a:defRPr>
                      </a:pPr>
                      <a:r>
                        <a:t>config.py, consortium.py</a:t>
                      </a:r>
                    </a:p>
                  </a:txBody>
                  <a:tcPr marL="54864" marR="54864" marT="18288" marB="18288">
                    <a:solidFill>
                      <a:srgbClr val="FFFFFF"/>
                    </a:solidFill>
                  </a:tcPr>
                </a:tc>
              </a:tr>
              <a:tr h="248920">
                <a:tc>
                  <a:txBody>
                    <a:bodyPr/>
                    <a:lstStyle/>
                    <a:p>
                      <a:pPr>
                        <a:defRPr sz="1050" b="0">
                          <a:solidFill>
                            <a:srgbClr val="000000"/>
                          </a:solidFill>
                          <a:latin typeface="Calibri"/>
                        </a:defRPr>
                      </a:pPr>
                      <a:r>
                        <a:t>Bab 2: reactive vs deliberative, level otonomi, learning agent</a:t>
                      </a:r>
                    </a:p>
                  </a:txBody>
                  <a:tcPr marL="54864" marR="54864" marT="18288" marB="18288">
                    <a:solidFill>
                      <a:srgbClr val="FFFFFF"/>
                    </a:solidFill>
                  </a:tcPr>
                </a:tc>
                <a:tc>
                  <a:txBody>
                    <a:bodyPr/>
                    <a:lstStyle/>
                    <a:p>
                      <a:pPr>
                        <a:defRPr sz="1050" b="0">
                          <a:solidFill>
                            <a:srgbClr val="000000"/>
                          </a:solidFill>
                          <a:latin typeface="Calibri"/>
                        </a:defRPr>
                      </a:pPr>
                      <a:r>
                        <a:t>Monitor kondisi lini; agen hibrida; level 1-4; Learning Agent</a:t>
                      </a:r>
                    </a:p>
                  </a:txBody>
                  <a:tcPr marL="54864" marR="54864" marT="18288" marB="18288">
                    <a:solidFill>
                      <a:srgbClr val="FFFFFF"/>
                    </a:solidFill>
                  </a:tcPr>
                </a:tc>
                <a:tc>
                  <a:txBody>
                    <a:bodyPr/>
                    <a:lstStyle/>
                    <a:p>
                      <a:pPr>
                        <a:defRPr sz="1050" b="0">
                          <a:solidFill>
                            <a:srgbClr val="000000"/>
                          </a:solidFill>
                          <a:latin typeface="Calibri"/>
                        </a:defRPr>
                      </a:pPr>
                      <a:r>
                        <a:t>ml.py, rl.py, rl_sim.py</a:t>
                      </a:r>
                    </a:p>
                  </a:txBody>
                  <a:tcPr marL="54864" marR="54864" marT="18288" marB="18288">
                    <a:solidFill>
                      <a:srgbClr val="FFFFFF"/>
                    </a:solidFill>
                  </a:tcPr>
                </a:tc>
              </a:tr>
              <a:tr h="248920">
                <a:tc>
                  <a:txBody>
                    <a:bodyPr/>
                    <a:lstStyle/>
                    <a:p>
                      <a:pPr>
                        <a:defRPr sz="1050" b="0">
                          <a:solidFill>
                            <a:srgbClr val="000000"/>
                          </a:solidFill>
                          <a:latin typeface="Calibri"/>
                        </a:defRPr>
                      </a:pPr>
                      <a:r>
                        <a:t>Bab 3: BDI (belief, desire, intention), siklus kerja agen</a:t>
                      </a:r>
                    </a:p>
                  </a:txBody>
                  <a:tcPr marL="54864" marR="54864" marT="18288" marB="18288">
                    <a:solidFill>
                      <a:srgbClr val="FFFFFF"/>
                    </a:solidFill>
                  </a:tcPr>
                </a:tc>
                <a:tc>
                  <a:txBody>
                    <a:bodyPr/>
                    <a:lstStyle/>
                    <a:p>
                      <a:pPr>
                        <a:defRPr sz="1050" b="0">
                          <a:solidFill>
                            <a:srgbClr val="000000"/>
                          </a:solidFill>
                          <a:latin typeface="Calibri"/>
                        </a:defRPr>
                      </a:pPr>
                      <a:r>
                        <a:t>Tabel agen (5.2), siklus kerja (5.1)</a:t>
                      </a:r>
                    </a:p>
                  </a:txBody>
                  <a:tcPr marL="54864" marR="54864" marT="18288" marB="18288">
                    <a:solidFill>
                      <a:srgbClr val="FFFFFF"/>
                    </a:solidFill>
                  </a:tcPr>
                </a:tc>
                <a:tc>
                  <a:txBody>
                    <a:bodyPr/>
                    <a:lstStyle/>
                    <a:p>
                      <a:pPr>
                        <a:defRPr sz="1050" b="0">
                          <a:solidFill>
                            <a:srgbClr val="000000"/>
                          </a:solidFill>
                          <a:latin typeface="Calibri"/>
                        </a:defRPr>
                      </a:pPr>
                      <a:r>
                        <a:t>sim.py, consortium.py</a:t>
                      </a:r>
                    </a:p>
                  </a:txBody>
                  <a:tcPr marL="54864" marR="54864" marT="18288" marB="18288">
                    <a:solidFill>
                      <a:srgbClr val="FFFFFF"/>
                    </a:solidFill>
                  </a:tcPr>
                </a:tc>
              </a:tr>
              <a:tr h="248920">
                <a:tc>
                  <a:txBody>
                    <a:bodyPr/>
                    <a:lstStyle/>
                    <a:p>
                      <a:pPr>
                        <a:defRPr sz="1050" b="0">
                          <a:solidFill>
                            <a:srgbClr val="000000"/>
                          </a:solidFill>
                          <a:latin typeface="Calibri"/>
                        </a:defRPr>
                      </a:pPr>
                      <a:r>
                        <a:t>Bab 3: keputusan hibrida (DSS + ML + kebijakan)</a:t>
                      </a:r>
                    </a:p>
                  </a:txBody>
                  <a:tcPr marL="54864" marR="54864" marT="18288" marB="18288">
                    <a:solidFill>
                      <a:srgbClr val="FFFFFF"/>
                    </a:solidFill>
                  </a:tcPr>
                </a:tc>
                <a:tc>
                  <a:txBody>
                    <a:bodyPr/>
                    <a:lstStyle/>
                    <a:p>
                      <a:pPr>
                        <a:defRPr sz="1050" b="0">
                          <a:solidFill>
                            <a:srgbClr val="000000"/>
                          </a:solidFill>
                          <a:latin typeface="Calibri"/>
                        </a:defRPr>
                      </a:pPr>
                      <a:r>
                        <a:t>Pemilihan carrier</a:t>
                      </a:r>
                    </a:p>
                  </a:txBody>
                  <a:tcPr marL="54864" marR="54864" marT="18288" marB="18288">
                    <a:solidFill>
                      <a:srgbClr val="FFFFFF"/>
                    </a:solidFill>
                  </a:tcPr>
                </a:tc>
                <a:tc>
                  <a:txBody>
                    <a:bodyPr/>
                    <a:lstStyle/>
                    <a:p>
                      <a:pPr>
                        <a:defRPr sz="1050" b="0">
                          <a:solidFill>
                            <a:srgbClr val="000000"/>
                          </a:solidFill>
                          <a:latin typeface="Calibri"/>
                        </a:defRPr>
                      </a:pPr>
                      <a:r>
                        <a:t>sim.py (book)</a:t>
                      </a:r>
                    </a:p>
                  </a:txBody>
                  <a:tcPr marL="54864" marR="54864" marT="18288" marB="18288">
                    <a:solidFill>
                      <a:srgbClr val="FFFFFF"/>
                    </a:solidFill>
                  </a:tcPr>
                </a:tc>
              </a:tr>
              <a:tr h="408940">
                <a:tc>
                  <a:txBody>
                    <a:bodyPr/>
                    <a:lstStyle/>
                    <a:p>
                      <a:pPr>
                        <a:defRPr sz="1050" b="0">
                          <a:solidFill>
                            <a:srgbClr val="000000"/>
                          </a:solidFill>
                          <a:latin typeface="Calibri"/>
                        </a:defRPr>
                      </a:pPr>
                      <a:r>
                        <a:t>Bab 3: observability, audit trail, batas berhenti</a:t>
                      </a:r>
                    </a:p>
                  </a:txBody>
                  <a:tcPr marL="54864" marR="54864" marT="18288" marB="18288">
                    <a:solidFill>
                      <a:srgbClr val="FFFFFF"/>
                    </a:solidFill>
                  </a:tcPr>
                </a:tc>
                <a:tc>
                  <a:txBody>
                    <a:bodyPr/>
                    <a:lstStyle/>
                    <a:p>
                      <a:pPr>
                        <a:defRPr sz="1050" b="0">
                          <a:solidFill>
                            <a:srgbClr val="000000"/>
                          </a:solidFill>
                          <a:latin typeface="Calibri"/>
                        </a:defRPr>
                      </a:pPr>
                      <a:r>
                        <a:t>Audit log berantai-hash, jumlah pesan, anggaran lembur, eskalasi bila ragu</a:t>
                      </a:r>
                    </a:p>
                  </a:txBody>
                  <a:tcPr marL="54864" marR="54864" marT="18288" marB="18288">
                    <a:solidFill>
                      <a:srgbClr val="FFFFFF"/>
                    </a:solidFill>
                  </a:tcPr>
                </a:tc>
                <a:tc>
                  <a:txBody>
                    <a:bodyPr/>
                    <a:lstStyle/>
                    <a:p>
                      <a:pPr>
                        <a:defRPr sz="1050" b="0">
                          <a:solidFill>
                            <a:srgbClr val="000000"/>
                          </a:solidFill>
                          <a:latin typeface="Calibri"/>
                        </a:defRPr>
                      </a:pPr>
                      <a:r>
                        <a:t>messaging.py</a:t>
                      </a:r>
                    </a:p>
                  </a:txBody>
                  <a:tcPr marL="54864" marR="54864" marT="18288" marB="18288">
                    <a:solidFill>
                      <a:srgbClr val="FFFFFF"/>
                    </a:solidFill>
                  </a:tcPr>
                </a:tc>
              </a:tr>
              <a:tr h="248920">
                <a:tc>
                  <a:txBody>
                    <a:bodyPr/>
                    <a:lstStyle/>
                    <a:p>
                      <a:pPr>
                        <a:defRPr sz="1050" b="0">
                          <a:solidFill>
                            <a:srgbClr val="000000"/>
                          </a:solidFill>
                          <a:latin typeface="Calibri"/>
                        </a:defRPr>
                      </a:pPr>
                      <a:r>
                        <a:t>Bab 4: pesan antaragen, protokol, ontologi</a:t>
                      </a:r>
                    </a:p>
                  </a:txBody>
                  <a:tcPr marL="54864" marR="54864" marT="18288" marB="18288">
                    <a:solidFill>
                      <a:srgbClr val="FFFFFF"/>
                    </a:solidFill>
                  </a:tcPr>
                </a:tc>
                <a:tc>
                  <a:txBody>
                    <a:bodyPr/>
                    <a:lstStyle/>
                    <a:p>
                      <a:pPr>
                        <a:defRPr sz="1050" b="0">
                          <a:solidFill>
                            <a:srgbClr val="000000"/>
                          </a:solidFill>
                          <a:latin typeface="Calibri"/>
                        </a:defRPr>
                      </a:pPr>
                      <a:r>
                        <a:t>Format pesan, urutan Contract Net divalidasi bus</a:t>
                      </a:r>
                    </a:p>
                  </a:txBody>
                  <a:tcPr marL="54864" marR="54864" marT="18288" marB="18288">
                    <a:solidFill>
                      <a:srgbClr val="FFFFFF"/>
                    </a:solidFill>
                  </a:tcPr>
                </a:tc>
                <a:tc>
                  <a:txBody>
                    <a:bodyPr/>
                    <a:lstStyle/>
                    <a:p>
                      <a:pPr>
                        <a:defRPr sz="1050" b="0">
                          <a:solidFill>
                            <a:srgbClr val="000000"/>
                          </a:solidFill>
                          <a:latin typeface="Calibri"/>
                        </a:defRPr>
                      </a:pPr>
                      <a:r>
                        <a:t>messaging.py</a:t>
                      </a:r>
                    </a:p>
                  </a:txBody>
                  <a:tcPr marL="54864" marR="54864" marT="18288" marB="18288">
                    <a:solidFill>
                      <a:srgbClr val="FFFFFF"/>
                    </a:solidFill>
                  </a:tcPr>
                </a:tc>
              </a:tr>
              <a:tr h="408940">
                <a:tc>
                  <a:txBody>
                    <a:bodyPr/>
                    <a:lstStyle/>
                    <a:p>
                      <a:pPr>
                        <a:defRPr sz="1050" b="0">
                          <a:solidFill>
                            <a:srgbClr val="000000"/>
                          </a:solidFill>
                          <a:latin typeface="Calibri"/>
                        </a:defRPr>
                      </a:pPr>
                      <a:r>
                        <a:t>Bab 4: Contract Net, negosiasi, alokasi tugas</a:t>
                      </a:r>
                    </a:p>
                  </a:txBody>
                  <a:tcPr marL="54864" marR="54864" marT="18288" marB="18288">
                    <a:solidFill>
                      <a:srgbClr val="FFFFFF"/>
                    </a:solidFill>
                  </a:tcPr>
                </a:tc>
                <a:tc>
                  <a:txBody>
                    <a:bodyPr/>
                    <a:lstStyle/>
                    <a:p>
                      <a:pPr>
                        <a:defRPr sz="1050" b="0">
                          <a:solidFill>
                            <a:srgbClr val="000000"/>
                          </a:solidFill>
                          <a:latin typeface="Calibri"/>
                        </a:defRPr>
                      </a:pPr>
                      <a:r>
                        <a:t>Kuota produsen, lini gudang, carrier, negosiasi Sales Agent</a:t>
                      </a:r>
                    </a:p>
                  </a:txBody>
                  <a:tcPr marL="54864" marR="54864" marT="18288" marB="18288">
                    <a:solidFill>
                      <a:srgbClr val="FFFFFF"/>
                    </a:solidFill>
                  </a:tcPr>
                </a:tc>
                <a:tc>
                  <a:txBody>
                    <a:bodyPr/>
                    <a:lstStyle/>
                    <a:p>
                      <a:pPr>
                        <a:defRPr sz="1050" b="0">
                          <a:solidFill>
                            <a:srgbClr val="000000"/>
                          </a:solidFill>
                          <a:latin typeface="Calibri"/>
                        </a:defRPr>
                      </a:pPr>
                      <a:r>
                        <a:t>consortium.py, negotiation.py, sales.py</a:t>
                      </a:r>
                    </a:p>
                  </a:txBody>
                  <a:tcPr marL="54864" marR="54864" marT="18288" marB="18288">
                    <a:solidFill>
                      <a:srgbClr val="FFFFFF"/>
                    </a:solidFill>
                  </a:tcPr>
                </a:tc>
              </a:tr>
              <a:tr h="408940">
                <a:tc>
                  <a:txBody>
                    <a:bodyPr/>
                    <a:lstStyle/>
                    <a:p>
                      <a:pPr>
                        <a:defRPr sz="1050" b="0">
                          <a:solidFill>
                            <a:srgbClr val="000000"/>
                          </a:solidFill>
                          <a:latin typeface="Calibri"/>
                        </a:defRPr>
                      </a:pPr>
                      <a:r>
                        <a:t>Bab 4: kepercayaan, keamanan pesan, migrasi aman</a:t>
                      </a:r>
                    </a:p>
                  </a:txBody>
                  <a:tcPr marL="54864" marR="54864" marT="18288" marB="18288">
                    <a:solidFill>
                      <a:srgbClr val="FFFFFF"/>
                    </a:solidFill>
                  </a:tcPr>
                </a:tc>
                <a:tc>
                  <a:txBody>
                    <a:bodyPr/>
                    <a:lstStyle/>
                    <a:p>
                      <a:pPr>
                        <a:defRPr sz="1050" b="0">
                          <a:solidFill>
                            <a:srgbClr val="000000"/>
                          </a:solidFill>
                          <a:latin typeface="Calibri"/>
                        </a:defRPr>
                      </a:pPr>
                      <a:r>
                        <a:t>Skor mutu produsen, kepercayaan carrier, 7 uji serangan, syarat migrasi</a:t>
                      </a:r>
                    </a:p>
                  </a:txBody>
                  <a:tcPr marL="54864" marR="54864" marT="18288" marB="18288">
                    <a:solidFill>
                      <a:srgbClr val="FFFFFF"/>
                    </a:solidFill>
                  </a:tcPr>
                </a:tc>
                <a:tc>
                  <a:txBody>
                    <a:bodyPr/>
                    <a:lstStyle/>
                    <a:p>
                      <a:pPr>
                        <a:defRPr sz="1050" b="0">
                          <a:solidFill>
                            <a:srgbClr val="000000"/>
                          </a:solidFill>
                          <a:latin typeface="Calibri"/>
                        </a:defRPr>
                      </a:pPr>
                      <a:r>
                        <a:t>messaging.py, mobile.py</a:t>
                      </a:r>
                    </a:p>
                  </a:txBody>
                  <a:tcPr marL="54864" marR="54864" marT="18288" marB="18288">
                    <a:solidFill>
                      <a:srgbClr val="FFFFFF"/>
                    </a:solidFill>
                  </a:tcPr>
                </a:tc>
              </a:tr>
              <a:tr h="408940">
                <a:tc>
                  <a:txBody>
                    <a:bodyPr/>
                    <a:lstStyle/>
                    <a:p>
                      <a:pPr>
                        <a:defRPr sz="1050" b="0">
                          <a:solidFill>
                            <a:srgbClr val="000000"/>
                          </a:solidFill>
                          <a:latin typeface="Calibri"/>
                        </a:defRPr>
                      </a:pPr>
                      <a:r>
                        <a:t>Bab 4: metrik sistem (speedup, keadilan, biaya komunikasi), rantai pasok MAS</a:t>
                      </a:r>
                    </a:p>
                  </a:txBody>
                  <a:tcPr marL="54864" marR="54864" marT="18288" marB="18288">
                    <a:solidFill>
                      <a:srgbClr val="FFFFFF"/>
                    </a:solidFill>
                  </a:tcPr>
                </a:tc>
                <a:tc>
                  <a:txBody>
                    <a:bodyPr/>
                    <a:lstStyle/>
                    <a:p>
                      <a:pPr>
                        <a:defRPr sz="1050" b="0">
                          <a:solidFill>
                            <a:srgbClr val="000000"/>
                          </a:solidFill>
                          <a:latin typeface="Calibri"/>
                        </a:defRPr>
                      </a:pPr>
                      <a:r>
                        <a:t>Bagian 8 (metrik sistem, keadilan kuota)</a:t>
                      </a:r>
                    </a:p>
                  </a:txBody>
                  <a:tcPr marL="54864" marR="54864" marT="18288" marB="18288">
                    <a:solidFill>
                      <a:srgbClr val="FFFFFF"/>
                    </a:solidFill>
                  </a:tcPr>
                </a:tc>
                <a:tc>
                  <a:txBody>
                    <a:bodyPr/>
                    <a:lstStyle/>
                    <a:p>
                      <a:pPr>
                        <a:defRPr sz="1050" b="0">
                          <a:solidFill>
                            <a:srgbClr val="000000"/>
                          </a:solidFill>
                          <a:latin typeface="Calibri"/>
                        </a:defRPr>
                      </a:pPr>
                      <a:r>
                        <a:t>negotiation.py, experiments.py</a:t>
                      </a:r>
                    </a:p>
                  </a:txBody>
                  <a:tcPr marL="54864" marR="54864" marT="18288" marB="18288">
                    <a:solidFill>
                      <a:srgbClr val="FFFFFF"/>
                    </a:solidFill>
                  </a:tcPr>
                </a:tc>
              </a:tr>
              <a:tr h="408940">
                <a:tc>
                  <a:txBody>
                    <a:bodyPr/>
                    <a:lstStyle/>
                    <a:p>
                      <a:pPr>
                        <a:defRPr sz="1050" b="0">
                          <a:solidFill>
                            <a:srgbClr val="000000"/>
                          </a:solidFill>
                          <a:latin typeface="Calibri"/>
                        </a:defRPr>
                      </a:pPr>
                      <a:r>
                        <a:t>Bab 5: mobile agent, RL, layout Project #1</a:t>
                      </a:r>
                    </a:p>
                  </a:txBody>
                  <a:tcPr marL="54864" marR="54864" marT="18288" marB="18288">
                    <a:solidFill>
                      <a:srgbClr val="FFFFFF"/>
                    </a:solidFill>
                  </a:tcPr>
                </a:tc>
                <a:tc>
                  <a:txBody>
                    <a:bodyPr/>
                    <a:lstStyle/>
                    <a:p>
                      <a:pPr>
                        <a:defRPr sz="1050" b="0">
                          <a:solidFill>
                            <a:srgbClr val="000000"/>
                          </a:solidFill>
                          <a:latin typeface="Calibri"/>
                        </a:defRPr>
                      </a:pPr>
                      <a:r>
                        <a:t>Scout Agent; Marketing dan Learning Agent; struktur laporan mengikuti layout Project #1</a:t>
                      </a:r>
                    </a:p>
                  </a:txBody>
                  <a:tcPr marL="54864" marR="54864" marT="18288" marB="18288">
                    <a:solidFill>
                      <a:srgbClr val="FFFFFF"/>
                    </a:solidFill>
                  </a:tcPr>
                </a:tc>
                <a:tc>
                  <a:txBody>
                    <a:bodyPr/>
                    <a:lstStyle/>
                    <a:p>
                      <a:pPr>
                        <a:defRPr sz="1050" b="0">
                          <a:solidFill>
                            <a:srgbClr val="000000"/>
                          </a:solidFill>
                          <a:latin typeface="Calibri"/>
                        </a:defRPr>
                      </a:pPr>
                      <a:r>
                        <a:t>mobile.py, rl.py, marketing.py</a:t>
                      </a:r>
                    </a:p>
                  </a:txBody>
                  <a:tcPr marL="54864" marR="54864" marT="18288" marB="18288">
                    <a:solidFill>
                      <a:srgbClr val="FFFF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9. Kesimpulan dan rencana berikutnya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49</a:t>
            </a:r>
          </a:p>
        </p:txBody>
      </p:sp>
      <p:sp>
        <p:nvSpPr>
          <p:cNvPr id="6" name="TextBox 5"/>
          <p:cNvSpPr txBox="1"/>
          <p:nvPr/>
        </p:nvSpPr>
        <p:spPr>
          <a:xfrm>
            <a:off x="411480" y="1005840"/>
            <a:ext cx="11338560" cy="1554480"/>
          </a:xfrm>
          <a:prstGeom prst="rect">
            <a:avLst/>
          </a:prstGeom>
          <a:noFill/>
        </p:spPr>
        <p:txBody>
          <a:bodyPr wrap="square">
            <a:spAutoFit/>
          </a:bodyPr>
          <a:lstStyle/>
          <a:p>
            <a:pPr>
              <a:spcAft>
                <a:spcPts val="400"/>
              </a:spcAft>
              <a:defRPr sz="1400" b="0">
                <a:solidFill>
                  <a:srgbClr val="000000"/>
                </a:solidFill>
                <a:latin typeface="Calibri"/>
              </a:defRPr>
            </a:pPr>
            <a:r>
              <a:t>KCMAS memodelkan alur ekspor arang dari puluhan produsen (pemasaran, RFQ, kuota produsen, uji mutu, dokumen, carrier) sebagai sistem agen cerdas yang hibrida, aman, dan dapat diaudit. OTIF naik 3% → 52% pada data sintetis. Multi-agen unggul tipis atas agen tunggal dan bergantung pada seberapa usang data pusat; rekomendasi akhir: arsitektur hibrida.</a:t>
            </a:r>
          </a:p>
        </p:txBody>
      </p:sp>
      <p:sp>
        <p:nvSpPr>
          <p:cNvPr id="7" name="TextBox 6"/>
          <p:cNvSpPr txBox="1"/>
          <p:nvPr/>
        </p:nvSpPr>
        <p:spPr>
          <a:xfrm>
            <a:off x="411480" y="2743200"/>
            <a:ext cx="11338560" cy="3657600"/>
          </a:xfrm>
          <a:prstGeom prst="rect">
            <a:avLst/>
          </a:prstGeom>
          <a:noFill/>
        </p:spPr>
        <p:txBody>
          <a:bodyPr wrap="square">
            <a:spAutoFit/>
          </a:bodyPr>
          <a:lstStyle/>
          <a:p>
            <a:pPr>
              <a:spcAft>
                <a:spcPts val="600"/>
              </a:spcAft>
              <a:defRPr sz="1250" b="0">
                <a:solidFill>
                  <a:srgbClr val="000000"/>
                </a:solidFill>
                <a:latin typeface="Calibri"/>
              </a:defRPr>
            </a:pPr>
            <a:r>
              <a:t>• Kalibrasi dengan data nyata KrakaCoal: syarat pembayaran, harga beli per produsen, tingkat gagal kirim dan reject, waktu balas produsen, dan performa tiap kanal iklan; ganti asumsi dengan estimasi.</a:t>
            </a:r>
          </a:p>
          <a:p>
            <a:pPr>
              <a:spcAft>
                <a:spcPts val="600"/>
              </a:spcAft>
              <a:defRPr sz="1250" b="0">
                <a:solidFill>
                  <a:srgbClr val="000000"/>
                </a:solidFill>
                <a:latin typeface="Calibri"/>
              </a:defRPr>
            </a:pPr>
            <a:r>
              <a:t>• Project #1 (tema domain enterprise): perluas ke Scout/Broker/Worker/Security (Bab 5), dashboard UI/UX (peta kapasitas produsen, status pesanan, uji mutu), dan perbandingan dengan sistem statis.</a:t>
            </a:r>
          </a:p>
          <a:p>
            <a:pPr>
              <a:spcAft>
                <a:spcPts val="600"/>
              </a:spcAft>
              <a:defRPr sz="1250" b="0">
                <a:solidFill>
                  <a:srgbClr val="000000"/>
                </a:solidFill>
                <a:latin typeface="Calibri"/>
              </a:defRPr>
            </a:pPr>
            <a:r>
              <a:t>• Implementasikan komponen yang saat ini hanya dimodelkan: CNN uji mutu, LLM untuk Sales dan Marketing dengan pemeriksa klaim, dan WhatsApp Business API sebagai kanal agen produsen.</a:t>
            </a:r>
          </a:p>
          <a:p>
            <a:pPr>
              <a:spcAft>
                <a:spcPts val="600"/>
              </a:spcAft>
              <a:defRPr sz="1250" b="0">
                <a:solidFill>
                  <a:srgbClr val="000000"/>
                </a:solidFill>
                <a:latin typeface="Calibri"/>
              </a:defRPr>
            </a:pPr>
            <a:r>
              <a:t>• Perkuat pembelajaran mesin (reward per agen, safe-RL) dan bandingkan XGBoost untuk risiko roll-over; tambahkan uji drift dan retraining online.</a:t>
            </a:r>
          </a:p>
          <a:p>
            <a:pPr>
              <a:spcAft>
                <a:spcPts val="600"/>
              </a:spcAft>
              <a:defRPr sz="1250" b="0">
                <a:solidFill>
                  <a:srgbClr val="000000"/>
                </a:solidFill>
                <a:latin typeface="Calibri"/>
              </a:defRPr>
            </a:pPr>
            <a:r>
              <a:t>• Bandingkan dengan optimizer global (MILP/OR-Tools) sebagai batas atas kualitas pembagian kuota.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Referensi dan repositori</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Konsolidasi dan Ekspor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50</a:t>
            </a:r>
          </a:p>
        </p:txBody>
      </p:sp>
      <p:sp>
        <p:nvSpPr>
          <p:cNvPr id="6" name="TextBox 5"/>
          <p:cNvSpPr txBox="1"/>
          <p:nvPr/>
        </p:nvSpPr>
        <p:spPr>
          <a:xfrm>
            <a:off x="411480" y="914400"/>
            <a:ext cx="11338560" cy="4572000"/>
          </a:xfrm>
          <a:prstGeom prst="rect">
            <a:avLst/>
          </a:prstGeom>
          <a:noFill/>
        </p:spPr>
        <p:txBody>
          <a:bodyPr wrap="square">
            <a:spAutoFit/>
          </a:bodyPr>
          <a:lstStyle/>
          <a:p>
            <a:pPr>
              <a:spcAft>
                <a:spcPts val="300"/>
              </a:spcAft>
              <a:defRPr sz="1000" b="0">
                <a:solidFill>
                  <a:srgbClr val="000000"/>
                </a:solidFill>
                <a:latin typeface="Calibri"/>
              </a:defRPr>
            </a:pPr>
            <a:r>
              <a:t>• Dominguez, R., &amp; Cannella, S. (2020). Insights on multi-agent systems applications for supply chain management. Sustainability, 12(5), 1935. doi:10.3390/su12051935</a:t>
            </a:r>
          </a:p>
          <a:p>
            <a:pPr>
              <a:spcAft>
                <a:spcPts val="300"/>
              </a:spcAft>
              <a:defRPr sz="1000" b="0">
                <a:solidFill>
                  <a:srgbClr val="000000"/>
                </a:solidFill>
                <a:latin typeface="Calibri"/>
              </a:defRPr>
            </a:pPr>
            <a:r>
              <a:t>• Dorri, A., Kanhere, S. S., &amp; Jurdak, R. (2018). Multi-agent systems: A survey. IEEE Access, 6, 28573-28593. doi:10.1109/ACCESS.2018.2831228</a:t>
            </a:r>
          </a:p>
          <a:p>
            <a:pPr>
              <a:spcAft>
                <a:spcPts val="300"/>
              </a:spcAft>
              <a:defRPr sz="1000" b="0">
                <a:solidFill>
                  <a:srgbClr val="000000"/>
                </a:solidFill>
                <a:latin typeface="Calibri"/>
              </a:defRPr>
            </a:pPr>
            <a:r>
              <a:t>• Hathikal, S., Chung, S. H., &amp; Karczewski, M. (2020). Prediction of ocean import shipment lead time using machine learning methods. SN Applied Sciences, 2, 1272. doi:10.1007/s42452-020-2951-5</a:t>
            </a:r>
          </a:p>
          <a:p>
            <a:pPr>
              <a:spcAft>
                <a:spcPts val="300"/>
              </a:spcAft>
              <a:defRPr sz="1000" b="0">
                <a:solidFill>
                  <a:srgbClr val="000000"/>
                </a:solidFill>
                <a:latin typeface="Calibri"/>
              </a:defRPr>
            </a:pPr>
            <a:r>
              <a:t>• Ivanov, D., &amp; Dolgui, A. (2021). A digital supply chain twin for managing the disruption risks and resilience in the era of Industry 4.0. Production Planning &amp; Control, 32(9), 775-788. doi:10.1080/09537287.2020.1768450</a:t>
            </a:r>
          </a:p>
          <a:p>
            <a:pPr>
              <a:spcAft>
                <a:spcPts val="300"/>
              </a:spcAft>
              <a:defRPr sz="1000" b="0">
                <a:solidFill>
                  <a:srgbClr val="000000"/>
                </a:solidFill>
                <a:latin typeface="Calibri"/>
              </a:defRPr>
            </a:pPr>
            <a:r>
              <a:t>• Jennings, N. R., Faratin, P., Lomuscio, A. R., Parsons, S., Wooldridge, M. J., &amp; Sierra, C. (2001). Automated negotiation: Prospects, methods and challenges. Group Decision and Negotiation, 10(2), 199-215. doi:10.1023/A:1008746126376</a:t>
            </a:r>
          </a:p>
          <a:p>
            <a:pPr>
              <a:spcAft>
                <a:spcPts val="300"/>
              </a:spcAft>
              <a:defRPr sz="1000" b="0">
                <a:solidFill>
                  <a:srgbClr val="000000"/>
                </a:solidFill>
                <a:latin typeface="Calibri"/>
              </a:defRPr>
            </a:pPr>
            <a:r>
              <a:t>• Lee, E., Kim, S., Kim, S., Jung, S., Kim, H., &amp; Cha, M. (2024). Explainable product classification for customs. ACM Transactions on Intelligent Systems and Technology, 15(2), Art. 25. doi:10.1145/3635158</a:t>
            </a:r>
          </a:p>
          <a:p>
            <a:pPr>
              <a:spcAft>
                <a:spcPts val="300"/>
              </a:spcAft>
              <a:defRPr sz="1000" b="0">
                <a:solidFill>
                  <a:srgbClr val="000000"/>
                </a:solidFill>
                <a:latin typeface="Calibri"/>
              </a:defRPr>
            </a:pPr>
            <a:r>
              <a:t>• Leitão, P. (2009). Agent-based distributed manufacturing control: A state-of-the-art survey. Engineering Applications of Artificial Intelligence, 22(7), 979-991. doi:10.1016/j.engappai.2008.09.005</a:t>
            </a:r>
          </a:p>
          <a:p>
            <a:pPr>
              <a:spcAft>
                <a:spcPts val="300"/>
              </a:spcAft>
              <a:defRPr sz="1000" b="0">
                <a:solidFill>
                  <a:srgbClr val="000000"/>
                </a:solidFill>
                <a:latin typeface="Calibri"/>
              </a:defRPr>
            </a:pPr>
            <a:r>
              <a:t>• Nash, J. F. (1950). The bargaining problem. Econometrica, 18(2), 155-162. doi:10.2307/1907266</a:t>
            </a:r>
          </a:p>
          <a:p>
            <a:pPr>
              <a:spcAft>
                <a:spcPts val="300"/>
              </a:spcAft>
              <a:defRPr sz="1000" b="0">
                <a:solidFill>
                  <a:srgbClr val="000000"/>
                </a:solidFill>
                <a:latin typeface="Calibri"/>
              </a:defRPr>
            </a:pPr>
            <a:r>
              <a:t>• Ouelhadj, D., &amp; Petrovic, S. (2009). A survey of dynamic scheduling in manufacturing systems. Journal of Scheduling, 12(4), 417-431. doi:10.1007/s10951-008-0090-8</a:t>
            </a:r>
          </a:p>
          <a:p>
            <a:pPr>
              <a:spcAft>
                <a:spcPts val="300"/>
              </a:spcAft>
              <a:defRPr sz="1000" b="0">
                <a:solidFill>
                  <a:srgbClr val="000000"/>
                </a:solidFill>
                <a:latin typeface="Calibri"/>
              </a:defRPr>
            </a:pPr>
            <a:r>
              <a:t>• Pergelova, A., Manolova, T., Simeonova-Ganeva, R., &amp; Yordanova, D. (2019). Democratizing entrepreneurship? Digital technologies and the internationalization of female-led SMEs. Journal of Small Business Management, 57(1), 14-39. doi:10.1111/jsbm.12494</a:t>
            </a:r>
          </a:p>
          <a:p>
            <a:pPr>
              <a:spcAft>
                <a:spcPts val="300"/>
              </a:spcAft>
              <a:defRPr sz="1000" b="0">
                <a:solidFill>
                  <a:srgbClr val="000000"/>
                </a:solidFill>
                <a:latin typeface="Calibri"/>
              </a:defRPr>
            </a:pPr>
            <a:r>
              <a:t>• Smith, R. G. (1980). The Contract Net Protocol: High-level communication and control in a distributed problem solver. IEEE Transactions on Computers, C-29(12), 1104-1113. doi:10.1109/TC.1980.1675516</a:t>
            </a:r>
          </a:p>
          <a:p>
            <a:pPr>
              <a:spcAft>
                <a:spcPts val="300"/>
              </a:spcAft>
              <a:defRPr sz="1000" b="0">
                <a:solidFill>
                  <a:srgbClr val="000000"/>
                </a:solidFill>
                <a:latin typeface="Calibri"/>
              </a:defRPr>
            </a:pPr>
            <a:r>
              <a:t>• Swaminathan, J. M., Smith, S. F., &amp; Sadeh, N. M. (1998). Modeling supply chain dynamics: A multiagent approach. Decision Sciences, 29(3), 607-632. doi:10.1111/j.1540-5915.1998.tb01356.x</a:t>
            </a:r>
          </a:p>
          <a:p>
            <a:pPr>
              <a:spcAft>
                <a:spcPts val="300"/>
              </a:spcAft>
              <a:defRPr sz="1000" b="0">
                <a:solidFill>
                  <a:srgbClr val="000000"/>
                </a:solidFill>
                <a:latin typeface="Calibri"/>
              </a:defRPr>
            </a:pPr>
            <a:r>
              <a:t>• Wang, L., Ma, C., Feng, X., Zhang, Z., Yang, H., Zhang, J., ... Wen, J. (2024). A survey on large language model based autonomous agents. Frontiers of Computer Science, 18(6), 186345. doi:10.1007/s11704-024-40231-1</a:t>
            </a:r>
          </a:p>
          <a:p>
            <a:pPr>
              <a:spcAft>
                <a:spcPts val="300"/>
              </a:spcAft>
              <a:defRPr sz="1000" b="0">
                <a:solidFill>
                  <a:srgbClr val="000000"/>
                </a:solidFill>
                <a:latin typeface="Calibri"/>
              </a:defRPr>
            </a:pPr>
            <a:r>
              <a:t>• Watkins, C. J. C. H., &amp; Dayan, P. (1992). Q-learning. Machine Learning, 8(3-4), 279-292. doi:10.1007/BF00992698</a:t>
            </a:r>
          </a:p>
          <a:p>
            <a:pPr>
              <a:spcAft>
                <a:spcPts val="300"/>
              </a:spcAft>
              <a:defRPr sz="1000" b="0">
                <a:solidFill>
                  <a:srgbClr val="000000"/>
                </a:solidFill>
                <a:latin typeface="Calibri"/>
              </a:defRPr>
            </a:pPr>
            <a:r>
              <a:t>• Prof. Dr. Azhari MT. Materi kuliah AI Agentic Technology Systems for Digital Enterprise Ecosystem, Bab 1-5, UGM.</a:t>
            </a:r>
          </a:p>
          <a:p>
            <a:pPr>
              <a:spcAft>
                <a:spcPts val="300"/>
              </a:spcAft>
              <a:defRPr sz="1000" b="0">
                <a:solidFill>
                  <a:srgbClr val="000000"/>
                </a:solidFill>
                <a:latin typeface="Calibri"/>
              </a:defRPr>
            </a:pPr>
            <a:r>
              <a:t>• PT. Kraka Coal Indonesia. krakacoal.com (FAQ, produk, knowledge base).</a:t>
            </a:r>
          </a:p>
        </p:txBody>
      </p:sp>
      <p:sp>
        <p:nvSpPr>
          <p:cNvPr id="7" name="TextBox 6"/>
          <p:cNvSpPr txBox="1"/>
          <p:nvPr/>
        </p:nvSpPr>
        <p:spPr>
          <a:xfrm>
            <a:off x="411480" y="5349240"/>
            <a:ext cx="11338560" cy="1005840"/>
          </a:xfrm>
          <a:prstGeom prst="rect">
            <a:avLst/>
          </a:prstGeom>
          <a:noFill/>
        </p:spPr>
        <p:txBody>
          <a:bodyPr wrap="square">
            <a:spAutoFit/>
          </a:bodyPr>
          <a:lstStyle/>
          <a:p>
            <a:pPr>
              <a:spcAft>
                <a:spcPts val="400"/>
              </a:spcAft>
              <a:defRPr sz="1200" b="0">
                <a:solidFill>
                  <a:srgbClr val="000000"/>
                </a:solidFill>
                <a:latin typeface="Calibri"/>
              </a:defRPr>
            </a:pPr>
            <a:r>
              <a:t>Kode: https://github.com/AdityaIKO/Agentic-Enterprise</a:t>
            </a:r>
          </a:p>
          <a:p>
            <a:pPr>
              <a:spcAft>
                <a:spcPts val="400"/>
              </a:spcAft>
              <a:defRPr sz="1200" b="0">
                <a:solidFill>
                  <a:srgbClr val="000000"/>
                </a:solidFill>
                <a:latin typeface="Calibri"/>
              </a:defRPr>
            </a:pPr>
            <a:r>
              <a:t>pip install -r requirements.txt · cd src &amp;&amp; python -m kraka_mas.experiments · python -m kraka_mas.figures · python docs/build_pdf.py · python docs/build_pptx.py · pytest tests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